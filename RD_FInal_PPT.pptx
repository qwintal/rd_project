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7.xml" ContentType="application/vnd.openxmlformats-officedocument.presentationml.notesSlide+xml"/>
  <Override PartName="/ppt/charts/chart9.xml" ContentType="application/vnd.openxmlformats-officedocument.drawingml.chart+xml"/>
  <Override PartName="/ppt/notesSlides/notesSlide18.xml" ContentType="application/vnd.openxmlformats-officedocument.presentationml.notesSlide+xml"/>
  <Override PartName="/ppt/charts/chart10.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8C2E60-DB06-92F5-7BB0-A0C58CF12B1A}">
          <p14:sldIdLst>
            <p14:sldId id="256"/>
            <p14:sldId id="257"/>
          </p14:sldIdLst>
        </p14:section>
        <p14:section name="1 · The Status Quo" id="{91FE6126-7588-C6B7-9B61-50AC3563B425}">
          <p14:sldIdLst>
            <p14:sldId id="258"/>
            <p14:sldId id="259"/>
            <p14:sldId id="260"/>
            <p14:sldId id="261"/>
          </p14:sldIdLst>
        </p14:section>
        <p14:section name="2 · The Innovation" id="{97FFBE56-6265-BF69-4D36-C1CD64C33B5D}">
          <p14:sldIdLst>
            <p14:sldId id="262"/>
            <p14:sldId id="263"/>
            <p14:sldId id="264"/>
            <p14:sldId id="265"/>
            <p14:sldId id="266"/>
          </p14:sldIdLst>
        </p14:section>
        <p14:section name="3 · The Test" id="{AC86B08C-584C-719F-874A-8D54D80DC90E}">
          <p14:sldIdLst>
            <p14:sldId id="267"/>
            <p14:sldId id="268"/>
            <p14:sldId id="269"/>
            <p14:sldId id="270"/>
          </p14:sldIdLst>
        </p14:section>
        <p14:section name="4 · The Conflict" id="{630E1558-ACCF-E311-EEA1-EF7686B22D68}">
          <p14:sldIdLst>
            <p14:sldId id="271"/>
            <p14:sldId id="272"/>
            <p14:sldId id="273"/>
            <p14:sldId id="274"/>
          </p14:sldIdLst>
        </p14:section>
        <p14:section name="5 · The Verdict" id="{9DA9E537-910A-FC84-0DBB-8ABF74AB7B21}">
          <p14:sldIdLst>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3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dirty="0">
                <a:solidFill>
                  <a:srgbClr val="1B2A41"/>
                </a:solidFill>
                <a:latin typeface="+mn-lt"/>
              </a:rPr>
              <a:t>How easy a lie is to spot</a:t>
            </a:r>
            <a:br>
              <a:rPr lang="en-US" sz="1400" b="0" i="0" u="none" strike="noStrike" dirty="0">
                <a:solidFill>
                  <a:srgbClr val="1B2A41"/>
                </a:solidFill>
                <a:latin typeface="+mn-lt"/>
              </a:rPr>
            </a:br>
            <a:r>
              <a:rPr lang="en-US" sz="1400" b="0" i="0" u="none" strike="noStrike" dirty="0">
                <a:solidFill>
                  <a:srgbClr val="1B2A41"/>
                </a:solidFill>
                <a:latin typeface="+mn-lt"/>
              </a:rPr>
              <a:t> (1.0 = always, 0.5 = never)</a:t>
            </a:r>
          </a:p>
        </c:rich>
      </c:tx>
      <c:overlay val="0"/>
    </c:title>
    <c:autoTitleDeleted val="0"/>
    <c:plotArea>
      <c:layout/>
      <c:barChart>
        <c:barDir val="bar"/>
        <c:grouping val="clustered"/>
        <c:varyColors val="0"/>
        <c:ser>
          <c:idx val="0"/>
          <c:order val="0"/>
          <c:tx>
            <c:strRef>
              <c:f>Sheet1!$B$1</c:f>
              <c:strCache>
                <c:ptCount val="1"/>
                <c:pt idx="0">
                  <c:v>AUC</c:v>
                </c:pt>
              </c:strCache>
            </c:strRef>
          </c:tx>
          <c:spPr>
            <a:solidFill>
              <a:srgbClr val="C8553D"/>
            </a:solidFill>
            <a:effectLst/>
          </c:spPr>
          <c:invertIfNegative val="0"/>
          <c:dPt>
            <c:idx val="0"/>
            <c:invertIfNegative val="0"/>
            <c:bubble3D val="0"/>
            <c:extLst>
              <c:ext xmlns:c16="http://schemas.microsoft.com/office/drawing/2014/chart" uri="{C3380CC4-5D6E-409C-BE32-E72D297353CC}">
                <c16:uniqueId val="{00000001-D3AE-45CB-AFF4-088C33A03A7F}"/>
              </c:ext>
            </c:extLst>
          </c:dPt>
          <c:dPt>
            <c:idx val="1"/>
            <c:invertIfNegative val="0"/>
            <c:bubble3D val="0"/>
            <c:extLst>
              <c:ext xmlns:c16="http://schemas.microsoft.com/office/drawing/2014/chart" uri="{C3380CC4-5D6E-409C-BE32-E72D297353CC}">
                <c16:uniqueId val="{00000003-D3AE-45CB-AFF4-088C33A03A7F}"/>
              </c:ext>
            </c:extLst>
          </c:dPt>
          <c:dPt>
            <c:idx val="2"/>
            <c:invertIfNegative val="0"/>
            <c:bubble3D val="0"/>
            <c:extLst>
              <c:ext xmlns:c16="http://schemas.microsoft.com/office/drawing/2014/chart" uri="{C3380CC4-5D6E-409C-BE32-E72D297353CC}">
                <c16:uniqueId val="{00000005-D3AE-45CB-AFF4-088C33A03A7F}"/>
              </c:ext>
            </c:extLst>
          </c:dPt>
          <c:dLbls>
            <c:numFmt formatCode="0.0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Hidden diabetes</c:v>
                </c:pt>
                <c:pt idx="1">
                  <c:v>Hidden blood pressure</c:v>
                </c:pt>
                <c:pt idx="2">
                  <c:v>Hidden smoking</c:v>
                </c:pt>
              </c:strCache>
            </c:strRef>
          </c:cat>
          <c:val>
            <c:numRef>
              <c:f>Sheet1!$B$2:$B$4</c:f>
              <c:numCache>
                <c:formatCode>General</c:formatCode>
                <c:ptCount val="3"/>
                <c:pt idx="0">
                  <c:v>0.96</c:v>
                </c:pt>
                <c:pt idx="1">
                  <c:v>0.85</c:v>
                </c:pt>
                <c:pt idx="2">
                  <c:v>0.61</c:v>
                </c:pt>
              </c:numCache>
            </c:numRef>
          </c:val>
          <c:extLst>
            <c:ext xmlns:c16="http://schemas.microsoft.com/office/drawing/2014/chart" uri="{C3380CC4-5D6E-409C-BE32-E72D297353CC}">
              <c16:uniqueId val="{00000006-D3AE-45CB-AFF4-088C33A03A7F}"/>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ax val="1"/>
          <c:min val="0.5"/>
        </c:scaling>
        <c:delete val="0"/>
        <c:axPos val="t"/>
        <c:majorGridlines>
          <c:spPr>
            <a:ln w="6350" cap="flat">
              <a:solidFill>
                <a:srgbClr val="D9DEE7"/>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Arm A: error vs true risk (RMSE, lower is better)</a:t>
            </a:r>
          </a:p>
        </c:rich>
      </c:tx>
      <c:overlay val="0"/>
    </c:title>
    <c:autoTitleDeleted val="0"/>
    <c:plotArea>
      <c:layout/>
      <c:barChart>
        <c:barDir val="col"/>
        <c:grouping val="clustered"/>
        <c:varyColors val="0"/>
        <c:ser>
          <c:idx val="0"/>
          <c:order val="0"/>
          <c:tx>
            <c:strRef>
              <c:f>Sheet1!$B$1</c:f>
              <c:strCache>
                <c:ptCount val="1"/>
                <c:pt idx="0">
                  <c:v>Arm A</c:v>
                </c:pt>
              </c:strCache>
            </c:strRef>
          </c:tx>
          <c:spPr>
            <a:solidFill>
              <a:srgbClr val="4A6FA5"/>
            </a:solidFill>
            <a:effectLst/>
          </c:spPr>
          <c:invertIfNegative val="0"/>
          <c:dLbls>
            <c:numFmt formatCode="0.000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γ = 0</c:v>
                </c:pt>
                <c:pt idx="1">
                  <c:v>γ = 0.25</c:v>
                </c:pt>
                <c:pt idx="2">
                  <c:v>γ = 0.5</c:v>
                </c:pt>
                <c:pt idx="3">
                  <c:v>γ = 0.75</c:v>
                </c:pt>
                <c:pt idx="4">
                  <c:v>γ = 1</c:v>
                </c:pt>
              </c:strCache>
            </c:strRef>
          </c:cat>
          <c:val>
            <c:numRef>
              <c:f>Sheet1!$B$2:$B$6</c:f>
              <c:numCache>
                <c:formatCode>General</c:formatCode>
                <c:ptCount val="5"/>
                <c:pt idx="0">
                  <c:v>8.8900000000000003E-3</c:v>
                </c:pt>
                <c:pt idx="1">
                  <c:v>9.2999999999999992E-3</c:v>
                </c:pt>
                <c:pt idx="2">
                  <c:v>1.0580000000000001E-2</c:v>
                </c:pt>
                <c:pt idx="3">
                  <c:v>1.26E-2</c:v>
                </c:pt>
                <c:pt idx="4">
                  <c:v>1.511E-2</c:v>
                </c:pt>
              </c:numCache>
            </c:numRef>
          </c:val>
          <c:extLst>
            <c:ext xmlns:c16="http://schemas.microsoft.com/office/drawing/2014/chart" uri="{C3380CC4-5D6E-409C-BE32-E72D297353CC}">
              <c16:uniqueId val="{00000000-E6FF-4DEB-A1C4-1C1CC2AF3F8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D9DEE7"/>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RMSE difference vs Arm A (negative = better)</a:t>
            </a:r>
          </a:p>
        </c:rich>
      </c:tx>
      <c:overlay val="0"/>
    </c:title>
    <c:autoTitleDeleted val="0"/>
    <c:plotArea>
      <c:layout/>
      <c:barChart>
        <c:barDir val="col"/>
        <c:grouping val="clustered"/>
        <c:varyColors val="0"/>
        <c:ser>
          <c:idx val="0"/>
          <c:order val="0"/>
          <c:tx>
            <c:strRef>
              <c:f>Sheet1!$B$1</c:f>
              <c:strCache>
                <c:ptCount val="1"/>
                <c:pt idx="0">
                  <c:v>GLM</c:v>
                </c:pt>
              </c:strCache>
            </c:strRef>
          </c:tx>
          <c:spPr>
            <a:solidFill>
              <a:srgbClr val="1F8A7D"/>
            </a:solidFill>
            <a:effectLst/>
          </c:spPr>
          <c:invertIfNegative val="0"/>
          <c:dLbls>
            <c:numFmt formatCode="\+0.0000;\-0.000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γ = 0</c:v>
                </c:pt>
                <c:pt idx="1">
                  <c:v>γ = 0.5</c:v>
                </c:pt>
                <c:pt idx="2">
                  <c:v>γ = 1</c:v>
                </c:pt>
              </c:strCache>
            </c:strRef>
          </c:cat>
          <c:val>
            <c:numRef>
              <c:f>Sheet1!$B$2:$B$4</c:f>
              <c:numCache>
                <c:formatCode>General</c:formatCode>
                <c:ptCount val="3"/>
                <c:pt idx="0">
                  <c:v>-5.9999999999999995E-4</c:v>
                </c:pt>
                <c:pt idx="1">
                  <c:v>-1.1999999999999999E-3</c:v>
                </c:pt>
                <c:pt idx="2">
                  <c:v>-3.5999999999999999E-3</c:v>
                </c:pt>
              </c:numCache>
            </c:numRef>
          </c:val>
          <c:extLst>
            <c:ext xmlns:c16="http://schemas.microsoft.com/office/drawing/2014/chart" uri="{C3380CC4-5D6E-409C-BE32-E72D297353CC}">
              <c16:uniqueId val="{00000000-796E-4C2E-BD36-82B5AE270A9C}"/>
            </c:ext>
          </c:extLst>
        </c:ser>
        <c:ser>
          <c:idx val="1"/>
          <c:order val="1"/>
          <c:tx>
            <c:strRef>
              <c:f>Sheet1!$C$1</c:f>
              <c:strCache>
                <c:ptCount val="1"/>
                <c:pt idx="0">
                  <c:v>XGBoost</c:v>
                </c:pt>
              </c:strCache>
            </c:strRef>
          </c:tx>
          <c:spPr>
            <a:solidFill>
              <a:srgbClr val="C8553D"/>
            </a:solidFill>
            <a:effectLst/>
          </c:spPr>
          <c:invertIfNegative val="0"/>
          <c:dLbls>
            <c:numFmt formatCode="\+0.0000;\-0.000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γ = 0</c:v>
                </c:pt>
                <c:pt idx="1">
                  <c:v>γ = 0.5</c:v>
                </c:pt>
                <c:pt idx="2">
                  <c:v>γ = 1</c:v>
                </c:pt>
              </c:strCache>
            </c:strRef>
          </c:cat>
          <c:val>
            <c:numRef>
              <c:f>Sheet1!$C$2:$C$4</c:f>
              <c:numCache>
                <c:formatCode>General</c:formatCode>
                <c:ptCount val="3"/>
                <c:pt idx="0">
                  <c:v>5.4999999999999997E-3</c:v>
                </c:pt>
                <c:pt idx="1">
                  <c:v>4.1000000000000003E-3</c:v>
                </c:pt>
                <c:pt idx="2">
                  <c:v>-2.0000000000000001E-4</c:v>
                </c:pt>
              </c:numCache>
            </c:numRef>
          </c:val>
          <c:extLst>
            <c:ext xmlns:c16="http://schemas.microsoft.com/office/drawing/2014/chart" uri="{C3380CC4-5D6E-409C-BE32-E72D297353CC}">
              <c16:uniqueId val="{00000001-796E-4C2E-BD36-82B5AE270A9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EE7"/>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Error vs true risk, by γ (lower is better)</a:t>
            </a:r>
          </a:p>
        </c:rich>
      </c:tx>
      <c:overlay val="0"/>
    </c:title>
    <c:autoTitleDeleted val="0"/>
    <c:plotArea>
      <c:layout/>
      <c:lineChart>
        <c:grouping val="standard"/>
        <c:varyColors val="0"/>
        <c:ser>
          <c:idx val="0"/>
          <c:order val="0"/>
          <c:tx>
            <c:strRef>
              <c:f>Sheet1!$B$1</c:f>
              <c:strCache>
                <c:ptCount val="1"/>
                <c:pt idx="0">
                  <c:v>Arm A</c:v>
                </c:pt>
              </c:strCache>
            </c:strRef>
          </c:tx>
          <c:spPr>
            <a:ln w="31750" cap="flat">
              <a:solidFill>
                <a:srgbClr val="1B2A41"/>
              </a:solidFill>
              <a:prstDash val="solid"/>
              <a:round/>
            </a:ln>
            <a:effectLst/>
          </c:spPr>
          <c:marker>
            <c:symbol val="circle"/>
            <c:size val="7"/>
            <c:spPr>
              <a:solidFill>
                <a:srgbClr val="1B2A41"/>
              </a:solidFill>
              <a:ln w="9525" cap="flat">
                <a:solidFill>
                  <a:srgbClr val="1B2A41"/>
                </a:solidFill>
                <a:prstDash val="solid"/>
                <a:round/>
              </a:ln>
              <a:effectLst/>
            </c:spPr>
          </c:marker>
          <c:cat>
            <c:strRef>
              <c:f>Sheet1!$A$2:$A$6</c:f>
              <c:strCache>
                <c:ptCount val="5"/>
                <c:pt idx="0">
                  <c:v>0</c:v>
                </c:pt>
                <c:pt idx="1">
                  <c:v>0.25</c:v>
                </c:pt>
                <c:pt idx="2">
                  <c:v>0.5</c:v>
                </c:pt>
                <c:pt idx="3">
                  <c:v>0.75</c:v>
                </c:pt>
                <c:pt idx="4">
                  <c:v>1</c:v>
                </c:pt>
              </c:strCache>
            </c:strRef>
          </c:cat>
          <c:val>
            <c:numRef>
              <c:f>Sheet1!$B$2:$B$6</c:f>
              <c:numCache>
                <c:formatCode>General</c:formatCode>
                <c:ptCount val="5"/>
                <c:pt idx="0">
                  <c:v>8.8900000000000003E-3</c:v>
                </c:pt>
                <c:pt idx="1">
                  <c:v>9.2999999999999992E-3</c:v>
                </c:pt>
                <c:pt idx="2">
                  <c:v>1.0580000000000001E-2</c:v>
                </c:pt>
                <c:pt idx="3">
                  <c:v>1.26E-2</c:v>
                </c:pt>
                <c:pt idx="4">
                  <c:v>1.511E-2</c:v>
                </c:pt>
              </c:numCache>
            </c:numRef>
          </c:val>
          <c:smooth val="0"/>
          <c:extLst>
            <c:ext xmlns:c16="http://schemas.microsoft.com/office/drawing/2014/chart" uri="{C3380CC4-5D6E-409C-BE32-E72D297353CC}">
              <c16:uniqueId val="{00000000-4D2C-457D-B3AE-3FB67E31AA8B}"/>
            </c:ext>
          </c:extLst>
        </c:ser>
        <c:ser>
          <c:idx val="1"/>
          <c:order val="1"/>
          <c:tx>
            <c:strRef>
              <c:f>Sheet1!$C$1</c:f>
              <c:strCache>
                <c:ptCount val="1"/>
                <c:pt idx="0">
                  <c:v>GLM</c:v>
                </c:pt>
              </c:strCache>
            </c:strRef>
          </c:tx>
          <c:spPr>
            <a:ln w="31750" cap="flat">
              <a:solidFill>
                <a:srgbClr val="1F8A7D"/>
              </a:solidFill>
              <a:prstDash val="solid"/>
              <a:round/>
            </a:ln>
            <a:effectLst/>
          </c:spPr>
          <c:marker>
            <c:symbol val="circle"/>
            <c:size val="7"/>
            <c:spPr>
              <a:solidFill>
                <a:srgbClr val="1F8A7D"/>
              </a:solidFill>
              <a:ln w="9525" cap="flat">
                <a:solidFill>
                  <a:srgbClr val="1F8A7D"/>
                </a:solidFill>
                <a:prstDash val="solid"/>
                <a:round/>
              </a:ln>
              <a:effectLst/>
            </c:spPr>
          </c:marker>
          <c:cat>
            <c:strRef>
              <c:f>Sheet1!$A$2:$A$6</c:f>
              <c:strCache>
                <c:ptCount val="5"/>
                <c:pt idx="0">
                  <c:v>0</c:v>
                </c:pt>
                <c:pt idx="1">
                  <c:v>0.25</c:v>
                </c:pt>
                <c:pt idx="2">
                  <c:v>0.5</c:v>
                </c:pt>
                <c:pt idx="3">
                  <c:v>0.75</c:v>
                </c:pt>
                <c:pt idx="4">
                  <c:v>1</c:v>
                </c:pt>
              </c:strCache>
            </c:strRef>
          </c:cat>
          <c:val>
            <c:numRef>
              <c:f>Sheet1!$C$2:$C$6</c:f>
              <c:numCache>
                <c:formatCode>General</c:formatCode>
                <c:ptCount val="5"/>
                <c:pt idx="0">
                  <c:v>8.3199999999999993E-3</c:v>
                </c:pt>
                <c:pt idx="1">
                  <c:v>8.7200000000000003E-3</c:v>
                </c:pt>
                <c:pt idx="2">
                  <c:v>9.3799999999999994E-3</c:v>
                </c:pt>
                <c:pt idx="3">
                  <c:v>1.034E-2</c:v>
                </c:pt>
                <c:pt idx="4">
                  <c:v>1.155E-2</c:v>
                </c:pt>
              </c:numCache>
            </c:numRef>
          </c:val>
          <c:smooth val="0"/>
          <c:extLst>
            <c:ext xmlns:c16="http://schemas.microsoft.com/office/drawing/2014/chart" uri="{C3380CC4-5D6E-409C-BE32-E72D297353CC}">
              <c16:uniqueId val="{00000001-4D2C-457D-B3AE-3FB67E31AA8B}"/>
            </c:ext>
          </c:extLst>
        </c:ser>
        <c:ser>
          <c:idx val="2"/>
          <c:order val="2"/>
          <c:tx>
            <c:strRef>
              <c:f>Sheet1!$D$1</c:f>
              <c:strCache>
                <c:ptCount val="1"/>
                <c:pt idx="0">
                  <c:v>Cox</c:v>
                </c:pt>
              </c:strCache>
            </c:strRef>
          </c:tx>
          <c:spPr>
            <a:ln w="31750" cap="flat">
              <a:solidFill>
                <a:srgbClr val="4A6FA5"/>
              </a:solidFill>
              <a:prstDash val="solid"/>
              <a:round/>
            </a:ln>
            <a:effectLst/>
          </c:spPr>
          <c:marker>
            <c:symbol val="circle"/>
            <c:size val="7"/>
            <c:spPr>
              <a:solidFill>
                <a:srgbClr val="4A6FA5"/>
              </a:solidFill>
              <a:ln w="9525" cap="flat">
                <a:solidFill>
                  <a:srgbClr val="4A6FA5"/>
                </a:solidFill>
                <a:prstDash val="solid"/>
                <a:round/>
              </a:ln>
              <a:effectLst/>
            </c:spPr>
          </c:marker>
          <c:cat>
            <c:strRef>
              <c:f>Sheet1!$A$2:$A$6</c:f>
              <c:strCache>
                <c:ptCount val="5"/>
                <c:pt idx="0">
                  <c:v>0</c:v>
                </c:pt>
                <c:pt idx="1">
                  <c:v>0.25</c:v>
                </c:pt>
                <c:pt idx="2">
                  <c:v>0.5</c:v>
                </c:pt>
                <c:pt idx="3">
                  <c:v>0.75</c:v>
                </c:pt>
                <c:pt idx="4">
                  <c:v>1</c:v>
                </c:pt>
              </c:strCache>
            </c:strRef>
          </c:cat>
          <c:val>
            <c:numRef>
              <c:f>Sheet1!$D$2:$D$6</c:f>
              <c:numCache>
                <c:formatCode>General</c:formatCode>
                <c:ptCount val="5"/>
                <c:pt idx="0">
                  <c:v>8.1600000000000006E-3</c:v>
                </c:pt>
                <c:pt idx="1">
                  <c:v>8.4899999999999993E-3</c:v>
                </c:pt>
                <c:pt idx="2">
                  <c:v>9.0100000000000006E-3</c:v>
                </c:pt>
                <c:pt idx="3">
                  <c:v>9.8499999999999994E-3</c:v>
                </c:pt>
                <c:pt idx="4">
                  <c:v>1.0919999999999999E-2</c:v>
                </c:pt>
              </c:numCache>
            </c:numRef>
          </c:val>
          <c:smooth val="0"/>
          <c:extLst>
            <c:ext xmlns:c16="http://schemas.microsoft.com/office/drawing/2014/chart" uri="{C3380CC4-5D6E-409C-BE32-E72D297353CC}">
              <c16:uniqueId val="{00000002-4D2C-457D-B3AE-3FB67E31AA8B}"/>
            </c:ext>
          </c:extLst>
        </c:ser>
        <c:ser>
          <c:idx val="3"/>
          <c:order val="3"/>
          <c:tx>
            <c:strRef>
              <c:f>Sheet1!$E$1</c:f>
              <c:strCache>
                <c:ptCount val="1"/>
                <c:pt idx="0">
                  <c:v>XGBoost</c:v>
                </c:pt>
              </c:strCache>
            </c:strRef>
          </c:tx>
          <c:spPr>
            <a:ln w="31750" cap="flat">
              <a:solidFill>
                <a:srgbClr val="C8553D"/>
              </a:solidFill>
              <a:prstDash val="solid"/>
              <a:round/>
            </a:ln>
            <a:effectLst/>
          </c:spPr>
          <c:marker>
            <c:symbol val="circle"/>
            <c:size val="7"/>
            <c:spPr>
              <a:solidFill>
                <a:srgbClr val="C8553D"/>
              </a:solidFill>
              <a:ln w="9525" cap="flat">
                <a:solidFill>
                  <a:srgbClr val="C8553D"/>
                </a:solidFill>
                <a:prstDash val="solid"/>
                <a:round/>
              </a:ln>
              <a:effectLst/>
            </c:spPr>
          </c:marker>
          <c:cat>
            <c:strRef>
              <c:f>Sheet1!$A$2:$A$6</c:f>
              <c:strCache>
                <c:ptCount val="5"/>
                <c:pt idx="0">
                  <c:v>0</c:v>
                </c:pt>
                <c:pt idx="1">
                  <c:v>0.25</c:v>
                </c:pt>
                <c:pt idx="2">
                  <c:v>0.5</c:v>
                </c:pt>
                <c:pt idx="3">
                  <c:v>0.75</c:v>
                </c:pt>
                <c:pt idx="4">
                  <c:v>1</c:v>
                </c:pt>
              </c:strCache>
            </c:strRef>
          </c:cat>
          <c:val>
            <c:numRef>
              <c:f>Sheet1!$E$2:$E$6</c:f>
              <c:numCache>
                <c:formatCode>General</c:formatCode>
                <c:ptCount val="5"/>
                <c:pt idx="0">
                  <c:v>1.444E-2</c:v>
                </c:pt>
                <c:pt idx="1">
                  <c:v>1.332E-2</c:v>
                </c:pt>
                <c:pt idx="2">
                  <c:v>1.465E-2</c:v>
                </c:pt>
                <c:pt idx="3">
                  <c:v>1.524E-2</c:v>
                </c:pt>
                <c:pt idx="4">
                  <c:v>1.495E-2</c:v>
                </c:pt>
              </c:numCache>
            </c:numRef>
          </c:val>
          <c:smooth val="0"/>
          <c:extLst>
            <c:ext xmlns:c16="http://schemas.microsoft.com/office/drawing/2014/chart" uri="{C3380CC4-5D6E-409C-BE32-E72D297353CC}">
              <c16:uniqueId val="{00000003-4D2C-457D-B3AE-3FB67E31AA8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B5870"/>
                    </a:solidFill>
                    <a:latin typeface="+mn-lt"/>
                  </a:defRPr>
                </a:pPr>
                <a:r>
                  <a:rPr lang="el-GR" sz="1200" b="0" i="0" u="none" strike="noStrike">
                    <a:solidFill>
                      <a:srgbClr val="4B5870"/>
                    </a:solidFill>
                    <a:latin typeface="+mn-lt"/>
                  </a:rPr>
                  <a:t>γ (</a:t>
                </a:r>
                <a:r>
                  <a:rPr lang="en-US" sz="1200" b="0" i="0" u="none" strike="noStrike">
                    <a:solidFill>
                      <a:srgbClr val="4B5870"/>
                    </a:solidFill>
                    <a:latin typeface="+mn-lt"/>
                  </a:rPr>
                  <a:t>interaction strength)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D9DE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γ = 1: error vs training applicants</a:t>
            </a:r>
          </a:p>
        </c:rich>
      </c:tx>
      <c:overlay val="0"/>
    </c:title>
    <c:autoTitleDeleted val="0"/>
    <c:plotArea>
      <c:layout/>
      <c:lineChart>
        <c:grouping val="standard"/>
        <c:varyColors val="0"/>
        <c:ser>
          <c:idx val="0"/>
          <c:order val="0"/>
          <c:tx>
            <c:strRef>
              <c:f>Sheet1!$B$1</c:f>
              <c:strCache>
                <c:ptCount val="1"/>
                <c:pt idx="0">
                  <c:v>Arm A</c:v>
                </c:pt>
              </c:strCache>
            </c:strRef>
          </c:tx>
          <c:spPr>
            <a:ln w="31750" cap="flat">
              <a:solidFill>
                <a:srgbClr val="1B2A41"/>
              </a:solidFill>
              <a:prstDash val="solid"/>
              <a:round/>
            </a:ln>
            <a:effectLst/>
          </c:spPr>
          <c:marker>
            <c:symbol val="circle"/>
            <c:size val="7"/>
            <c:spPr>
              <a:solidFill>
                <a:srgbClr val="1B2A41"/>
              </a:solidFill>
              <a:ln w="9525" cap="flat">
                <a:solidFill>
                  <a:srgbClr val="1B2A41"/>
                </a:solidFill>
                <a:prstDash val="solid"/>
                <a:round/>
              </a:ln>
              <a:effectLst/>
            </c:spPr>
          </c:marker>
          <c:cat>
            <c:strRef>
              <c:f>Sheet1!$A$2:$A$6</c:f>
              <c:strCache>
                <c:ptCount val="5"/>
                <c:pt idx="0">
                  <c:v>5k</c:v>
                </c:pt>
                <c:pt idx="1">
                  <c:v>15k</c:v>
                </c:pt>
                <c:pt idx="2">
                  <c:v>30k</c:v>
                </c:pt>
                <c:pt idx="3">
                  <c:v>90k</c:v>
                </c:pt>
                <c:pt idx="4">
                  <c:v>270k</c:v>
                </c:pt>
              </c:strCache>
            </c:strRef>
          </c:cat>
          <c:val>
            <c:numRef>
              <c:f>Sheet1!$B$2:$B$6</c:f>
              <c:numCache>
                <c:formatCode>General</c:formatCode>
                <c:ptCount val="5"/>
                <c:pt idx="0">
                  <c:v>1.6E-2</c:v>
                </c:pt>
                <c:pt idx="1">
                  <c:v>1.528E-2</c:v>
                </c:pt>
                <c:pt idx="2">
                  <c:v>1.521E-2</c:v>
                </c:pt>
                <c:pt idx="3">
                  <c:v>1.523E-2</c:v>
                </c:pt>
                <c:pt idx="4">
                  <c:v>1.5169999999999999E-2</c:v>
                </c:pt>
              </c:numCache>
            </c:numRef>
          </c:val>
          <c:smooth val="0"/>
          <c:extLst>
            <c:ext xmlns:c16="http://schemas.microsoft.com/office/drawing/2014/chart" uri="{C3380CC4-5D6E-409C-BE32-E72D297353CC}">
              <c16:uniqueId val="{00000000-3079-456A-9D44-3B0830EF73C2}"/>
            </c:ext>
          </c:extLst>
        </c:ser>
        <c:ser>
          <c:idx val="1"/>
          <c:order val="1"/>
          <c:tx>
            <c:strRef>
              <c:f>Sheet1!$C$1</c:f>
              <c:strCache>
                <c:ptCount val="1"/>
                <c:pt idx="0">
                  <c:v>GLM</c:v>
                </c:pt>
              </c:strCache>
            </c:strRef>
          </c:tx>
          <c:spPr>
            <a:ln w="31750" cap="flat">
              <a:solidFill>
                <a:srgbClr val="1F8A7D"/>
              </a:solidFill>
              <a:prstDash val="solid"/>
              <a:round/>
            </a:ln>
            <a:effectLst/>
          </c:spPr>
          <c:marker>
            <c:symbol val="circle"/>
            <c:size val="7"/>
            <c:spPr>
              <a:solidFill>
                <a:srgbClr val="1F8A7D"/>
              </a:solidFill>
              <a:ln w="9525" cap="flat">
                <a:solidFill>
                  <a:srgbClr val="1F8A7D"/>
                </a:solidFill>
                <a:prstDash val="solid"/>
                <a:round/>
              </a:ln>
              <a:effectLst/>
            </c:spPr>
          </c:marker>
          <c:cat>
            <c:strRef>
              <c:f>Sheet1!$A$2:$A$6</c:f>
              <c:strCache>
                <c:ptCount val="5"/>
                <c:pt idx="0">
                  <c:v>5k</c:v>
                </c:pt>
                <c:pt idx="1">
                  <c:v>15k</c:v>
                </c:pt>
                <c:pt idx="2">
                  <c:v>30k</c:v>
                </c:pt>
                <c:pt idx="3">
                  <c:v>90k</c:v>
                </c:pt>
                <c:pt idx="4">
                  <c:v>270k</c:v>
                </c:pt>
              </c:strCache>
            </c:strRef>
          </c:cat>
          <c:val>
            <c:numRef>
              <c:f>Sheet1!$C$2:$C$6</c:f>
              <c:numCache>
                <c:formatCode>General</c:formatCode>
                <c:ptCount val="5"/>
                <c:pt idx="0">
                  <c:v>2.6210000000000001E-2</c:v>
                </c:pt>
                <c:pt idx="1">
                  <c:v>1.6559999999999998E-2</c:v>
                </c:pt>
                <c:pt idx="2">
                  <c:v>1.192E-2</c:v>
                </c:pt>
                <c:pt idx="3">
                  <c:v>9.1999999999999998E-3</c:v>
                </c:pt>
                <c:pt idx="4">
                  <c:v>8.3999999999999995E-3</c:v>
                </c:pt>
              </c:numCache>
            </c:numRef>
          </c:val>
          <c:smooth val="0"/>
          <c:extLst>
            <c:ext xmlns:c16="http://schemas.microsoft.com/office/drawing/2014/chart" uri="{C3380CC4-5D6E-409C-BE32-E72D297353CC}">
              <c16:uniqueId val="{00000001-3079-456A-9D44-3B0830EF73C2}"/>
            </c:ext>
          </c:extLst>
        </c:ser>
        <c:ser>
          <c:idx val="2"/>
          <c:order val="2"/>
          <c:tx>
            <c:strRef>
              <c:f>Sheet1!$D$1</c:f>
              <c:strCache>
                <c:ptCount val="1"/>
                <c:pt idx="0">
                  <c:v>Cox</c:v>
                </c:pt>
              </c:strCache>
            </c:strRef>
          </c:tx>
          <c:spPr>
            <a:ln w="31750" cap="flat">
              <a:solidFill>
                <a:srgbClr val="4A6FA5"/>
              </a:solidFill>
              <a:prstDash val="solid"/>
              <a:round/>
            </a:ln>
            <a:effectLst/>
          </c:spPr>
          <c:marker>
            <c:symbol val="circle"/>
            <c:size val="7"/>
            <c:spPr>
              <a:solidFill>
                <a:srgbClr val="4A6FA5"/>
              </a:solidFill>
              <a:ln w="9525" cap="flat">
                <a:solidFill>
                  <a:srgbClr val="4A6FA5"/>
                </a:solidFill>
                <a:prstDash val="solid"/>
                <a:round/>
              </a:ln>
              <a:effectLst/>
            </c:spPr>
          </c:marker>
          <c:cat>
            <c:strRef>
              <c:f>Sheet1!$A$2:$A$6</c:f>
              <c:strCache>
                <c:ptCount val="5"/>
                <c:pt idx="0">
                  <c:v>5k</c:v>
                </c:pt>
                <c:pt idx="1">
                  <c:v>15k</c:v>
                </c:pt>
                <c:pt idx="2">
                  <c:v>30k</c:v>
                </c:pt>
                <c:pt idx="3">
                  <c:v>90k</c:v>
                </c:pt>
                <c:pt idx="4">
                  <c:v>270k</c:v>
                </c:pt>
              </c:strCache>
            </c:strRef>
          </c:cat>
          <c:val>
            <c:numRef>
              <c:f>Sheet1!$D$2:$D$6</c:f>
              <c:numCache>
                <c:formatCode>General</c:formatCode>
                <c:ptCount val="5"/>
                <c:pt idx="0">
                  <c:v>2.581E-2</c:v>
                </c:pt>
                <c:pt idx="1">
                  <c:v>1.4160000000000001E-2</c:v>
                </c:pt>
                <c:pt idx="2">
                  <c:v>1.132E-2</c:v>
                </c:pt>
                <c:pt idx="3">
                  <c:v>8.5299999999999994E-3</c:v>
                </c:pt>
                <c:pt idx="4">
                  <c:v>7.6800000000000002E-3</c:v>
                </c:pt>
              </c:numCache>
            </c:numRef>
          </c:val>
          <c:smooth val="0"/>
          <c:extLst>
            <c:ext xmlns:c16="http://schemas.microsoft.com/office/drawing/2014/chart" uri="{C3380CC4-5D6E-409C-BE32-E72D297353CC}">
              <c16:uniqueId val="{00000002-3079-456A-9D44-3B0830EF73C2}"/>
            </c:ext>
          </c:extLst>
        </c:ser>
        <c:ser>
          <c:idx val="3"/>
          <c:order val="3"/>
          <c:tx>
            <c:strRef>
              <c:f>Sheet1!$E$1</c:f>
              <c:strCache>
                <c:ptCount val="1"/>
                <c:pt idx="0">
                  <c:v>XGBoost</c:v>
                </c:pt>
              </c:strCache>
            </c:strRef>
          </c:tx>
          <c:spPr>
            <a:ln w="31750" cap="flat">
              <a:solidFill>
                <a:srgbClr val="C8553D"/>
              </a:solidFill>
              <a:prstDash val="solid"/>
              <a:round/>
            </a:ln>
            <a:effectLst/>
          </c:spPr>
          <c:marker>
            <c:symbol val="circle"/>
            <c:size val="7"/>
            <c:spPr>
              <a:solidFill>
                <a:srgbClr val="C8553D"/>
              </a:solidFill>
              <a:ln w="9525" cap="flat">
                <a:solidFill>
                  <a:srgbClr val="C8553D"/>
                </a:solidFill>
                <a:prstDash val="solid"/>
                <a:round/>
              </a:ln>
              <a:effectLst/>
            </c:spPr>
          </c:marker>
          <c:cat>
            <c:strRef>
              <c:f>Sheet1!$A$2:$A$6</c:f>
              <c:strCache>
                <c:ptCount val="5"/>
                <c:pt idx="0">
                  <c:v>5k</c:v>
                </c:pt>
                <c:pt idx="1">
                  <c:v>15k</c:v>
                </c:pt>
                <c:pt idx="2">
                  <c:v>30k</c:v>
                </c:pt>
                <c:pt idx="3">
                  <c:v>90k</c:v>
                </c:pt>
                <c:pt idx="4">
                  <c:v>270k</c:v>
                </c:pt>
              </c:strCache>
            </c:strRef>
          </c:cat>
          <c:val>
            <c:numRef>
              <c:f>Sheet1!$E$2:$E$6</c:f>
              <c:numCache>
                <c:formatCode>General</c:formatCode>
                <c:ptCount val="5"/>
                <c:pt idx="0">
                  <c:v>3.2399999999999998E-2</c:v>
                </c:pt>
                <c:pt idx="1">
                  <c:v>1.9349999999999999E-2</c:v>
                </c:pt>
                <c:pt idx="2">
                  <c:v>1.498E-2</c:v>
                </c:pt>
                <c:pt idx="3">
                  <c:v>1.082E-2</c:v>
                </c:pt>
                <c:pt idx="4">
                  <c:v>8.1099999999999992E-3</c:v>
                </c:pt>
              </c:numCache>
            </c:numRef>
          </c:val>
          <c:smooth val="0"/>
          <c:extLst>
            <c:ext xmlns:c16="http://schemas.microsoft.com/office/drawing/2014/chart" uri="{C3380CC4-5D6E-409C-BE32-E72D297353CC}">
              <c16:uniqueId val="{00000003-3079-456A-9D44-3B0830EF73C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B5870"/>
                    </a:solidFill>
                    <a:latin typeface="+mn-lt"/>
                  </a:defRPr>
                </a:pPr>
                <a:r>
                  <a:rPr lang="en-US" sz="1200" b="0" i="0" u="none" strike="noStrike">
                    <a:solidFill>
                      <a:srgbClr val="4B5870"/>
                    </a:solidFill>
                    <a:latin typeface="+mn-lt"/>
                  </a:rPr>
                  <a:t>Training applicants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D9DE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Premium error vs Arm A, honest records (₹ per year; negative = better)</a:t>
            </a:r>
          </a:p>
        </c:rich>
      </c:tx>
      <c:overlay val="0"/>
    </c:title>
    <c:autoTitleDeleted val="0"/>
    <c:plotArea>
      <c:layout/>
      <c:barChart>
        <c:barDir val="col"/>
        <c:grouping val="clustered"/>
        <c:varyColors val="0"/>
        <c:ser>
          <c:idx val="0"/>
          <c:order val="0"/>
          <c:tx>
            <c:strRef>
              <c:f>Sheet1!$B$1</c:f>
              <c:strCache>
                <c:ptCount val="1"/>
                <c:pt idx="0">
                  <c:v>₹ per year</c:v>
                </c:pt>
              </c:strCache>
            </c:strRef>
          </c:tx>
          <c:spPr>
            <a:solidFill>
              <a:srgbClr val="C8553D"/>
            </a:solidFill>
            <a:effectLst/>
          </c:spPr>
          <c:invertIfNegative val="0"/>
          <c:dPt>
            <c:idx val="0"/>
            <c:invertIfNegative val="0"/>
            <c:bubble3D val="0"/>
            <c:extLst>
              <c:ext xmlns:c16="http://schemas.microsoft.com/office/drawing/2014/chart" uri="{C3380CC4-5D6E-409C-BE32-E72D297353CC}">
                <c16:uniqueId val="{00000001-2A4D-4340-850F-AED58EAD7D1B}"/>
              </c:ext>
            </c:extLst>
          </c:dPt>
          <c:dPt>
            <c:idx val="1"/>
            <c:invertIfNegative val="0"/>
            <c:bubble3D val="0"/>
            <c:spPr>
              <a:solidFill>
                <a:srgbClr val="1F8A7D"/>
              </a:solidFill>
              <a:effectLst/>
            </c:spPr>
            <c:extLst>
              <c:ext xmlns:c16="http://schemas.microsoft.com/office/drawing/2014/chart" uri="{C3380CC4-5D6E-409C-BE32-E72D297353CC}">
                <c16:uniqueId val="{00000003-2A4D-4340-850F-AED58EAD7D1B}"/>
              </c:ext>
            </c:extLst>
          </c:dPt>
          <c:dPt>
            <c:idx val="2"/>
            <c:invertIfNegative val="0"/>
            <c:bubble3D val="0"/>
            <c:extLst>
              <c:ext xmlns:c16="http://schemas.microsoft.com/office/drawing/2014/chart" uri="{C3380CC4-5D6E-409C-BE32-E72D297353CC}">
                <c16:uniqueId val="{00000005-2A4D-4340-850F-AED58EAD7D1B}"/>
              </c:ext>
            </c:extLst>
          </c:dPt>
          <c:dPt>
            <c:idx val="3"/>
            <c:invertIfNegative val="0"/>
            <c:bubble3D val="0"/>
            <c:spPr>
              <a:solidFill>
                <a:srgbClr val="1F8A7D"/>
              </a:solidFill>
              <a:effectLst/>
            </c:spPr>
            <c:extLst>
              <c:ext xmlns:c16="http://schemas.microsoft.com/office/drawing/2014/chart" uri="{C3380CC4-5D6E-409C-BE32-E72D297353CC}">
                <c16:uniqueId val="{00000007-2A4D-4340-850F-AED58EAD7D1B}"/>
              </c:ext>
            </c:extLst>
          </c:dPt>
          <c:dLbls>
            <c:numFmt formatCode="#,##0;\-#,##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XGBoost, γ = 0.5</c:v>
                </c:pt>
                <c:pt idx="1">
                  <c:v>GLM, γ = 0.5</c:v>
                </c:pt>
                <c:pt idx="2">
                  <c:v>XGBoost, γ = 1</c:v>
                </c:pt>
                <c:pt idx="3">
                  <c:v>GLM, γ = 1</c:v>
                </c:pt>
              </c:strCache>
            </c:strRef>
          </c:cat>
          <c:val>
            <c:numRef>
              <c:f>Sheet1!$B$2:$B$5</c:f>
              <c:numCache>
                <c:formatCode>General</c:formatCode>
                <c:ptCount val="4"/>
                <c:pt idx="0">
                  <c:v>2014</c:v>
                </c:pt>
                <c:pt idx="1">
                  <c:v>-605</c:v>
                </c:pt>
                <c:pt idx="2">
                  <c:v>528</c:v>
                </c:pt>
                <c:pt idx="3">
                  <c:v>-1037</c:v>
                </c:pt>
              </c:numCache>
            </c:numRef>
          </c:val>
          <c:extLst>
            <c:ext xmlns:c16="http://schemas.microsoft.com/office/drawing/2014/chart" uri="{C3380CC4-5D6E-409C-BE32-E72D297353CC}">
              <c16:uniqueId val="{00000008-2A4D-4340-850F-AED58EAD7D1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Liars underpriced (%), trained on honest records</a:t>
            </a:r>
          </a:p>
        </c:rich>
      </c:tx>
      <c:overlay val="0"/>
    </c:title>
    <c:autoTitleDeleted val="0"/>
    <c:plotArea>
      <c:layout/>
      <c:barChart>
        <c:barDir val="col"/>
        <c:grouping val="clustered"/>
        <c:varyColors val="0"/>
        <c:ser>
          <c:idx val="0"/>
          <c:order val="0"/>
          <c:tx>
            <c:strRef>
              <c:f>Sheet1!$B$1</c:f>
              <c:strCache>
                <c:ptCount val="1"/>
                <c:pt idx="0">
                  <c:v>Arm A</c:v>
                </c:pt>
              </c:strCache>
            </c:strRef>
          </c:tx>
          <c:spPr>
            <a:solidFill>
              <a:srgbClr val="1B2A41"/>
            </a:solidFill>
            <a:effectLst/>
          </c:spPr>
          <c:invertIfNegative val="0"/>
          <c:dLbls>
            <c:numFmt formatCode="0" sourceLinked="0"/>
            <c:spPr>
              <a:noFill/>
              <a:ln>
                <a:noFill/>
              </a:ln>
              <a:effectLst/>
            </c:spPr>
            <c:txPr>
              <a:bodyPr/>
              <a:lstStyle/>
              <a:p>
                <a:pPr>
                  <a:defRPr sz="11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Hidden disease</c:v>
                </c:pt>
                <c:pt idx="1">
                  <c:v>Hidden smoking</c:v>
                </c:pt>
                <c:pt idx="2">
                  <c:v>Hidden both</c:v>
                </c:pt>
              </c:strCache>
            </c:strRef>
          </c:cat>
          <c:val>
            <c:numRef>
              <c:f>Sheet1!$B$2:$B$4</c:f>
              <c:numCache>
                <c:formatCode>General</c:formatCode>
                <c:ptCount val="3"/>
                <c:pt idx="0">
                  <c:v>18.8</c:v>
                </c:pt>
                <c:pt idx="1">
                  <c:v>56.4</c:v>
                </c:pt>
                <c:pt idx="2">
                  <c:v>67.2</c:v>
                </c:pt>
              </c:numCache>
            </c:numRef>
          </c:val>
          <c:extLst>
            <c:ext xmlns:c16="http://schemas.microsoft.com/office/drawing/2014/chart" uri="{C3380CC4-5D6E-409C-BE32-E72D297353CC}">
              <c16:uniqueId val="{00000000-1B6B-4F37-85DA-BA4ECCEF2B28}"/>
            </c:ext>
          </c:extLst>
        </c:ser>
        <c:ser>
          <c:idx val="1"/>
          <c:order val="1"/>
          <c:tx>
            <c:strRef>
              <c:f>Sheet1!$C$1</c:f>
              <c:strCache>
                <c:ptCount val="1"/>
                <c:pt idx="0">
                  <c:v>GLM</c:v>
                </c:pt>
              </c:strCache>
            </c:strRef>
          </c:tx>
          <c:spPr>
            <a:solidFill>
              <a:srgbClr val="1F8A7D"/>
            </a:solidFill>
            <a:effectLst/>
          </c:spPr>
          <c:invertIfNegative val="0"/>
          <c:dLbls>
            <c:numFmt formatCode="0" sourceLinked="0"/>
            <c:spPr>
              <a:noFill/>
              <a:ln>
                <a:noFill/>
              </a:ln>
              <a:effectLst/>
            </c:spPr>
            <c:txPr>
              <a:bodyPr/>
              <a:lstStyle/>
              <a:p>
                <a:pPr>
                  <a:defRPr sz="11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Hidden disease</c:v>
                </c:pt>
                <c:pt idx="1">
                  <c:v>Hidden smoking</c:v>
                </c:pt>
                <c:pt idx="2">
                  <c:v>Hidden both</c:v>
                </c:pt>
              </c:strCache>
            </c:strRef>
          </c:cat>
          <c:val>
            <c:numRef>
              <c:f>Sheet1!$C$2:$C$4</c:f>
              <c:numCache>
                <c:formatCode>General</c:formatCode>
                <c:ptCount val="3"/>
                <c:pt idx="0">
                  <c:v>32.799999999999997</c:v>
                </c:pt>
                <c:pt idx="1">
                  <c:v>59</c:v>
                </c:pt>
                <c:pt idx="2">
                  <c:v>73</c:v>
                </c:pt>
              </c:numCache>
            </c:numRef>
          </c:val>
          <c:extLst>
            <c:ext xmlns:c16="http://schemas.microsoft.com/office/drawing/2014/chart" uri="{C3380CC4-5D6E-409C-BE32-E72D297353CC}">
              <c16:uniqueId val="{00000001-1B6B-4F37-85DA-BA4ECCEF2B28}"/>
            </c:ext>
          </c:extLst>
        </c:ser>
        <c:ser>
          <c:idx val="2"/>
          <c:order val="2"/>
          <c:tx>
            <c:strRef>
              <c:f>Sheet1!$D$1</c:f>
              <c:strCache>
                <c:ptCount val="1"/>
                <c:pt idx="0">
                  <c:v>XGBoost</c:v>
                </c:pt>
              </c:strCache>
            </c:strRef>
          </c:tx>
          <c:spPr>
            <a:solidFill>
              <a:srgbClr val="C8553D"/>
            </a:solidFill>
            <a:effectLst/>
          </c:spPr>
          <c:invertIfNegative val="0"/>
          <c:dLbls>
            <c:numFmt formatCode="0" sourceLinked="0"/>
            <c:spPr>
              <a:noFill/>
              <a:ln>
                <a:noFill/>
              </a:ln>
              <a:effectLst/>
            </c:spPr>
            <c:txPr>
              <a:bodyPr/>
              <a:lstStyle/>
              <a:p>
                <a:pPr>
                  <a:defRPr sz="11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Hidden disease</c:v>
                </c:pt>
                <c:pt idx="1">
                  <c:v>Hidden smoking</c:v>
                </c:pt>
                <c:pt idx="2">
                  <c:v>Hidden both</c:v>
                </c:pt>
              </c:strCache>
            </c:strRef>
          </c:cat>
          <c:val>
            <c:numRef>
              <c:f>Sheet1!$D$2:$D$4</c:f>
              <c:numCache>
                <c:formatCode>General</c:formatCode>
                <c:ptCount val="3"/>
                <c:pt idx="0">
                  <c:v>22.2</c:v>
                </c:pt>
                <c:pt idx="1">
                  <c:v>53.8</c:v>
                </c:pt>
                <c:pt idx="2">
                  <c:v>68.7</c:v>
                </c:pt>
              </c:numCache>
            </c:numRef>
          </c:val>
          <c:extLst>
            <c:ext xmlns:c16="http://schemas.microsoft.com/office/drawing/2014/chart" uri="{C3380CC4-5D6E-409C-BE32-E72D297353CC}">
              <c16:uniqueId val="{00000002-1B6B-4F37-85DA-BA4ECCEF2B2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a:solidFill>
                <a:srgbClr val="D9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Honest non-smokers overcharged (%), trained on declared</a:t>
            </a:r>
          </a:p>
        </c:rich>
      </c:tx>
      <c:overlay val="0"/>
    </c:title>
    <c:autoTitleDeleted val="0"/>
    <c:plotArea>
      <c:layout/>
      <c:barChart>
        <c:barDir val="col"/>
        <c:grouping val="clustered"/>
        <c:varyColors val="0"/>
        <c:ser>
          <c:idx val="0"/>
          <c:order val="0"/>
          <c:tx>
            <c:strRef>
              <c:f>Sheet1!$B$1</c:f>
              <c:strCache>
                <c:ptCount val="1"/>
                <c:pt idx="0">
                  <c:v>Overcharged</c:v>
                </c:pt>
              </c:strCache>
            </c:strRef>
          </c:tx>
          <c:spPr>
            <a:solidFill>
              <a:srgbClr val="4A6FA5"/>
            </a:solidFill>
            <a:effectLst/>
          </c:spPr>
          <c:invertIfNegative val="0"/>
          <c:dLbls>
            <c:numFmt formatCode="0.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Arm A</c:v>
                </c:pt>
                <c:pt idx="1">
                  <c:v>Arm A+</c:v>
                </c:pt>
                <c:pt idx="2">
                  <c:v>GLM</c:v>
                </c:pt>
                <c:pt idx="3">
                  <c:v>Cox</c:v>
                </c:pt>
                <c:pt idx="4">
                  <c:v>XGBoost</c:v>
                </c:pt>
              </c:strCache>
            </c:strRef>
          </c:cat>
          <c:val>
            <c:numRef>
              <c:f>Sheet1!$B$2:$B$6</c:f>
              <c:numCache>
                <c:formatCode>General</c:formatCode>
                <c:ptCount val="5"/>
                <c:pt idx="0">
                  <c:v>44.3</c:v>
                </c:pt>
                <c:pt idx="1">
                  <c:v>54.8</c:v>
                </c:pt>
                <c:pt idx="2">
                  <c:v>48.5</c:v>
                </c:pt>
                <c:pt idx="3">
                  <c:v>50.3</c:v>
                </c:pt>
                <c:pt idx="4">
                  <c:v>57.2</c:v>
                </c:pt>
              </c:numCache>
            </c:numRef>
          </c:val>
          <c:extLst>
            <c:ext xmlns:c16="http://schemas.microsoft.com/office/drawing/2014/chart" uri="{C3380CC4-5D6E-409C-BE32-E72D297353CC}">
              <c16:uniqueId val="{00000000-75D0-4E2A-8E65-1547E27678B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6350" cap="flat">
              <a:solidFill>
                <a:srgbClr val="D9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Share of hidden loss caught (%), same number checked</a:t>
            </a:r>
          </a:p>
        </c:rich>
      </c:tx>
      <c:overlay val="0"/>
    </c:title>
    <c:autoTitleDeleted val="0"/>
    <c:plotArea>
      <c:layout/>
      <c:barChart>
        <c:barDir val="col"/>
        <c:grouping val="clustered"/>
        <c:varyColors val="0"/>
        <c:ser>
          <c:idx val="0"/>
          <c:order val="0"/>
          <c:tx>
            <c:strRef>
              <c:f>Sheet1!$B$1</c:f>
              <c:strCache>
                <c:ptCount val="1"/>
                <c:pt idx="0">
                  <c:v>Hidden loss caught</c:v>
                </c:pt>
              </c:strCache>
            </c:strRef>
          </c:tx>
          <c:spPr>
            <a:solidFill>
              <a:srgbClr val="8A94A6"/>
            </a:solidFill>
            <a:effectLst/>
          </c:spPr>
          <c:invertIfNegative val="0"/>
          <c:dPt>
            <c:idx val="0"/>
            <c:invertIfNegative val="0"/>
            <c:bubble3D val="0"/>
            <c:extLst>
              <c:ext xmlns:c16="http://schemas.microsoft.com/office/drawing/2014/chart" uri="{C3380CC4-5D6E-409C-BE32-E72D297353CC}">
                <c16:uniqueId val="{00000001-42A5-4E60-8C89-B8A8F399AD24}"/>
              </c:ext>
            </c:extLst>
          </c:dPt>
          <c:dPt>
            <c:idx val="1"/>
            <c:invertIfNegative val="0"/>
            <c:bubble3D val="0"/>
            <c:spPr>
              <a:solidFill>
                <a:srgbClr val="4A6FA5"/>
              </a:solidFill>
              <a:effectLst/>
            </c:spPr>
            <c:extLst>
              <c:ext xmlns:c16="http://schemas.microsoft.com/office/drawing/2014/chart" uri="{C3380CC4-5D6E-409C-BE32-E72D297353CC}">
                <c16:uniqueId val="{00000003-42A5-4E60-8C89-B8A8F399AD24}"/>
              </c:ext>
            </c:extLst>
          </c:dPt>
          <c:dPt>
            <c:idx val="2"/>
            <c:invertIfNegative val="0"/>
            <c:bubble3D val="0"/>
            <c:spPr>
              <a:solidFill>
                <a:srgbClr val="C8553D"/>
              </a:solidFill>
              <a:effectLst/>
            </c:spPr>
            <c:extLst>
              <c:ext xmlns:c16="http://schemas.microsoft.com/office/drawing/2014/chart" uri="{C3380CC4-5D6E-409C-BE32-E72D297353CC}">
                <c16:uniqueId val="{00000005-42A5-4E60-8C89-B8A8F399AD24}"/>
              </c:ext>
            </c:extLst>
          </c:dPt>
          <c:dLbls>
            <c:numFmt formatCode="0.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Random checking</c:v>
                </c:pt>
                <c:pt idx="1">
                  <c:v>Rule trigger (Arm A)</c:v>
                </c:pt>
                <c:pt idx="2">
                  <c:v>Statistical trigger (Arm B)</c:v>
                </c:pt>
              </c:strCache>
            </c:strRef>
          </c:cat>
          <c:val>
            <c:numRef>
              <c:f>Sheet1!$B$2:$B$4</c:f>
              <c:numCache>
                <c:formatCode>General</c:formatCode>
                <c:ptCount val="3"/>
                <c:pt idx="0">
                  <c:v>8.3000000000000007</c:v>
                </c:pt>
                <c:pt idx="1">
                  <c:v>23.3</c:v>
                </c:pt>
                <c:pt idx="2">
                  <c:v>26</c:v>
                </c:pt>
              </c:numCache>
            </c:numRef>
          </c:val>
          <c:extLst>
            <c:ext xmlns:c16="http://schemas.microsoft.com/office/drawing/2014/chart" uri="{C3380CC4-5D6E-409C-BE32-E72D297353CC}">
              <c16:uniqueId val="{00000006-42A5-4E60-8C89-B8A8F399AD2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D9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lang="en-US" sz="1400" b="0" i="0" u="none" strike="noStrike">
                <a:solidFill>
                  <a:srgbClr val="1B2A41"/>
                </a:solidFill>
                <a:latin typeface="+mn-lt"/>
              </a:rPr>
              <a:t>Check if the exam costs less than… (₹ thousand)</a:t>
            </a:r>
          </a:p>
        </c:rich>
      </c:tx>
      <c:overlay val="0"/>
    </c:title>
    <c:autoTitleDeleted val="0"/>
    <c:plotArea>
      <c:layout/>
      <c:barChart>
        <c:barDir val="col"/>
        <c:grouping val="clustered"/>
        <c:varyColors val="0"/>
        <c:ser>
          <c:idx val="0"/>
          <c:order val="0"/>
          <c:tx>
            <c:strRef>
              <c:f>Sheet1!$B$1</c:f>
              <c:strCache>
                <c:ptCount val="1"/>
                <c:pt idx="0">
                  <c:v>Break-even</c:v>
                </c:pt>
              </c:strCache>
            </c:strRef>
          </c:tx>
          <c:spPr>
            <a:solidFill>
              <a:srgbClr val="8A94A6"/>
            </a:solidFill>
            <a:effectLst/>
          </c:spPr>
          <c:invertIfNegative val="0"/>
          <c:dPt>
            <c:idx val="0"/>
            <c:invertIfNegative val="0"/>
            <c:bubble3D val="0"/>
            <c:extLst>
              <c:ext xmlns:c16="http://schemas.microsoft.com/office/drawing/2014/chart" uri="{C3380CC4-5D6E-409C-BE32-E72D297353CC}">
                <c16:uniqueId val="{00000001-C720-4C3B-B6B8-D598E22AC0A7}"/>
              </c:ext>
            </c:extLst>
          </c:dPt>
          <c:dPt>
            <c:idx val="1"/>
            <c:invertIfNegative val="0"/>
            <c:bubble3D val="0"/>
            <c:spPr>
              <a:solidFill>
                <a:srgbClr val="4A6FA5"/>
              </a:solidFill>
              <a:effectLst/>
            </c:spPr>
            <c:extLst>
              <c:ext xmlns:c16="http://schemas.microsoft.com/office/drawing/2014/chart" uri="{C3380CC4-5D6E-409C-BE32-E72D297353CC}">
                <c16:uniqueId val="{00000003-C720-4C3B-B6B8-D598E22AC0A7}"/>
              </c:ext>
            </c:extLst>
          </c:dPt>
          <c:dPt>
            <c:idx val="2"/>
            <c:invertIfNegative val="0"/>
            <c:bubble3D val="0"/>
            <c:spPr>
              <a:solidFill>
                <a:srgbClr val="C8553D"/>
              </a:solidFill>
              <a:effectLst/>
            </c:spPr>
            <c:extLst>
              <c:ext xmlns:c16="http://schemas.microsoft.com/office/drawing/2014/chart" uri="{C3380CC4-5D6E-409C-BE32-E72D297353CC}">
                <c16:uniqueId val="{00000005-C720-4C3B-B6B8-D598E22AC0A7}"/>
              </c:ext>
            </c:extLst>
          </c:dPt>
          <c:dLbls>
            <c:numFmt formatCode="&quot;₹&quot;0&quot;k&quot;"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Check everyone</c:v>
                </c:pt>
                <c:pt idx="1">
                  <c:v>Check flagged few (rules)</c:v>
                </c:pt>
                <c:pt idx="2">
                  <c:v>Check flagged few (statistical)</c:v>
                </c:pt>
              </c:strCache>
            </c:strRef>
          </c:cat>
          <c:val>
            <c:numRef>
              <c:f>Sheet1!$B$2:$B$4</c:f>
              <c:numCache>
                <c:formatCode>General</c:formatCode>
                <c:ptCount val="3"/>
                <c:pt idx="0">
                  <c:v>37</c:v>
                </c:pt>
                <c:pt idx="1">
                  <c:v>160</c:v>
                </c:pt>
                <c:pt idx="2">
                  <c:v>220</c:v>
                </c:pt>
              </c:numCache>
            </c:numRef>
          </c:val>
          <c:extLst>
            <c:ext xmlns:c16="http://schemas.microsoft.com/office/drawing/2014/chart" uri="{C3380CC4-5D6E-409C-BE32-E72D297353CC}">
              <c16:uniqueId val="{00000006-C720-4C3B-B6B8-D598E22AC0A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2"/>
        <c:crosses val="autoZero"/>
        <c:auto val="1"/>
        <c:lblAlgn val="ctr"/>
        <c:lblOffset val="100"/>
        <c:noMultiLvlLbl val="1"/>
      </c:catAx>
      <c:valAx>
        <c:axId val="2094734552"/>
        <c:scaling>
          <c:orientation val="minMax"/>
          <c:max val="250"/>
          <c:min val="0"/>
        </c:scaling>
        <c:delete val="0"/>
        <c:axPos val="l"/>
        <c:majorGridlines>
          <c:spPr>
            <a:ln w="6350" cap="flat">
              <a:solidFill>
                <a:srgbClr val="D9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8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361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asks: does machine learning price life insurance better when applicants lie? Statistics Group for Research Development, supervised by Prof. Shaishavi Sabnis. We tell it as the story of Meridian Life, a fictional insurer. The two numbers are from our calculator: the same 50-year-old smoker priced on what he declares versus the fair price.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sections, following the college format. Along the way we follow Meridian Life through five chapters: the status quo, the innovation, the test, the conflict and the verdict.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Life sees only what is declared. On the left, the applicant says he does not smoke and the traditional method charges 20,699 rupees a year. On the right, the truth: he smokes, 22 pack-years, and the fair price is 41,774. A hidden smoker pays about half the fair price. That gap, called information asymmetry, is the whole project. Example from our calculator: 50-year-old man, 10-year term, gamma 0.5.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Underwriting means estimating how likely each applicant is to claim in the next 10 years, then setting the price. The traditional method looks up a mortality table by age and sex and applies fixed multipliers. The machine learning method trains on data and learns the pattern, including how risk factors compound. The twist is that applicants may lie.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real dataset records who lied on an application. If someone hid smoking and was approved, nothing labels that. So we built the world ourselves: we decide each person’s true risk, hide some facts, price the declared record with each method, and compare with the truth we know. Fifteen datasets, 50,000 applicants each.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One and two are about honest applicants: accuracy and whether premiums cover claims. Three is about lying applicants: what breaks and who catches the liars. Four is the economics: when checking is worth the cost and how big a penalty stops lying. Our aim is to test fairly and report whoever wins.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fifteen datasets? One dataset could make a method look good just because it matches that data. We vary how strongly risk factors compound, gamma, across five levels, and repeat each three times with different random numbers. If the three seeds disagree we call the result unclear. At gamma 0 the risk of smoker plus high blood pressure plus high BMI is 5.3 times that of none; at gamma 1 it is 8.4 times. Average claim rate stays at 5.5 percent at every gamma. Each applicant has a true and a declared column 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 A is deliberately simple. It looks up a base rate by five-year age band and sex, multiplies by fixed loadings, scales with one number k of about 0.53 fitted on training data, and decides Standard, Rated or Decline. Loadings were fixed before any result. A blood pressure of 140 or more, or HbA1c of 6.5 or more, is treated as that condition even if undeclared. Arm A plus re-sets k for each declared group, so the traditional method does not look weak by construction.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 B is a ladder of three models, trained independently and compared side by side. GLM adds up effects learned from data. Cox models time until a claim. XGBoost uses many small trees and can capture interactions without being told. We split 60 10 30 by applicant so both versions of a person stay together, locked all settings before running, and gave every method the same columns. Models are trained two ways: on honest records, then on declared records, which mirrors what a real insurer has.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key formulas. Top left, the truth: a hazard model with a hidden extra risk Z and the gamma dial inside the risk score; true ten-year claim probability follows. Top right, the traditional price: ten times k times the base rate times the product of loadings. Bottom left, the machine learning models. Bottom right, premium is 1.25 times probability times sum assured over term, so a correctly priced book has a loss ratio of 0.80.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data 65 percent are honest, 15 percent hide smoking, 12 percent hide a disease and 8 percent hide smoking plus a disease. These shares are assumptions. Lies are false values, never blanks, and can only hide something the person really has. We oversampled smokers to 35 percent so there were enough liars, so about 66 percent of smokers lie. Some lies leave traces: blood sugar gives away diabetes, blood pressure gives away hypertension, but smoking leaves almost no trace because there is no nicotine test.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honest applicants, Arm A error against the true probability grows as risks compound: 0.0089 at gamma 0 up to 0.0151 at gamma 1, about 70 percent worse. Fixed rules do not learn, so more training data does not help: at gamma 0 the error is 0.0089 with 30 thousand applicants and 0.0088 with 270 thousand. The scaling number k of about 0.53 shows the CDC-shaped table is a general-population table, not one for insured lives.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means better than the traditional method. The GLM and Cox models were slightly better at every gamma, and agree in all three seeds only from gamma 0.75. XGBoost was worse than the traditional method when gamma was 0.75 or lower and about equal at gamma 1, difference minus 0.0002, p 0.43. AUC could not separate the methods, because 10-year claims are mostly luck.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error against true risk by gamma. The GLM and Cox lines sit lowest, Arm A in the middle and rising, XGBoost on top for most gammas. Right: learning curve at gamma 1. Fixed rules do not learn. The GLM passes them at about 15 to 30 thousand training applicants; XGBoost needs 30 to 90 thousand at gamma 1 and 90 to 270 thousand at gamma 0. Our project data had about 30 thousand, right at the crossing point, which is why the first results looked unclear. The 270 thousand point is a single run.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Premiums carry a 25 percent loading, so a correctly priced book has a loss ratio of 0.80. On honest records the GLM is closer to the true premium than the traditional method by 600 to 1,000 rupees a year, while XGBoost is off by 500 to 2,000 rupees more. When liars enter at a realistic 10 percent share, models trained on honest records undercharge, loss ratio 0.86 to 0.91, and models trained on declared records overcharge, 0.62 to 0.65. Chart bars for the loss-ratio ranges use midpoints.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when models are trained on honest records and then see declared records, all of them underprice liars. At gamma 0.5 the traditional method underprices hidden diseases by 19 percent, hidden smoking by 56 and both by 67. The traditional method does best on diseases because it uses the measured readings. Of the liars it would decline on the true record, 92.5 percent get accepted; hiding smoking saves 37 to 40 thousand rupees a year. Right: training on declared records cuts error by 0.003 to 0.009, but honest non-smokers now pay 44 to 57 percent more, exaggerated by our 35 percent liar share.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two flagging tools. Arm A uses two rules on blood pressure and blood sugar. Arm B uses a statistical consistency model trained on declared data only, with no list of who lied. Looking at the same number of applicants, about 8 percent, the statistical tool catches 26 percent of the hidden loss, the rules 23 percent and random checking 8 percent. The gap of 2.7 points is real but small. Both find about 20 percent of the liars, and hidden smoking is almost never found, 2 to 4 percent.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for a world with 10 percent liars, a perfect exam and gamma 0.5. Checking everybody pays only if the exam costs less than about 37 thousand rupees. Checking only the few flagged by the rules pays up to 1.6 lakh, and by the statistical tool 2.2 lakh. The break-even cost grows with policy size, from about 5.5 thousand for a 10 lakh policy to 111 thousand for 2 crore when checking everyone.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applicant chooses to tell the truth or lie; the insurer chooses to check flagged applicants at a cost. Lying pays when the saving beats the expected penalty. Truth is the best choice when the total loss on being caught is at least the saving divided by r times v. To stop lying about diseases or several facts, the loss must be about 2.5 to 3 times the saving. For hidden smoking it must be 27 to 54 times, which is not realistic without a better test, such as a nicotine test.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pulls the results together. A GLM is the simplest method that beats the fixed rules on honest data at our data size; XGBoost needs far more data; and when models are trained on honest records and applicants lie, the traditional method, which uses the measured readings, is hardest to beat. Cox behaves like the GLM.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calculator prices one applicant at a time. This is the hidden-smoker example from the start. On the declared record every method charges too little, between 33 and 58 percent under the fair price of 41,774 rupees. On the true record the methods are within about 4 to 25 percent; one person says nothing about which method is better in general. For terms other than 10 years the calculator uses a constant-yearly-risk shortcut, which understates long terms: at 20 years true probability is 17.8 percent but the shortcut gives 12.9, so the premium is about 28 percent too low.</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measures. Error against the true probability, RMSE, is primary because only about 5.5 percent claim in 10 years and claim outcomes are very noisy. Premium error, underpricing and loss ratio translate that into money. AUC and the difference-in-differences are secondary. For inference: bootstrap resampling by applicant, 1,000 times, with the Holm correction inside each family of tests and the DeLong test for AUC differences.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metrics can tell different stories. One: AUC cannot separate methods while RMSE can, because claims are mostly luck. Two: the 35 percent liar share in our cohort exaggerates the overcharge; at a realistic 10 percent, loss ratios are 0.62 to 0.65 versus 0.80. Three: where the three seeds disagree we say unclear. Four: intervals treat trained models as fixed, so they are narrower than the true uncertainty.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limits we state openly. Everything is simulated; interaction sizes and liar shares are assumptions. The traditional method is a simplified version of real practice. Smokers are oversampled to 35 percent. We have only three seeds. There are no lapses, discounting or strategic reactions, and we did not test fairness beyond age, sex and risk band, or the running cost of machine learning. We claim results for this simulated world only.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directions. First, real data: real insured-lives mortality tables such as SOA VBT or the Indian assured-lives table, and a nonlinear generator as sensitivity check. Second, stronger statistics: more seeds and training uncertainty in the intervals. Third, wider scope: fairness, running cost, lapses, discounting and repeated play. Fourth, better detection and product: a nicotine or biomarker test and a term-aware calculator.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directional recommendations from the simulated world. Start with a GLM. Train on declared data, but audit for overcharging honest applicants against a fair benchmark. Cross-check declarations with measured readings. Verify the flagged few rather than everyone. And fix the smoking blind spot, because hidden smoking is almost undetectable and deterrence would need a very large penalty. These are directional because results hold for the simulated world only.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One: learning from data beats fixed rules once there is enough data. Two: complex machine learning gave no extra gain over a plain GLM at our data size. Three: lying moves prices more than the choice of method. Four: checking pays at realistic exam costs, and a smarter flagging tool makes it pay for a wider range of costs. All of this holds for a simulated world only.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Close by reminding the audience that this is a simulated world, then take questions. The calculator link is on screen if anyone wants to try an applicant.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pic>
        <p:nvPicPr>
          <p:cNvPr id="2" name="Image 0" descr="College logo"/>
          <p:cNvPicPr>
            <a:picLocks noChangeAspect="1"/>
          </p:cNvPicPr>
          <p:nvPr/>
        </p:nvPicPr>
        <p:blipFill>
          <a:blip r:embed="rId2"/>
          <a:stretch>
            <a:fillRect/>
          </a:stretch>
        </p:blipFill>
        <p:spPr>
          <a:xfrm>
            <a:off x="137160" y="91440"/>
            <a:ext cx="4937760" cy="939089"/>
          </a:xfrm>
          <a:prstGeom prst="rect">
            <a:avLst/>
          </a:prstGeom>
        </p:spPr>
      </p:pic>
      <p:sp>
        <p:nvSpPr>
          <p:cNvPr id="3" name="Text 0"/>
          <p:cNvSpPr>
            <a:spLocks noGrp="1"/>
          </p:cNvSpPr>
          <p:nvPr>
            <p:ph type="title" idx="101" hasCustomPrompt="1"/>
          </p:nvPr>
        </p:nvSpPr>
        <p:spPr>
          <a:xfrm>
            <a:off x="822960" y="1737360"/>
            <a:ext cx="10515600" cy="1645920"/>
          </a:xfrm>
          <a:prstGeom prst="rect">
            <a:avLst/>
          </a:prstGeom>
          <a:noFill/>
          <a:ln/>
        </p:spPr>
        <p:txBody>
          <a:bodyPr wrap="square" rtlCol="0"/>
          <a:lstStyle>
            <a:lvl1pPr marL="0" indent="0" algn="ctr">
              <a:buNone/>
              <a:defRPr lang="en-US" sz="3400" b="1" dirty="0">
                <a:solidFill>
                  <a:schemeClr val="tx1"/>
                </a:solidFill>
                <a:latin typeface="+mj-lt" pitchFamily="34" charset="0"/>
                <a:ea typeface="+mj-lt" pitchFamily="34" charset="-122"/>
                <a:cs typeface="+mj-lt" pitchFamily="34" charset="-120"/>
              </a:defRPr>
            </a:lvl1pPr>
          </a:lstStyle>
          <a:p>
            <a:pPr marL="0" indent="0" algn="ctr">
              <a:buNone/>
            </a:pPr>
            <a:endParaRPr lang="en-US" sz="3400" dirty="0"/>
          </a:p>
        </p:txBody>
      </p:sp>
      <p:sp>
        <p:nvSpPr>
          <p:cNvPr id="4" name="Text 0"/>
          <p:cNvSpPr>
            <a:spLocks noGrp="1"/>
          </p:cNvSpPr>
          <p:nvPr>
            <p:ph type="body" idx="102" hasCustomPrompt="1"/>
          </p:nvPr>
        </p:nvSpPr>
        <p:spPr>
          <a:xfrm>
            <a:off x="1371600" y="3429000"/>
            <a:ext cx="9418320" cy="457200"/>
          </a:xfrm>
          <a:prstGeom prst="rect">
            <a:avLst/>
          </a:prstGeom>
          <a:noFill/>
          <a:ln/>
        </p:spPr>
        <p:txBody>
          <a:bodyPr wrap="square" rtlCol="0"/>
          <a:lstStyle>
            <a:lvl1pPr marL="0" indent="0" algn="ctr">
              <a:buNone/>
              <a:defRPr lang="en-US" sz="1800" i="1" dirty="0">
                <a:solidFill>
                  <a:schemeClr val="accent1"/>
                </a:solidFill>
              </a:defRPr>
            </a:lvl1pPr>
          </a:lstStyle>
          <a:p>
            <a:pPr marL="0" indent="0" algn="ctr">
              <a:buNone/>
            </a:pPr>
            <a:endParaRPr lang="en-US" sz="1800" dirty="0"/>
          </a:p>
        </p:txBody>
      </p:sp>
      <p:sp>
        <p:nvSpPr>
          <p:cNvPr id="5" name="Text 0"/>
          <p:cNvSpPr>
            <a:spLocks noGrp="1"/>
          </p:cNvSpPr>
          <p:nvPr>
            <p:ph type="body" idx="103" hasCustomPrompt="1"/>
          </p:nvPr>
        </p:nvSpPr>
        <p:spPr>
          <a:xfrm>
            <a:off x="8503920" y="320040"/>
            <a:ext cx="3383280" cy="457200"/>
          </a:xfrm>
          <a:prstGeom prst="rect">
            <a:avLst/>
          </a:prstGeom>
          <a:noFill/>
          <a:ln/>
        </p:spPr>
        <p:txBody>
          <a:bodyPr wrap="square" rtlCol="0"/>
          <a:lstStyle>
            <a:lvl1pPr marL="0" indent="0" algn="r">
              <a:buNone/>
              <a:defRPr lang="en-US" sz="2000" b="1" dirty="0">
                <a:solidFill>
                  <a:schemeClr val="tx1"/>
                </a:solidFill>
              </a:defRPr>
            </a:lvl1pPr>
          </a:lstStyle>
          <a:p>
            <a:pPr marL="0" indent="0" algn="r">
              <a:buNone/>
            </a:pPr>
            <a:endParaRPr lang="en-US" sz="2000" dirty="0"/>
          </a:p>
        </p:txBody>
      </p:sp>
      <p:sp>
        <p:nvSpPr>
          <p:cNvPr id="6" name="Text 0"/>
          <p:cNvSpPr>
            <a:spLocks noGrp="1"/>
          </p:cNvSpPr>
          <p:nvPr>
            <p:ph type="body" idx="104" hasCustomPrompt="1"/>
          </p:nvPr>
        </p:nvSpPr>
        <p:spPr>
          <a:xfrm>
            <a:off x="457200" y="5212080"/>
            <a:ext cx="5486400" cy="1188720"/>
          </a:xfrm>
          <a:prstGeom prst="rect">
            <a:avLst/>
          </a:prstGeom>
          <a:noFill/>
          <a:ln/>
        </p:spPr>
        <p:txBody>
          <a:bodyPr wrap="square" rtlCol="0"/>
          <a:lstStyle>
            <a:lvl1pPr marL="0" indent="0">
              <a:buNone/>
              <a:defRPr lang="en-US" sz="1800" b="1" dirty="0">
                <a:solidFill>
                  <a:schemeClr val="tx1"/>
                </a:solidFill>
              </a:defRPr>
            </a:lvl1pPr>
          </a:lstStyle>
          <a:p>
            <a:pPr marL="0" indent="0">
              <a:buNone/>
            </a:pPr>
            <a:endParaRPr lang="en-US" sz="1800" dirty="0"/>
          </a:p>
        </p:txBody>
      </p:sp>
      <p:sp>
        <p:nvSpPr>
          <p:cNvPr id="7" name="Text 0"/>
          <p:cNvSpPr>
            <a:spLocks noGrp="1"/>
          </p:cNvSpPr>
          <p:nvPr>
            <p:ph type="body" idx="105" hasCustomPrompt="1"/>
          </p:nvPr>
        </p:nvSpPr>
        <p:spPr>
          <a:xfrm>
            <a:off x="7589520" y="4937760"/>
            <a:ext cx="4297680" cy="1463040"/>
          </a:xfrm>
          <a:prstGeom prst="rect">
            <a:avLst/>
          </a:prstGeom>
          <a:noFill/>
          <a:ln/>
        </p:spPr>
        <p:txBody>
          <a:bodyPr wrap="square" rtlCol="0"/>
          <a:lstStyle>
            <a:lvl1pPr marL="0" indent="0">
              <a:buNone/>
              <a:defRPr lang="en-US" sz="1400" b="1" dirty="0">
                <a:solidFill>
                  <a:schemeClr val="tx1"/>
                </a:solidFill>
              </a:defRPr>
            </a:lvl1pPr>
          </a:lstStyle>
          <a:p>
            <a:pPr marL="0" indent="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College logo"/>
          <p:cNvPicPr>
            <a:picLocks noChangeAspect="1"/>
          </p:cNvPicPr>
          <p:nvPr/>
        </p:nvPicPr>
        <p:blipFill>
          <a:blip r:embed="rId2"/>
          <a:stretch>
            <a:fillRect/>
          </a:stretch>
        </p:blipFill>
        <p:spPr>
          <a:xfrm>
            <a:off x="274320" y="137160"/>
            <a:ext cx="2651760" cy="504292"/>
          </a:xfrm>
          <a:prstGeom prst="rect">
            <a:avLst/>
          </a:prstGeom>
        </p:spPr>
      </p:pic>
      <p:sp>
        <p:nvSpPr>
          <p:cNvPr id="3" name="Text 0"/>
          <p:cNvSpPr>
            <a:spLocks noGrp="1"/>
          </p:cNvSpPr>
          <p:nvPr>
            <p:ph type="body" idx="101" hasCustomPrompt="1"/>
          </p:nvPr>
        </p:nvSpPr>
        <p:spPr>
          <a:xfrm>
            <a:off x="5943600" y="274320"/>
            <a:ext cx="5760720" cy="365760"/>
          </a:xfrm>
          <a:prstGeom prst="rect">
            <a:avLst/>
          </a:prstGeom>
          <a:noFill/>
          <a:ln/>
        </p:spPr>
        <p:txBody>
          <a:bodyPr wrap="square" rtlCol="0"/>
          <a:lstStyle>
            <a:lvl1pPr marL="0" indent="0" algn="r">
              <a:buNone/>
              <a:defRPr lang="en-US" sz="1200" b="1" kern="0" spc="200" dirty="0">
                <a:solidFill>
                  <a:schemeClr val="tx2"/>
                </a:solidFill>
              </a:defRPr>
            </a:lvl1pPr>
          </a:lstStyle>
          <a:p>
            <a:pPr marL="0" indent="0" algn="r">
              <a:buNone/>
            </a:pPr>
            <a:endParaRPr lang="en-US" sz="1200" dirty="0"/>
          </a:p>
        </p:txBody>
      </p:sp>
      <p:sp>
        <p:nvSpPr>
          <p:cNvPr id="4" name="Text 0"/>
          <p:cNvSpPr>
            <a:spLocks noGrp="1"/>
          </p:cNvSpPr>
          <p:nvPr>
            <p:ph type="title" idx="102" hasCustomPrompt="1"/>
          </p:nvPr>
        </p:nvSpPr>
        <p:spPr>
          <a:xfrm>
            <a:off x="548640" y="777240"/>
            <a:ext cx="11064240" cy="640080"/>
          </a:xfrm>
          <a:prstGeom prst="rect">
            <a:avLst/>
          </a:prstGeom>
          <a:noFill/>
          <a:ln/>
        </p:spPr>
        <p:txBody>
          <a:bodyPr wrap="square" rtlCol="0"/>
          <a:lstStyle>
            <a:lvl1pPr marL="0" indent="0" algn="l">
              <a:buNone/>
              <a:defRPr lang="en-US" sz="3000" b="1" dirty="0">
                <a:solidFill>
                  <a:schemeClr val="tx1"/>
                </a:solidFill>
                <a:latin typeface="+mj-lt" pitchFamily="34" charset="0"/>
                <a:ea typeface="+mj-lt" pitchFamily="34" charset="-122"/>
                <a:cs typeface="+mj-lt" pitchFamily="34" charset="-120"/>
              </a:defRPr>
            </a:lvl1pPr>
          </a:lstStyle>
          <a:p>
            <a:pPr marL="0" indent="0" algn="l">
              <a:buNone/>
            </a:pPr>
            <a:endParaRPr lang="en-US" sz="3000" dirty="0"/>
          </a:p>
        </p:txBody>
      </p:sp>
      <p:sp>
        <p:nvSpPr>
          <p:cNvPr id="5" name="Text 0"/>
          <p:cNvSpPr>
            <a:spLocks noGrp="1"/>
          </p:cNvSpPr>
          <p:nvPr>
            <p:ph type="body" idx="103" hasCustomPrompt="1"/>
          </p:nvPr>
        </p:nvSpPr>
        <p:spPr>
          <a:xfrm>
            <a:off x="548640" y="1417320"/>
            <a:ext cx="11064240" cy="365760"/>
          </a:xfrm>
          <a:prstGeom prst="rect">
            <a:avLst/>
          </a:prstGeom>
          <a:noFill/>
          <a:ln/>
        </p:spPr>
        <p:txBody>
          <a:bodyPr wrap="square" rtlCol="0"/>
          <a:lstStyle>
            <a:lvl1pPr marL="0" indent="0">
              <a:buNone/>
              <a:defRPr lang="en-US" sz="1500" i="1" dirty="0">
                <a:solidFill>
                  <a:schemeClr val="accent1"/>
                </a:solidFill>
              </a:defRPr>
            </a:lvl1pPr>
          </a:lstStyle>
          <a:p>
            <a:pPr marL="0" indent="0">
              <a:buNone/>
            </a:pPr>
            <a:endParaRPr lang="en-US" sz="1500" dirty="0"/>
          </a:p>
        </p:txBody>
      </p:sp>
      <p:sp>
        <p:nvSpPr>
          <p:cNvPr id="6" name="Text 0"/>
          <p:cNvSpPr/>
          <p:nvPr/>
        </p:nvSpPr>
        <p:spPr>
          <a:xfrm>
            <a:off x="548640" y="6446520"/>
            <a:ext cx="8229600" cy="274320"/>
          </a:xfrm>
          <a:prstGeom prst="rect">
            <a:avLst/>
          </a:prstGeom>
          <a:noFill/>
          <a:ln/>
        </p:spPr>
        <p:txBody>
          <a:bodyPr wrap="square" lIns="0" tIns="0" rIns="0" bIns="0" rtlCol="0" anchor="ctr"/>
          <a:lstStyle/>
          <a:p>
            <a:pPr marL="0" indent="0">
              <a:buNone/>
            </a:pPr>
            <a:r>
              <a:rPr lang="en-US" sz="1100" dirty="0">
                <a:solidFill>
                  <a:schemeClr val="tx2"/>
                </a:solidFill>
              </a:rPr>
              <a:t>Simulated data and illustrative assumptions · results hold for this simulated world</a:t>
            </a:r>
            <a:endParaRPr lang="en-US" sz="11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chart" Target="../charts/chart8.xm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hyperlink" Target="https://rdproject-calculator-rd.streamlit.app/"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rdproject-calculator-rd.streamlit.app/"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822960" y="1737360"/>
            <a:ext cx="10515600" cy="1645920"/>
          </a:xfrm>
          <a:prstGeom prst="rect">
            <a:avLst/>
          </a:prstGeom>
          <a:noFill/>
          <a:ln/>
        </p:spPr>
        <p:txBody>
          <a:bodyPr wrap="square" lIns="0" tIns="0" rIns="0" bIns="0" rtlCol="0" anchor="ctr"/>
          <a:lstStyle/>
          <a:p>
            <a:pPr marL="0" indent="0" algn="ctr">
              <a:buNone/>
            </a:pPr>
            <a:r>
              <a:rPr lang="en-US" sz="3400" b="1" dirty="0">
                <a:solidFill>
                  <a:schemeClr val="tx1"/>
                </a:solidFill>
                <a:latin typeface="+mj-lt" pitchFamily="34" charset="0"/>
                <a:ea typeface="+mj-lt" pitchFamily="34" charset="-122"/>
                <a:cs typeface="+mj-lt" pitchFamily="34" charset="-120"/>
              </a:rPr>
              <a:t>Machine Learning vs Traditional Actuarial Underwriting: When Applicants Hide Information</a:t>
            </a:r>
            <a:endParaRPr lang="en-US" sz="3400" dirty="0"/>
          </a:p>
        </p:txBody>
      </p:sp>
      <p:sp>
        <p:nvSpPr>
          <p:cNvPr id="3" name="Text 0"/>
          <p:cNvSpPr>
            <a:spLocks noGrp="1"/>
          </p:cNvSpPr>
          <p:nvPr>
            <p:ph type="body" idx="102" hasCustomPrompt="1"/>
          </p:nvPr>
        </p:nvSpPr>
        <p:spPr>
          <a:xfrm>
            <a:off x="1371600" y="3429000"/>
            <a:ext cx="9418320" cy="457200"/>
          </a:xfrm>
          <a:prstGeom prst="rect">
            <a:avLst/>
          </a:prstGeom>
          <a:noFill/>
          <a:ln/>
        </p:spPr>
        <p:txBody>
          <a:bodyPr wrap="square" lIns="0" tIns="0" rIns="0" bIns="0" rtlCol="0"/>
          <a:lstStyle/>
          <a:p>
            <a:r>
              <a:rPr lang="en-US" sz="1800" i="1" dirty="0">
                <a:solidFill>
                  <a:schemeClr val="accent1"/>
                </a:solidFill>
              </a:rPr>
              <a:t>A simulation study, told through the story of one insurance company</a:t>
            </a:r>
            <a:r>
              <a:rPr lang="en-US" dirty="0"/>
              <a:t> “Meridian Life”.</a:t>
            </a:r>
            <a:endParaRPr lang="en-US" sz="1800" dirty="0"/>
          </a:p>
        </p:txBody>
      </p:sp>
      <p:sp>
        <p:nvSpPr>
          <p:cNvPr id="4" name="Text 0"/>
          <p:cNvSpPr>
            <a:spLocks noGrp="1"/>
          </p:cNvSpPr>
          <p:nvPr>
            <p:ph type="body" idx="103" hasCustomPrompt="1"/>
          </p:nvPr>
        </p:nvSpPr>
        <p:spPr>
          <a:xfrm>
            <a:off x="8503920" y="320040"/>
            <a:ext cx="3383280" cy="457200"/>
          </a:xfrm>
          <a:prstGeom prst="rect">
            <a:avLst/>
          </a:prstGeom>
          <a:noFill/>
          <a:ln/>
        </p:spPr>
        <p:txBody>
          <a:bodyPr wrap="square" lIns="0" tIns="0" rIns="0" bIns="0" rtlCol="0"/>
          <a:lstStyle/>
          <a:p>
            <a:pPr marL="0" indent="0" algn="r">
              <a:buNone/>
            </a:pPr>
            <a:r>
              <a:rPr lang="en-US" sz="2000" b="1" dirty="0">
                <a:solidFill>
                  <a:schemeClr val="tx1"/>
                </a:solidFill>
              </a:rPr>
              <a:t>Date: 27/10/26</a:t>
            </a:r>
            <a:endParaRPr lang="en-US" sz="2000" dirty="0"/>
          </a:p>
        </p:txBody>
      </p:sp>
      <p:sp>
        <p:nvSpPr>
          <p:cNvPr id="5" name="Text 0"/>
          <p:cNvSpPr>
            <a:spLocks noGrp="1"/>
          </p:cNvSpPr>
          <p:nvPr>
            <p:ph type="body" idx="104" hasCustomPrompt="1"/>
          </p:nvPr>
        </p:nvSpPr>
        <p:spPr>
          <a:xfrm>
            <a:off x="457200" y="5212080"/>
            <a:ext cx="5486400" cy="1188720"/>
          </a:xfrm>
          <a:prstGeom prst="rect">
            <a:avLst/>
          </a:prstGeom>
          <a:noFill/>
          <a:ln/>
        </p:spPr>
        <p:txBody>
          <a:bodyPr wrap="square" lIns="0" tIns="0" rIns="0" bIns="0" rtlCol="0" anchor="b"/>
          <a:lstStyle/>
          <a:p>
            <a:pPr marL="0" indent="0">
              <a:buNone/>
            </a:pPr>
            <a:r>
              <a:rPr lang="en-US" sz="1800" b="1" dirty="0">
                <a:solidFill>
                  <a:schemeClr val="tx1"/>
                </a:solidFill>
              </a:rPr>
              <a:t>Mentored by:</a:t>
            </a:r>
            <a:endParaRPr lang="en-US" sz="1800" dirty="0"/>
          </a:p>
          <a:p>
            <a:pPr marL="0" indent="0">
              <a:buNone/>
            </a:pPr>
            <a:r>
              <a:rPr lang="en-US" sz="1800" b="1" dirty="0">
                <a:solidFill>
                  <a:schemeClr val="tx1"/>
                </a:solidFill>
              </a:rPr>
              <a:t>Prof. Shaishavi Sabnis</a:t>
            </a:r>
            <a:endParaRPr lang="en-US" sz="1800" dirty="0"/>
          </a:p>
        </p:txBody>
      </p:sp>
      <p:sp>
        <p:nvSpPr>
          <p:cNvPr id="6" name="Text 0"/>
          <p:cNvSpPr>
            <a:spLocks noGrp="1"/>
          </p:cNvSpPr>
          <p:nvPr>
            <p:ph type="body" idx="105" hasCustomPrompt="1"/>
          </p:nvPr>
        </p:nvSpPr>
        <p:spPr>
          <a:xfrm>
            <a:off x="7589520" y="4937760"/>
            <a:ext cx="4297680" cy="1463040"/>
          </a:xfrm>
          <a:prstGeom prst="rect">
            <a:avLst/>
          </a:prstGeom>
          <a:noFill/>
          <a:ln/>
        </p:spPr>
        <p:txBody>
          <a:bodyPr wrap="square" lIns="0" tIns="0" rIns="0" bIns="0" rtlCol="0" anchor="b"/>
          <a:lstStyle/>
          <a:p>
            <a:pPr marL="0" indent="0" algn="r">
              <a:buNone/>
            </a:pPr>
            <a:r>
              <a:rPr lang="en-US" sz="1400" b="1" dirty="0">
                <a:solidFill>
                  <a:schemeClr val="tx1"/>
                </a:solidFill>
              </a:rPr>
              <a:t>Presented by:</a:t>
            </a:r>
            <a:endParaRPr lang="en-US" sz="1400" dirty="0"/>
          </a:p>
          <a:p>
            <a:pPr marL="0" indent="0" algn="r">
              <a:buNone/>
            </a:pPr>
            <a:r>
              <a:rPr lang="en-US" sz="1400" b="1" dirty="0">
                <a:solidFill>
                  <a:schemeClr val="tx1"/>
                </a:solidFill>
              </a:rPr>
              <a:t>Aaryan Jha (A020)</a:t>
            </a:r>
            <a:endParaRPr lang="en-US" sz="1400" dirty="0"/>
          </a:p>
          <a:p>
            <a:pPr marL="0" indent="0" algn="r">
              <a:buNone/>
            </a:pPr>
            <a:r>
              <a:rPr lang="en-US" sz="1400" b="1" dirty="0">
                <a:solidFill>
                  <a:schemeClr val="tx1"/>
                </a:solidFill>
              </a:rPr>
              <a:t>Soham Sinha (A055)</a:t>
            </a:r>
            <a:endParaRPr lang="en-US" sz="1400" dirty="0"/>
          </a:p>
          <a:p>
            <a:pPr marL="0" indent="0" algn="r">
              <a:buNone/>
            </a:pPr>
            <a:r>
              <a:rPr lang="en-US" sz="1400" b="1" dirty="0">
                <a:solidFill>
                  <a:schemeClr val="tx1"/>
                </a:solidFill>
              </a:rPr>
              <a:t>Ojas Taneja (A056)</a:t>
            </a:r>
            <a:endParaRPr lang="en-US" sz="1400" dirty="0"/>
          </a:p>
          <a:p>
            <a:pPr marL="0" indent="0" algn="r">
              <a:buNone/>
            </a:pPr>
            <a:r>
              <a:rPr lang="en-US" sz="1400" b="1" dirty="0">
                <a:solidFill>
                  <a:schemeClr val="tx1"/>
                </a:solidFill>
              </a:rPr>
              <a:t>Ankit Uniyal (A058)</a:t>
            </a:r>
            <a:endParaRPr lang="en-US" sz="1400" dirty="0"/>
          </a:p>
        </p:txBody>
      </p:sp>
      <p:sp>
        <p:nvSpPr>
          <p:cNvPr id="7" name="Teaser declared"/>
          <p:cNvSpPr/>
          <p:nvPr/>
        </p:nvSpPr>
        <p:spPr>
          <a:xfrm>
            <a:off x="2834640" y="4069080"/>
            <a:ext cx="2926080" cy="868680"/>
          </a:xfrm>
          <a:prstGeom prst="roundRect">
            <a:avLst>
              <a:gd name="adj" fmla="val 10526"/>
            </a:avLst>
          </a:prstGeom>
          <a:solidFill>
            <a:schemeClr val="bg2"/>
          </a:solidFill>
          <a:ln/>
        </p:spPr>
      </p:sp>
      <p:sp>
        <p:nvSpPr>
          <p:cNvPr id="8" name="Text 6"/>
          <p:cNvSpPr txBox="1"/>
          <p:nvPr/>
        </p:nvSpPr>
        <p:spPr>
          <a:xfrm>
            <a:off x="2834640" y="4069080"/>
            <a:ext cx="2926080" cy="868680"/>
          </a:xfrm>
          <a:prstGeom prst="rect">
            <a:avLst/>
          </a:prstGeom>
          <a:noFill/>
          <a:ln/>
        </p:spPr>
        <p:txBody>
          <a:bodyPr wrap="square" lIns="0" tIns="0" rIns="0" bIns="0" rtlCol="0" anchor="ctr"/>
          <a:lstStyle/>
          <a:p>
            <a:pPr marL="0" indent="0" algn="ctr">
              <a:buNone/>
            </a:pPr>
            <a:r>
              <a:rPr lang="en-US" sz="1200" b="1" dirty="0">
                <a:solidFill>
                  <a:schemeClr val="tx2"/>
                </a:solidFill>
              </a:rPr>
              <a:t>THE FORM SAYS</a:t>
            </a:r>
            <a:endParaRPr lang="en-US" sz="1400" dirty="0"/>
          </a:p>
          <a:p>
            <a:pPr marL="0" indent="0" algn="ctr">
              <a:buNone/>
            </a:pPr>
            <a:r>
              <a:rPr lang="en-US" sz="2200" b="1" dirty="0">
                <a:solidFill>
                  <a:schemeClr val="tx1"/>
                </a:solidFill>
                <a:latin typeface="+mj-lt" pitchFamily="34" charset="0"/>
                <a:ea typeface="+mj-lt" pitchFamily="34" charset="-122"/>
                <a:cs typeface="+mj-lt" pitchFamily="34" charset="-120"/>
              </a:rPr>
              <a:t>₹20,699 / year</a:t>
            </a:r>
            <a:endParaRPr lang="en-US" sz="1400" dirty="0"/>
          </a:p>
        </p:txBody>
      </p:sp>
      <p:sp>
        <p:nvSpPr>
          <p:cNvPr id="9" name="Text 7"/>
          <p:cNvSpPr txBox="1"/>
          <p:nvPr/>
        </p:nvSpPr>
        <p:spPr>
          <a:xfrm>
            <a:off x="5852160" y="4160520"/>
            <a:ext cx="502920" cy="685800"/>
          </a:xfrm>
          <a:prstGeom prst="rect">
            <a:avLst/>
          </a:prstGeom>
          <a:noFill/>
          <a:ln/>
        </p:spPr>
        <p:txBody>
          <a:bodyPr wrap="square" lIns="0" tIns="0" rIns="0" bIns="0" rtlCol="0" anchor="ctr"/>
          <a:lstStyle/>
          <a:p>
            <a:pPr marL="0" indent="0" algn="ctr">
              <a:buNone/>
            </a:pPr>
            <a:r>
              <a:rPr lang="en-US" sz="3400" b="1" dirty="0">
                <a:solidFill>
                  <a:schemeClr val="accent1"/>
                </a:solidFill>
              </a:rPr>
              <a:t>≠</a:t>
            </a:r>
            <a:endParaRPr lang="en-US" sz="3400" dirty="0"/>
          </a:p>
        </p:txBody>
      </p:sp>
      <p:sp>
        <p:nvSpPr>
          <p:cNvPr id="10" name="Teaser true"/>
          <p:cNvSpPr/>
          <p:nvPr/>
        </p:nvSpPr>
        <p:spPr>
          <a:xfrm>
            <a:off x="6446520" y="4069080"/>
            <a:ext cx="2926080" cy="868680"/>
          </a:xfrm>
          <a:prstGeom prst="roundRect">
            <a:avLst>
              <a:gd name="adj" fmla="val 10526"/>
            </a:avLst>
          </a:prstGeom>
          <a:solidFill>
            <a:schemeClr val="accent1"/>
          </a:solidFill>
          <a:ln/>
        </p:spPr>
      </p:sp>
      <p:sp>
        <p:nvSpPr>
          <p:cNvPr id="11" name="Text 9"/>
          <p:cNvSpPr txBox="1"/>
          <p:nvPr/>
        </p:nvSpPr>
        <p:spPr>
          <a:xfrm>
            <a:off x="6446520" y="4069080"/>
            <a:ext cx="2926080" cy="868680"/>
          </a:xfrm>
          <a:prstGeom prst="rect">
            <a:avLst/>
          </a:prstGeom>
          <a:noFill/>
          <a:ln/>
        </p:spPr>
        <p:txBody>
          <a:bodyPr wrap="square" lIns="0" tIns="0" rIns="0" bIns="0" rtlCol="0" anchor="ctr"/>
          <a:lstStyle/>
          <a:p>
            <a:pPr marL="0" indent="0" algn="ctr">
              <a:buNone/>
            </a:pPr>
            <a:r>
              <a:rPr lang="en-US" sz="1200" b="1" dirty="0">
                <a:solidFill>
                  <a:schemeClr val="bg1"/>
                </a:solidFill>
              </a:rPr>
              <a:t>THE TRUTH</a:t>
            </a:r>
            <a:endParaRPr lang="en-US" sz="1400" dirty="0"/>
          </a:p>
          <a:p>
            <a:pPr marL="0" indent="0" algn="ctr">
              <a:buNone/>
            </a:pPr>
            <a:r>
              <a:rPr lang="en-US" sz="2200" b="1" dirty="0">
                <a:solidFill>
                  <a:schemeClr val="bg1"/>
                </a:solidFill>
                <a:latin typeface="+mj-lt" pitchFamily="34" charset="0"/>
                <a:ea typeface="+mj-lt" pitchFamily="34" charset="-122"/>
                <a:cs typeface="+mj-lt" pitchFamily="34" charset="-120"/>
              </a:rPr>
              <a:t>₹41,774 / year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OVERVIEW</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Contents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Nine sections of the study, five chapters in the life of one insurer</a:t>
            </a:r>
            <a:endParaRPr lang="en-US" sz="1500" dirty="0"/>
          </a:p>
        </p:txBody>
      </p:sp>
      <p:sp>
        <p:nvSpPr>
          <p:cNvPr id="6" name="Contents card 1"/>
          <p:cNvSpPr/>
          <p:nvPr/>
        </p:nvSpPr>
        <p:spPr>
          <a:xfrm>
            <a:off x="548640" y="2011680"/>
            <a:ext cx="3520440" cy="1188720"/>
          </a:xfrm>
          <a:prstGeom prst="roundRect">
            <a:avLst>
              <a:gd name="adj" fmla="val 7692"/>
            </a:avLst>
          </a:prstGeom>
          <a:solidFill>
            <a:schemeClr val="bg2"/>
          </a:solidFill>
          <a:ln/>
        </p:spPr>
      </p:sp>
      <p:sp>
        <p:nvSpPr>
          <p:cNvPr id="7" name="Number 1"/>
          <p:cNvSpPr txBox="1"/>
          <p:nvPr/>
        </p:nvSpPr>
        <p:spPr>
          <a:xfrm>
            <a:off x="777240" y="2286000"/>
            <a:ext cx="640080" cy="640080"/>
          </a:xfrm>
          <a:prstGeom prst="ellipse">
            <a:avLst/>
          </a:prstGeom>
          <a:solidFill>
            <a:srgbClr val="C8553D"/>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1</a:t>
            </a:r>
            <a:endParaRPr lang="en-US" sz="1800" dirty="0"/>
          </a:p>
        </p:txBody>
      </p:sp>
      <p:sp>
        <p:nvSpPr>
          <p:cNvPr id="8" name="Text 5"/>
          <p:cNvSpPr txBox="1"/>
          <p:nvPr/>
        </p:nvSpPr>
        <p:spPr>
          <a:xfrm>
            <a:off x="1600200" y="2240280"/>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Problem Statement</a:t>
            </a:r>
            <a:endParaRPr lang="en-US" sz="1900" dirty="0"/>
          </a:p>
        </p:txBody>
      </p:sp>
      <p:sp>
        <p:nvSpPr>
          <p:cNvPr id="9" name="Text 6"/>
          <p:cNvSpPr txBox="1"/>
          <p:nvPr/>
        </p:nvSpPr>
        <p:spPr>
          <a:xfrm>
            <a:off x="1600200" y="2697480"/>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 3</a:t>
            </a:r>
            <a:endParaRPr lang="en-US" sz="1400" dirty="0"/>
          </a:p>
        </p:txBody>
      </p:sp>
      <p:sp>
        <p:nvSpPr>
          <p:cNvPr id="10" name="Contents card 2"/>
          <p:cNvSpPr/>
          <p:nvPr/>
        </p:nvSpPr>
        <p:spPr>
          <a:xfrm>
            <a:off x="4334256" y="2011680"/>
            <a:ext cx="3520440" cy="1188720"/>
          </a:xfrm>
          <a:prstGeom prst="roundRect">
            <a:avLst>
              <a:gd name="adj" fmla="val 7692"/>
            </a:avLst>
          </a:prstGeom>
          <a:solidFill>
            <a:schemeClr val="bg2"/>
          </a:solidFill>
          <a:ln/>
        </p:spPr>
      </p:sp>
      <p:sp>
        <p:nvSpPr>
          <p:cNvPr id="11" name="Number 2"/>
          <p:cNvSpPr txBox="1"/>
          <p:nvPr/>
        </p:nvSpPr>
        <p:spPr>
          <a:xfrm>
            <a:off x="4562856" y="2286000"/>
            <a:ext cx="640080" cy="640080"/>
          </a:xfrm>
          <a:prstGeom prst="ellipse">
            <a:avLst/>
          </a:prstGeom>
          <a:solidFill>
            <a:srgbClr val="4A6FA5"/>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2</a:t>
            </a:r>
            <a:endParaRPr lang="en-US" sz="1800" dirty="0"/>
          </a:p>
        </p:txBody>
      </p:sp>
      <p:sp>
        <p:nvSpPr>
          <p:cNvPr id="12" name="Text 9"/>
          <p:cNvSpPr txBox="1"/>
          <p:nvPr/>
        </p:nvSpPr>
        <p:spPr>
          <a:xfrm>
            <a:off x="5385816" y="2240280"/>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Introduction</a:t>
            </a:r>
            <a:endParaRPr lang="en-US" sz="1900" dirty="0"/>
          </a:p>
        </p:txBody>
      </p:sp>
      <p:sp>
        <p:nvSpPr>
          <p:cNvPr id="13" name="Text 10"/>
          <p:cNvSpPr txBox="1"/>
          <p:nvPr/>
        </p:nvSpPr>
        <p:spPr>
          <a:xfrm>
            <a:off x="5385816" y="2697480"/>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Slides 4–5</a:t>
            </a:r>
            <a:endParaRPr lang="en-US" sz="1400" dirty="0"/>
          </a:p>
        </p:txBody>
      </p:sp>
      <p:sp>
        <p:nvSpPr>
          <p:cNvPr id="14" name="Contents card 3"/>
          <p:cNvSpPr/>
          <p:nvPr/>
        </p:nvSpPr>
        <p:spPr>
          <a:xfrm>
            <a:off x="8119872" y="2011680"/>
            <a:ext cx="3520440" cy="1188720"/>
          </a:xfrm>
          <a:prstGeom prst="roundRect">
            <a:avLst>
              <a:gd name="adj" fmla="val 7692"/>
            </a:avLst>
          </a:prstGeom>
          <a:solidFill>
            <a:schemeClr val="bg2"/>
          </a:solidFill>
          <a:ln/>
        </p:spPr>
      </p:sp>
      <p:sp>
        <p:nvSpPr>
          <p:cNvPr id="15" name="Number 3"/>
          <p:cNvSpPr txBox="1"/>
          <p:nvPr/>
        </p:nvSpPr>
        <p:spPr>
          <a:xfrm>
            <a:off x="8348472" y="2286000"/>
            <a:ext cx="640080" cy="640080"/>
          </a:xfrm>
          <a:prstGeom prst="ellipse">
            <a:avLst/>
          </a:prstGeom>
          <a:solidFill>
            <a:srgbClr val="1F8A7D"/>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3</a:t>
            </a:r>
            <a:endParaRPr lang="en-US" sz="1800" dirty="0"/>
          </a:p>
        </p:txBody>
      </p:sp>
      <p:sp>
        <p:nvSpPr>
          <p:cNvPr id="16" name="Text 13"/>
          <p:cNvSpPr txBox="1"/>
          <p:nvPr/>
        </p:nvSpPr>
        <p:spPr>
          <a:xfrm>
            <a:off x="9171432" y="2240280"/>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Objective</a:t>
            </a:r>
            <a:endParaRPr lang="en-US" sz="1900" dirty="0"/>
          </a:p>
        </p:txBody>
      </p:sp>
      <p:sp>
        <p:nvSpPr>
          <p:cNvPr id="17" name="Text 14"/>
          <p:cNvSpPr txBox="1"/>
          <p:nvPr/>
        </p:nvSpPr>
        <p:spPr>
          <a:xfrm>
            <a:off x="9171432" y="2697480"/>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 6</a:t>
            </a:r>
            <a:endParaRPr lang="en-US" sz="1400" dirty="0"/>
          </a:p>
        </p:txBody>
      </p:sp>
      <p:sp>
        <p:nvSpPr>
          <p:cNvPr id="18" name="Contents card 4"/>
          <p:cNvSpPr/>
          <p:nvPr/>
        </p:nvSpPr>
        <p:spPr>
          <a:xfrm>
            <a:off x="548640" y="3419856"/>
            <a:ext cx="3520440" cy="1188720"/>
          </a:xfrm>
          <a:prstGeom prst="roundRect">
            <a:avLst>
              <a:gd name="adj" fmla="val 7692"/>
            </a:avLst>
          </a:prstGeom>
          <a:solidFill>
            <a:schemeClr val="bg2"/>
          </a:solidFill>
          <a:ln/>
        </p:spPr>
      </p:sp>
      <p:sp>
        <p:nvSpPr>
          <p:cNvPr id="19" name="Number 4"/>
          <p:cNvSpPr txBox="1"/>
          <p:nvPr/>
        </p:nvSpPr>
        <p:spPr>
          <a:xfrm>
            <a:off x="777240" y="3694176"/>
            <a:ext cx="640080" cy="640080"/>
          </a:xfrm>
          <a:prstGeom prst="ellipse">
            <a:avLst/>
          </a:prstGeom>
          <a:solidFill>
            <a:srgbClr val="7B5EA7"/>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4</a:t>
            </a:r>
            <a:endParaRPr lang="en-US" sz="1800" dirty="0"/>
          </a:p>
        </p:txBody>
      </p:sp>
      <p:sp>
        <p:nvSpPr>
          <p:cNvPr id="20" name="Text 17"/>
          <p:cNvSpPr txBox="1"/>
          <p:nvPr/>
        </p:nvSpPr>
        <p:spPr>
          <a:xfrm>
            <a:off x="1600200" y="3648456"/>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Methodology</a:t>
            </a:r>
            <a:endParaRPr lang="en-US" sz="1900" dirty="0"/>
          </a:p>
        </p:txBody>
      </p:sp>
      <p:sp>
        <p:nvSpPr>
          <p:cNvPr id="21" name="Text 18"/>
          <p:cNvSpPr txBox="1"/>
          <p:nvPr/>
        </p:nvSpPr>
        <p:spPr>
          <a:xfrm>
            <a:off x="1600200" y="4105656"/>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Slides 7–11</a:t>
            </a:r>
            <a:endParaRPr lang="en-US" sz="1400" dirty="0"/>
          </a:p>
        </p:txBody>
      </p:sp>
      <p:sp>
        <p:nvSpPr>
          <p:cNvPr id="22" name="Contents card 5"/>
          <p:cNvSpPr/>
          <p:nvPr/>
        </p:nvSpPr>
        <p:spPr>
          <a:xfrm>
            <a:off x="4334256" y="3419856"/>
            <a:ext cx="3520440" cy="1188720"/>
          </a:xfrm>
          <a:prstGeom prst="roundRect">
            <a:avLst>
              <a:gd name="adj" fmla="val 7692"/>
            </a:avLst>
          </a:prstGeom>
          <a:solidFill>
            <a:schemeClr val="bg2"/>
          </a:solidFill>
          <a:ln/>
        </p:spPr>
      </p:sp>
      <p:sp>
        <p:nvSpPr>
          <p:cNvPr id="23" name="Number 5"/>
          <p:cNvSpPr txBox="1"/>
          <p:nvPr/>
        </p:nvSpPr>
        <p:spPr>
          <a:xfrm>
            <a:off x="4562856" y="3694176"/>
            <a:ext cx="640080" cy="640080"/>
          </a:xfrm>
          <a:prstGeom prst="ellipse">
            <a:avLst/>
          </a:prstGeom>
          <a:solidFill>
            <a:srgbClr val="C8553D"/>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5</a:t>
            </a:r>
            <a:endParaRPr lang="en-US" sz="1800" dirty="0"/>
          </a:p>
        </p:txBody>
      </p:sp>
      <p:sp>
        <p:nvSpPr>
          <p:cNvPr id="24" name="Text 21"/>
          <p:cNvSpPr txBox="1"/>
          <p:nvPr/>
        </p:nvSpPr>
        <p:spPr>
          <a:xfrm>
            <a:off x="5385816" y="3648456"/>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Results &amp; Demo</a:t>
            </a:r>
            <a:endParaRPr lang="en-US" sz="1900" dirty="0"/>
          </a:p>
        </p:txBody>
      </p:sp>
      <p:sp>
        <p:nvSpPr>
          <p:cNvPr id="25" name="Text 22"/>
          <p:cNvSpPr txBox="1"/>
          <p:nvPr/>
        </p:nvSpPr>
        <p:spPr>
          <a:xfrm>
            <a:off x="5385816" y="4105656"/>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Slides 12–21</a:t>
            </a:r>
            <a:endParaRPr lang="en-US" sz="1400" dirty="0"/>
          </a:p>
        </p:txBody>
      </p:sp>
      <p:sp>
        <p:nvSpPr>
          <p:cNvPr id="26" name="Contents card 6"/>
          <p:cNvSpPr/>
          <p:nvPr/>
        </p:nvSpPr>
        <p:spPr>
          <a:xfrm>
            <a:off x="8119872" y="3419856"/>
            <a:ext cx="3520440" cy="1188720"/>
          </a:xfrm>
          <a:prstGeom prst="roundRect">
            <a:avLst>
              <a:gd name="adj" fmla="val 7692"/>
            </a:avLst>
          </a:prstGeom>
          <a:solidFill>
            <a:schemeClr val="bg2"/>
          </a:solidFill>
          <a:ln/>
        </p:spPr>
      </p:sp>
      <p:sp>
        <p:nvSpPr>
          <p:cNvPr id="27" name="Number 6"/>
          <p:cNvSpPr txBox="1"/>
          <p:nvPr/>
        </p:nvSpPr>
        <p:spPr>
          <a:xfrm>
            <a:off x="8348472" y="3694176"/>
            <a:ext cx="640080" cy="640080"/>
          </a:xfrm>
          <a:prstGeom prst="ellipse">
            <a:avLst/>
          </a:prstGeom>
          <a:solidFill>
            <a:srgbClr val="4A6FA5"/>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6</a:t>
            </a:r>
            <a:endParaRPr lang="en-US" sz="1800" dirty="0"/>
          </a:p>
        </p:txBody>
      </p:sp>
      <p:sp>
        <p:nvSpPr>
          <p:cNvPr id="28" name="Text 25"/>
          <p:cNvSpPr txBox="1"/>
          <p:nvPr/>
        </p:nvSpPr>
        <p:spPr>
          <a:xfrm>
            <a:off x="9171432" y="3648456"/>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Evaluation Metrics</a:t>
            </a:r>
            <a:endParaRPr lang="en-US" sz="1900" dirty="0"/>
          </a:p>
        </p:txBody>
      </p:sp>
      <p:sp>
        <p:nvSpPr>
          <p:cNvPr id="29" name="Text 26"/>
          <p:cNvSpPr txBox="1"/>
          <p:nvPr/>
        </p:nvSpPr>
        <p:spPr>
          <a:xfrm>
            <a:off x="9171432" y="4105656"/>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Slides 22–23</a:t>
            </a:r>
            <a:endParaRPr lang="en-US" sz="1400" dirty="0"/>
          </a:p>
        </p:txBody>
      </p:sp>
      <p:sp>
        <p:nvSpPr>
          <p:cNvPr id="30" name="Contents card 7"/>
          <p:cNvSpPr/>
          <p:nvPr/>
        </p:nvSpPr>
        <p:spPr>
          <a:xfrm>
            <a:off x="548640" y="4828032"/>
            <a:ext cx="3520440" cy="1188720"/>
          </a:xfrm>
          <a:prstGeom prst="roundRect">
            <a:avLst>
              <a:gd name="adj" fmla="val 7692"/>
            </a:avLst>
          </a:prstGeom>
          <a:solidFill>
            <a:schemeClr val="bg2"/>
          </a:solidFill>
          <a:ln/>
        </p:spPr>
      </p:sp>
      <p:sp>
        <p:nvSpPr>
          <p:cNvPr id="31" name="Number 7"/>
          <p:cNvSpPr txBox="1"/>
          <p:nvPr/>
        </p:nvSpPr>
        <p:spPr>
          <a:xfrm>
            <a:off x="777240" y="5102352"/>
            <a:ext cx="640080" cy="640080"/>
          </a:xfrm>
          <a:prstGeom prst="ellipse">
            <a:avLst/>
          </a:prstGeom>
          <a:solidFill>
            <a:srgbClr val="1F8A7D"/>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7</a:t>
            </a:r>
            <a:endParaRPr lang="en-US" sz="1800" dirty="0"/>
          </a:p>
        </p:txBody>
      </p:sp>
      <p:sp>
        <p:nvSpPr>
          <p:cNvPr id="32" name="Text 29"/>
          <p:cNvSpPr txBox="1"/>
          <p:nvPr/>
        </p:nvSpPr>
        <p:spPr>
          <a:xfrm>
            <a:off x="1600200" y="5056632"/>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Limitations</a:t>
            </a:r>
            <a:endParaRPr lang="en-US" sz="1900" dirty="0"/>
          </a:p>
        </p:txBody>
      </p:sp>
      <p:sp>
        <p:nvSpPr>
          <p:cNvPr id="33" name="Text 30"/>
          <p:cNvSpPr txBox="1"/>
          <p:nvPr/>
        </p:nvSpPr>
        <p:spPr>
          <a:xfrm>
            <a:off x="1600200" y="5513832"/>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 24</a:t>
            </a:r>
            <a:endParaRPr lang="en-US" sz="1400" dirty="0"/>
          </a:p>
        </p:txBody>
      </p:sp>
      <p:sp>
        <p:nvSpPr>
          <p:cNvPr id="34" name="Contents card 8"/>
          <p:cNvSpPr/>
          <p:nvPr/>
        </p:nvSpPr>
        <p:spPr>
          <a:xfrm>
            <a:off x="4334256" y="4828032"/>
            <a:ext cx="3520440" cy="1188720"/>
          </a:xfrm>
          <a:prstGeom prst="roundRect">
            <a:avLst>
              <a:gd name="adj" fmla="val 7692"/>
            </a:avLst>
          </a:prstGeom>
          <a:solidFill>
            <a:schemeClr val="bg2"/>
          </a:solidFill>
          <a:ln/>
        </p:spPr>
      </p:sp>
      <p:sp>
        <p:nvSpPr>
          <p:cNvPr id="35" name="Number 8"/>
          <p:cNvSpPr txBox="1"/>
          <p:nvPr/>
        </p:nvSpPr>
        <p:spPr>
          <a:xfrm>
            <a:off x="4562856" y="5102352"/>
            <a:ext cx="640080" cy="640080"/>
          </a:xfrm>
          <a:prstGeom prst="ellipse">
            <a:avLst/>
          </a:prstGeom>
          <a:solidFill>
            <a:srgbClr val="7B5EA7"/>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8</a:t>
            </a:r>
            <a:endParaRPr lang="en-US" sz="1800" dirty="0"/>
          </a:p>
        </p:txBody>
      </p:sp>
      <p:sp>
        <p:nvSpPr>
          <p:cNvPr id="36" name="Text 33"/>
          <p:cNvSpPr txBox="1"/>
          <p:nvPr/>
        </p:nvSpPr>
        <p:spPr>
          <a:xfrm>
            <a:off x="5385816" y="5056632"/>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Future Scope</a:t>
            </a:r>
            <a:endParaRPr lang="en-US" sz="1900" dirty="0"/>
          </a:p>
        </p:txBody>
      </p:sp>
      <p:sp>
        <p:nvSpPr>
          <p:cNvPr id="37" name="Text 34"/>
          <p:cNvSpPr txBox="1"/>
          <p:nvPr/>
        </p:nvSpPr>
        <p:spPr>
          <a:xfrm>
            <a:off x="5385816" y="5513832"/>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 25</a:t>
            </a:r>
            <a:endParaRPr lang="en-US" sz="1400" dirty="0"/>
          </a:p>
        </p:txBody>
      </p:sp>
      <p:sp>
        <p:nvSpPr>
          <p:cNvPr id="38" name="Contents card 9"/>
          <p:cNvSpPr/>
          <p:nvPr/>
        </p:nvSpPr>
        <p:spPr>
          <a:xfrm>
            <a:off x="8119872" y="4828032"/>
            <a:ext cx="3520440" cy="1188720"/>
          </a:xfrm>
          <a:prstGeom prst="roundRect">
            <a:avLst>
              <a:gd name="adj" fmla="val 7692"/>
            </a:avLst>
          </a:prstGeom>
          <a:solidFill>
            <a:schemeClr val="bg2"/>
          </a:solidFill>
          <a:ln/>
        </p:spPr>
      </p:sp>
      <p:sp>
        <p:nvSpPr>
          <p:cNvPr id="39" name="Number 9"/>
          <p:cNvSpPr txBox="1"/>
          <p:nvPr/>
        </p:nvSpPr>
        <p:spPr>
          <a:xfrm>
            <a:off x="8348472" y="5102352"/>
            <a:ext cx="640080" cy="640080"/>
          </a:xfrm>
          <a:prstGeom prst="ellipse">
            <a:avLst/>
          </a:prstGeom>
          <a:solidFill>
            <a:srgbClr val="C8553D"/>
          </a:solidFill>
          <a:ln/>
        </p:spPr>
        <p:txBody>
          <a:bodyPr wrap="square" lIns="0" tIns="0" rIns="0" bIns="0" rtlCol="0" anchor="ctr"/>
          <a:lstStyle/>
          <a:p>
            <a:pPr marL="0" indent="0" algn="ctr">
              <a:buNone/>
            </a:pPr>
            <a:r>
              <a:rPr lang="en-US" sz="1800" b="1" dirty="0">
                <a:solidFill>
                  <a:schemeClr val="bg1"/>
                </a:solidFill>
                <a:latin typeface="+mj-lt" pitchFamily="34" charset="0"/>
                <a:ea typeface="+mj-lt" pitchFamily="34" charset="-122"/>
                <a:cs typeface="+mj-lt" pitchFamily="34" charset="-120"/>
              </a:rPr>
              <a:t>9</a:t>
            </a:r>
            <a:endParaRPr lang="en-US" sz="1800" dirty="0"/>
          </a:p>
        </p:txBody>
      </p:sp>
      <p:sp>
        <p:nvSpPr>
          <p:cNvPr id="40" name="Text 37"/>
          <p:cNvSpPr txBox="1"/>
          <p:nvPr/>
        </p:nvSpPr>
        <p:spPr>
          <a:xfrm>
            <a:off x="9171432" y="5056632"/>
            <a:ext cx="2377440" cy="411480"/>
          </a:xfrm>
          <a:prstGeom prst="rect">
            <a:avLst/>
          </a:prstGeom>
          <a:noFill/>
          <a:ln/>
        </p:spPr>
        <p:txBody>
          <a:bodyPr wrap="square" lIns="0" tIns="0" rIns="0" bIns="0" rtlCol="0" anchor="t"/>
          <a:lstStyle/>
          <a:p>
            <a:pPr marL="0" indent="0">
              <a:buNone/>
            </a:pPr>
            <a:r>
              <a:rPr lang="en-US" sz="1900" b="1" dirty="0">
                <a:solidFill>
                  <a:schemeClr val="tx1"/>
                </a:solidFill>
                <a:latin typeface="+mj-lt" pitchFamily="34" charset="0"/>
                <a:ea typeface="+mj-lt" pitchFamily="34" charset="-122"/>
                <a:cs typeface="+mj-lt" pitchFamily="34" charset="-120"/>
              </a:rPr>
              <a:t>Conclusion</a:t>
            </a:r>
            <a:endParaRPr lang="en-US" sz="1900" dirty="0"/>
          </a:p>
        </p:txBody>
      </p:sp>
      <p:sp>
        <p:nvSpPr>
          <p:cNvPr id="41" name="Text 38"/>
          <p:cNvSpPr txBox="1"/>
          <p:nvPr/>
        </p:nvSpPr>
        <p:spPr>
          <a:xfrm>
            <a:off x="9171432" y="5513832"/>
            <a:ext cx="2377440" cy="274320"/>
          </a:xfrm>
          <a:prstGeom prst="rect">
            <a:avLst/>
          </a:prstGeom>
          <a:noFill/>
          <a:ln/>
        </p:spPr>
        <p:txBody>
          <a:bodyPr wrap="square" lIns="0" tIns="0" rIns="0" bIns="0" rtlCol="0" anchor="t"/>
          <a:lstStyle/>
          <a:p>
            <a:pPr marL="0" indent="0">
              <a:buNone/>
            </a:pPr>
            <a:r>
              <a:rPr lang="en-US" sz="1400" dirty="0">
                <a:solidFill>
                  <a:schemeClr val="tx2"/>
                </a:solidFill>
              </a:rPr>
              <a:t>Slides 26–28</a:t>
            </a:r>
            <a:endParaRPr lang="en-US" sz="1400" dirty="0"/>
          </a:p>
        </p:txBody>
      </p:sp>
      <p:sp>
        <p:nvSpPr>
          <p:cNvPr id="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1 · THE STATUS QUO</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Problem Statement: Same Person, Two Records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 Life prices what the form says, not what is true.</a:t>
            </a:r>
            <a:endParaRPr lang="en-US" sz="1500" dirty="0"/>
          </a:p>
        </p:txBody>
      </p:sp>
      <p:sp>
        <p:nvSpPr>
          <p:cNvPr id="6" name="Declared card"/>
          <p:cNvSpPr/>
          <p:nvPr/>
        </p:nvSpPr>
        <p:spPr>
          <a:xfrm>
            <a:off x="548640" y="1920240"/>
            <a:ext cx="4846320" cy="3337560"/>
          </a:xfrm>
          <a:prstGeom prst="roundRect">
            <a:avLst>
              <a:gd name="adj" fmla="val 2740"/>
            </a:avLst>
          </a:prstGeom>
          <a:solidFill>
            <a:schemeClr val="bg2"/>
          </a:solidFill>
          <a:ln/>
        </p:spPr>
      </p:sp>
      <p:sp>
        <p:nvSpPr>
          <p:cNvPr id="7" name="True card"/>
          <p:cNvSpPr/>
          <p:nvPr/>
        </p:nvSpPr>
        <p:spPr>
          <a:xfrm>
            <a:off x="6793992" y="1920240"/>
            <a:ext cx="4846320" cy="3337560"/>
          </a:xfrm>
          <a:prstGeom prst="roundRect">
            <a:avLst>
              <a:gd name="adj" fmla="val 2740"/>
            </a:avLst>
          </a:prstGeom>
          <a:solidFill>
            <a:schemeClr val="accent1">
              <a:alpha val="12000"/>
            </a:schemeClr>
          </a:solidFill>
          <a:ln/>
        </p:spPr>
      </p:sp>
      <p:sp>
        <p:nvSpPr>
          <p:cNvPr id="8" name="Text 5"/>
          <p:cNvSpPr txBox="1"/>
          <p:nvPr/>
        </p:nvSpPr>
        <p:spPr>
          <a:xfrm>
            <a:off x="822960" y="2103120"/>
            <a:ext cx="4297680" cy="274320"/>
          </a:xfrm>
          <a:prstGeom prst="rect">
            <a:avLst/>
          </a:prstGeom>
          <a:noFill/>
          <a:ln/>
        </p:spPr>
        <p:txBody>
          <a:bodyPr wrap="square" lIns="0" tIns="0" rIns="0" bIns="0" rtlCol="0" anchor="t"/>
          <a:lstStyle/>
          <a:p>
            <a:pPr marL="0" indent="0">
              <a:buNone/>
            </a:pPr>
            <a:r>
              <a:rPr lang="en-US" sz="1300" b="1" dirty="0">
                <a:solidFill>
                  <a:schemeClr val="tx2"/>
                </a:solidFill>
              </a:rPr>
              <a:t>WHAT THE INSURER SEES</a:t>
            </a:r>
            <a:endParaRPr lang="en-US" sz="1300" dirty="0"/>
          </a:p>
        </p:txBody>
      </p:sp>
      <p:sp>
        <p:nvSpPr>
          <p:cNvPr id="9" name="Text 6"/>
          <p:cNvSpPr txBox="1"/>
          <p:nvPr/>
        </p:nvSpPr>
        <p:spPr>
          <a:xfrm>
            <a:off x="7068312" y="2103120"/>
            <a:ext cx="4297680" cy="274320"/>
          </a:xfrm>
          <a:prstGeom prst="rect">
            <a:avLst/>
          </a:prstGeom>
          <a:noFill/>
          <a:ln/>
        </p:spPr>
        <p:txBody>
          <a:bodyPr wrap="square" lIns="0" tIns="0" rIns="0" bIns="0" rtlCol="0" anchor="t"/>
          <a:lstStyle/>
          <a:p>
            <a:pPr marL="0" indent="0">
              <a:buNone/>
            </a:pPr>
            <a:r>
              <a:rPr lang="en-US" sz="1300" b="1" dirty="0">
                <a:solidFill>
                  <a:schemeClr val="accent1"/>
                </a:solidFill>
              </a:rPr>
              <a:t>WHAT IS TRUE</a:t>
            </a:r>
            <a:endParaRPr lang="en-US" sz="1300" dirty="0"/>
          </a:p>
        </p:txBody>
      </p:sp>
      <p:sp>
        <p:nvSpPr>
          <p:cNvPr id="10" name="Text 7"/>
          <p:cNvSpPr txBox="1"/>
          <p:nvPr/>
        </p:nvSpPr>
        <p:spPr>
          <a:xfrm>
            <a:off x="822960" y="2514600"/>
            <a:ext cx="4297680" cy="1280160"/>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chemeClr val="tx1"/>
                </a:solidFill>
              </a:rPr>
              <a:t>Age 50, male · BMI 27</a:t>
            </a:r>
            <a:endParaRPr lang="en-US" sz="1700" dirty="0"/>
          </a:p>
          <a:p>
            <a:pPr marL="342900" indent="-342900">
              <a:spcAft>
                <a:spcPts val="500"/>
              </a:spcAft>
              <a:buSzPct val="100000"/>
              <a:buChar char="•"/>
            </a:pPr>
            <a:r>
              <a:rPr lang="en-US" sz="1700" dirty="0">
                <a:solidFill>
                  <a:schemeClr val="tx1"/>
                </a:solidFill>
              </a:rPr>
              <a:t>Smoker: No</a:t>
            </a:r>
            <a:endParaRPr lang="en-US" sz="1700" dirty="0"/>
          </a:p>
          <a:p>
            <a:pPr marL="342900" indent="-342900">
              <a:spcAft>
                <a:spcPts val="500"/>
              </a:spcAft>
              <a:buSzPct val="100000"/>
              <a:buChar char="•"/>
            </a:pPr>
            <a:r>
              <a:rPr lang="en-US" sz="1700" dirty="0">
                <a:solidFill>
                  <a:schemeClr val="tx1"/>
                </a:solidFill>
              </a:rPr>
              <a:t>Hypertension: No</a:t>
            </a:r>
            <a:endParaRPr lang="en-US" sz="1700" dirty="0"/>
          </a:p>
        </p:txBody>
      </p:sp>
      <p:sp>
        <p:nvSpPr>
          <p:cNvPr id="11" name="Text 8"/>
          <p:cNvSpPr txBox="1"/>
          <p:nvPr/>
        </p:nvSpPr>
        <p:spPr>
          <a:xfrm>
            <a:off x="7068312" y="2514600"/>
            <a:ext cx="4297680" cy="1280160"/>
          </a:xfrm>
          <a:prstGeom prst="rect">
            <a:avLst/>
          </a:prstGeom>
          <a:noFill/>
          <a:ln/>
        </p:spPr>
        <p:txBody>
          <a:bodyPr wrap="square" lIns="0" tIns="0" rIns="0" bIns="0" rtlCol="0" anchor="t"/>
          <a:lstStyle/>
          <a:p>
            <a:pPr marL="342900" indent="-342900">
              <a:spcAft>
                <a:spcPts val="500"/>
              </a:spcAft>
              <a:buSzPct val="100000"/>
              <a:buChar char="•"/>
            </a:pPr>
            <a:r>
              <a:rPr lang="en-US" sz="1700" dirty="0">
                <a:solidFill>
                  <a:schemeClr val="tx1"/>
                </a:solidFill>
              </a:rPr>
              <a:t>Age 50, male · BMI 27</a:t>
            </a:r>
            <a:endParaRPr lang="en-US" sz="1700" dirty="0"/>
          </a:p>
          <a:p>
            <a:pPr marL="342900" indent="-342900">
              <a:spcAft>
                <a:spcPts val="500"/>
              </a:spcAft>
              <a:buSzPct val="100000"/>
              <a:buChar char="•"/>
            </a:pPr>
            <a:r>
              <a:rPr lang="en-US" sz="1700" b="1" dirty="0">
                <a:solidFill>
                  <a:schemeClr val="accent1"/>
                </a:solidFill>
              </a:rPr>
              <a:t>Smoker: YES (22 pack-years)</a:t>
            </a:r>
            <a:endParaRPr lang="en-US" sz="1700" dirty="0"/>
          </a:p>
          <a:p>
            <a:pPr marL="342900" indent="-342900">
              <a:buSzPct val="100000"/>
              <a:buChar char="•"/>
            </a:pPr>
            <a:r>
              <a:rPr lang="en-US" sz="1700" dirty="0">
                <a:solidFill>
                  <a:schemeClr val="tx1"/>
                </a:solidFill>
              </a:rPr>
              <a:t>Hypertension: No</a:t>
            </a:r>
            <a:endParaRPr lang="en-US" sz="1700" dirty="0"/>
          </a:p>
        </p:txBody>
      </p:sp>
      <p:sp>
        <p:nvSpPr>
          <p:cNvPr id="12" name="Text 9"/>
          <p:cNvSpPr txBox="1"/>
          <p:nvPr/>
        </p:nvSpPr>
        <p:spPr>
          <a:xfrm>
            <a:off x="822960" y="3931920"/>
            <a:ext cx="4297680" cy="685800"/>
          </a:xfrm>
          <a:prstGeom prst="rect">
            <a:avLst/>
          </a:prstGeom>
          <a:noFill/>
          <a:ln/>
        </p:spPr>
        <p:txBody>
          <a:bodyPr wrap="square" lIns="0" tIns="0" rIns="0" bIns="0" rtlCol="0" anchor="ctr"/>
          <a:lstStyle/>
          <a:p>
            <a:pPr marL="0" indent="0">
              <a:buNone/>
            </a:pPr>
            <a:r>
              <a:rPr lang="en-US" sz="4000" b="1" dirty="0">
                <a:solidFill>
                  <a:schemeClr val="tx1"/>
                </a:solidFill>
                <a:latin typeface="+mj-lt" pitchFamily="34" charset="0"/>
                <a:ea typeface="+mj-lt" pitchFamily="34" charset="-122"/>
                <a:cs typeface="+mj-lt" pitchFamily="34" charset="-120"/>
              </a:rPr>
              <a:t>₹20,699</a:t>
            </a:r>
            <a:endParaRPr lang="en-US" sz="4000" dirty="0"/>
          </a:p>
        </p:txBody>
      </p:sp>
      <p:sp>
        <p:nvSpPr>
          <p:cNvPr id="13" name="Text 10"/>
          <p:cNvSpPr txBox="1"/>
          <p:nvPr/>
        </p:nvSpPr>
        <p:spPr>
          <a:xfrm>
            <a:off x="822960" y="4663440"/>
            <a:ext cx="4297680" cy="640080"/>
          </a:xfrm>
          <a:prstGeom prst="rect">
            <a:avLst/>
          </a:prstGeom>
          <a:noFill/>
          <a:ln/>
        </p:spPr>
        <p:txBody>
          <a:bodyPr wrap="square" lIns="0" tIns="0" rIns="0" bIns="0" rtlCol="0" anchor="t"/>
          <a:lstStyle/>
          <a:p>
            <a:pPr marL="0" indent="0">
              <a:buNone/>
            </a:pPr>
            <a:r>
              <a:rPr lang="en-US" sz="1400" dirty="0">
                <a:solidFill>
                  <a:schemeClr val="tx2"/>
                </a:solidFill>
              </a:rPr>
              <a:t>per year (traditional method)</a:t>
            </a:r>
            <a:endParaRPr lang="en-US" sz="1400" dirty="0"/>
          </a:p>
        </p:txBody>
      </p:sp>
      <p:sp>
        <p:nvSpPr>
          <p:cNvPr id="14" name="Text 11"/>
          <p:cNvSpPr txBox="1"/>
          <p:nvPr/>
        </p:nvSpPr>
        <p:spPr>
          <a:xfrm>
            <a:off x="7068312" y="3931920"/>
            <a:ext cx="4297680" cy="685800"/>
          </a:xfrm>
          <a:prstGeom prst="rect">
            <a:avLst/>
          </a:prstGeom>
          <a:noFill/>
          <a:ln/>
        </p:spPr>
        <p:txBody>
          <a:bodyPr wrap="square" lIns="0" tIns="0" rIns="0" bIns="0" rtlCol="0" anchor="ctr"/>
          <a:lstStyle/>
          <a:p>
            <a:pPr marL="0" indent="0">
              <a:buNone/>
            </a:pPr>
            <a:r>
              <a:rPr lang="en-US" sz="4000" b="1" dirty="0">
                <a:solidFill>
                  <a:schemeClr val="accent1"/>
                </a:solidFill>
                <a:latin typeface="+mj-lt" pitchFamily="34" charset="0"/>
                <a:ea typeface="+mj-lt" pitchFamily="34" charset="-122"/>
                <a:cs typeface="+mj-lt" pitchFamily="34" charset="-120"/>
              </a:rPr>
              <a:t>₹41,774</a:t>
            </a:r>
            <a:endParaRPr lang="en-US" sz="4000" dirty="0"/>
          </a:p>
        </p:txBody>
      </p:sp>
      <p:sp>
        <p:nvSpPr>
          <p:cNvPr id="15" name="Text 12"/>
          <p:cNvSpPr txBox="1"/>
          <p:nvPr/>
        </p:nvSpPr>
        <p:spPr>
          <a:xfrm>
            <a:off x="7068312" y="4663440"/>
            <a:ext cx="4297680" cy="640080"/>
          </a:xfrm>
          <a:prstGeom prst="rect">
            <a:avLst/>
          </a:prstGeom>
          <a:noFill/>
          <a:ln/>
        </p:spPr>
        <p:txBody>
          <a:bodyPr wrap="square" lIns="0" tIns="0" rIns="0" bIns="0" rtlCol="0" anchor="t"/>
          <a:lstStyle/>
          <a:p>
            <a:pPr marL="0" indent="0">
              <a:buNone/>
            </a:pPr>
            <a:r>
              <a:rPr lang="en-US" sz="1400" dirty="0">
                <a:solidFill>
                  <a:schemeClr val="tx2"/>
                </a:solidFill>
              </a:rPr>
              <a:t>per year (fair price, known from the simulation)</a:t>
            </a:r>
            <a:endParaRPr lang="en-US" sz="1400" dirty="0"/>
          </a:p>
        </p:txBody>
      </p:sp>
      <p:sp>
        <p:nvSpPr>
          <p:cNvPr id="16" name="Not equal"/>
          <p:cNvSpPr txBox="1"/>
          <p:nvPr/>
        </p:nvSpPr>
        <p:spPr>
          <a:xfrm>
            <a:off x="5641848" y="3154680"/>
            <a:ext cx="914400" cy="914400"/>
          </a:xfrm>
          <a:prstGeom prst="ellipse">
            <a:avLst/>
          </a:prstGeom>
          <a:solidFill>
            <a:schemeClr val="accent1"/>
          </a:solidFill>
          <a:ln/>
        </p:spPr>
        <p:txBody>
          <a:bodyPr wrap="square" lIns="0" tIns="0" rIns="0" bIns="0" rtlCol="0" anchor="ctr"/>
          <a:lstStyle/>
          <a:p>
            <a:pPr marL="0" indent="0" algn="ctr">
              <a:buNone/>
            </a:pPr>
            <a:r>
              <a:rPr lang="en-US" sz="4000" b="1" dirty="0">
                <a:solidFill>
                  <a:schemeClr val="bg1"/>
                </a:solidFill>
              </a:rPr>
              <a:t>≠</a:t>
            </a:r>
            <a:endParaRPr lang="en-US" sz="4000" dirty="0"/>
          </a:p>
        </p:txBody>
      </p:sp>
      <p:sp>
        <p:nvSpPr>
          <p:cNvPr id="17" name="Banner"/>
          <p:cNvSpPr/>
          <p:nvPr/>
        </p:nvSpPr>
        <p:spPr>
          <a:xfrm>
            <a:off x="548640" y="5486400"/>
            <a:ext cx="11091672" cy="731520"/>
          </a:xfrm>
          <a:prstGeom prst="roundRect">
            <a:avLst>
              <a:gd name="adj" fmla="val 12500"/>
            </a:avLst>
          </a:prstGeom>
          <a:solidFill>
            <a:schemeClr val="tx1"/>
          </a:solidFill>
          <a:ln/>
        </p:spPr>
      </p:sp>
      <p:sp>
        <p:nvSpPr>
          <p:cNvPr id="18" name="Text 15"/>
          <p:cNvSpPr txBox="1"/>
          <p:nvPr/>
        </p:nvSpPr>
        <p:spPr>
          <a:xfrm>
            <a:off x="822960" y="5486400"/>
            <a:ext cx="10515600" cy="731520"/>
          </a:xfrm>
          <a:prstGeom prst="rect">
            <a:avLst/>
          </a:prstGeom>
          <a:noFill/>
          <a:ln/>
        </p:spPr>
        <p:txBody>
          <a:bodyPr wrap="square" lIns="0" tIns="0" rIns="0" bIns="0" rtlCol="0" anchor="ctr"/>
          <a:lstStyle/>
          <a:p>
            <a:pPr marL="0" indent="0">
              <a:buNone/>
            </a:pPr>
            <a:r>
              <a:rPr lang="en-US" sz="1800" b="1" dirty="0">
                <a:solidFill>
                  <a:schemeClr val="bg1"/>
                </a:solidFill>
              </a:rPr>
              <a:t>A hidden smoker pays about half the fair price. Who prices this better, and who catches the liars?</a:t>
            </a:r>
            <a:endParaRPr lang="en-US" sz="18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1 · THE STATUS QUO</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Introduction to Underwriting</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Before it sells a policy, Meridian must guess each applicant’s 10-year claim chance.</a:t>
            </a:r>
            <a:endParaRPr lang="en-US" sz="1500" dirty="0"/>
          </a:p>
        </p:txBody>
      </p:sp>
      <p:sp>
        <p:nvSpPr>
          <p:cNvPr id="6" name="Approach card"/>
          <p:cNvSpPr/>
          <p:nvPr/>
        </p:nvSpPr>
        <p:spPr>
          <a:xfrm>
            <a:off x="548640" y="1920240"/>
            <a:ext cx="5120640" cy="2834640"/>
          </a:xfrm>
          <a:prstGeom prst="roundRect">
            <a:avLst>
              <a:gd name="adj" fmla="val 3226"/>
            </a:avLst>
          </a:prstGeom>
          <a:solidFill>
            <a:schemeClr val="bg2"/>
          </a:solidFill>
          <a:ln/>
        </p:spPr>
      </p:sp>
      <p:sp>
        <p:nvSpPr>
          <p:cNvPr id="7" name="Icon circle Table"/>
          <p:cNvSpPr/>
          <p:nvPr/>
        </p:nvSpPr>
        <p:spPr>
          <a:xfrm>
            <a:off x="822960" y="2103120"/>
            <a:ext cx="685800" cy="685800"/>
          </a:xfrm>
          <a:prstGeom prst="ellipse">
            <a:avLst/>
          </a:prstGeom>
          <a:solidFill>
            <a:srgbClr val="4A6FA5"/>
          </a:solidFill>
          <a:ln/>
        </p:spPr>
      </p:sp>
      <p:pic>
        <p:nvPicPr>
          <p:cNvPr id="8" name="Image 0" descr="Table icon"/>
          <p:cNvPicPr>
            <a:picLocks noChangeAspect="1"/>
          </p:cNvPicPr>
          <p:nvPr/>
        </p:nvPicPr>
        <p:blipFill>
          <a:blip r:embed="rId3"/>
          <a:stretch>
            <a:fillRect/>
          </a:stretch>
        </p:blipFill>
        <p:spPr>
          <a:xfrm>
            <a:off x="994410" y="2274570"/>
            <a:ext cx="342900" cy="342900"/>
          </a:xfrm>
          <a:prstGeom prst="rect">
            <a:avLst/>
          </a:prstGeom>
        </p:spPr>
      </p:pic>
      <p:sp>
        <p:nvSpPr>
          <p:cNvPr id="9" name="Text 5"/>
          <p:cNvSpPr txBox="1"/>
          <p:nvPr/>
        </p:nvSpPr>
        <p:spPr>
          <a:xfrm>
            <a:off x="1691640" y="2103120"/>
            <a:ext cx="3657600" cy="68580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Traditional rule-based</a:t>
            </a:r>
            <a:endParaRPr lang="en-US" sz="2200" dirty="0"/>
          </a:p>
        </p:txBody>
      </p:sp>
      <p:sp>
        <p:nvSpPr>
          <p:cNvPr id="10" name="Text 6"/>
          <p:cNvSpPr txBox="1"/>
          <p:nvPr/>
        </p:nvSpPr>
        <p:spPr>
          <a:xfrm>
            <a:off x="822960" y="2971800"/>
            <a:ext cx="4572000" cy="16459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Mortality table by age and sex</a:t>
            </a:r>
            <a:endParaRPr lang="en-US" sz="1500" dirty="0"/>
          </a:p>
          <a:p>
            <a:pPr marL="342900" indent="-342900">
              <a:spcAft>
                <a:spcPts val="500"/>
              </a:spcAft>
              <a:buSzPct val="100000"/>
              <a:buChar char="•"/>
            </a:pPr>
            <a:r>
              <a:rPr lang="en-US" sz="1500" dirty="0">
                <a:solidFill>
                  <a:schemeClr val="tx1"/>
                </a:solidFill>
              </a:rPr>
              <a:t>Fixed multiplier (loading) per risk factor</a:t>
            </a:r>
            <a:endParaRPr lang="en-US" sz="1500" dirty="0"/>
          </a:p>
          <a:p>
            <a:pPr marL="342900" indent="-342900">
              <a:spcAft>
                <a:spcPts val="500"/>
              </a:spcAft>
              <a:buSzPct val="100000"/>
              <a:buChar char="•"/>
            </a:pPr>
            <a:r>
              <a:rPr lang="en-US" sz="1500" dirty="0">
                <a:solidFill>
                  <a:schemeClr val="tx1"/>
                </a:solidFill>
              </a:rPr>
              <a:t>Does not learn from new data</a:t>
            </a:r>
            <a:endParaRPr lang="en-US" sz="1500" dirty="0"/>
          </a:p>
          <a:p>
            <a:pPr marL="342900" indent="-342900">
              <a:spcAft>
                <a:spcPts val="500"/>
              </a:spcAft>
              <a:buSzPct val="100000"/>
              <a:buChar char="•"/>
            </a:pPr>
            <a:r>
              <a:rPr lang="en-US" sz="1500" dirty="0">
                <a:solidFill>
                  <a:schemeClr val="tx1"/>
                </a:solidFill>
              </a:rPr>
              <a:t>Treats factors separately: may miss compounding</a:t>
            </a:r>
            <a:endParaRPr lang="en-US" sz="1500" dirty="0"/>
          </a:p>
        </p:txBody>
      </p:sp>
      <p:sp>
        <p:nvSpPr>
          <p:cNvPr id="11" name="Approach card"/>
          <p:cNvSpPr/>
          <p:nvPr/>
        </p:nvSpPr>
        <p:spPr>
          <a:xfrm>
            <a:off x="6519672" y="1920240"/>
            <a:ext cx="5120640" cy="2834640"/>
          </a:xfrm>
          <a:prstGeom prst="roundRect">
            <a:avLst>
              <a:gd name="adj" fmla="val 3226"/>
            </a:avLst>
          </a:prstGeom>
          <a:solidFill>
            <a:schemeClr val="bg2"/>
          </a:solidFill>
          <a:ln/>
        </p:spPr>
      </p:sp>
      <p:sp>
        <p:nvSpPr>
          <p:cNvPr id="12" name="Icon circle Robot"/>
          <p:cNvSpPr/>
          <p:nvPr/>
        </p:nvSpPr>
        <p:spPr>
          <a:xfrm>
            <a:off x="6793992" y="2103120"/>
            <a:ext cx="685800" cy="685800"/>
          </a:xfrm>
          <a:prstGeom prst="ellipse">
            <a:avLst/>
          </a:prstGeom>
          <a:solidFill>
            <a:srgbClr val="C8553D"/>
          </a:solidFill>
          <a:ln/>
        </p:spPr>
      </p:sp>
      <p:pic>
        <p:nvPicPr>
          <p:cNvPr id="13" name="Image 1" descr="Robot icon"/>
          <p:cNvPicPr>
            <a:picLocks noChangeAspect="1"/>
          </p:cNvPicPr>
          <p:nvPr/>
        </p:nvPicPr>
        <p:blipFill>
          <a:blip r:embed="rId4"/>
          <a:stretch>
            <a:fillRect/>
          </a:stretch>
        </p:blipFill>
        <p:spPr>
          <a:xfrm>
            <a:off x="6965442" y="2274570"/>
            <a:ext cx="342900" cy="342900"/>
          </a:xfrm>
          <a:prstGeom prst="rect">
            <a:avLst/>
          </a:prstGeom>
        </p:spPr>
      </p:pic>
      <p:sp>
        <p:nvSpPr>
          <p:cNvPr id="14" name="Text 9"/>
          <p:cNvSpPr txBox="1"/>
          <p:nvPr/>
        </p:nvSpPr>
        <p:spPr>
          <a:xfrm>
            <a:off x="7662672" y="2103120"/>
            <a:ext cx="3657600" cy="68580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Machine learning</a:t>
            </a:r>
            <a:endParaRPr lang="en-US" sz="2200" dirty="0"/>
          </a:p>
        </p:txBody>
      </p:sp>
      <p:sp>
        <p:nvSpPr>
          <p:cNvPr id="15" name="Text 10"/>
          <p:cNvSpPr txBox="1"/>
          <p:nvPr/>
        </p:nvSpPr>
        <p:spPr>
          <a:xfrm>
            <a:off x="6793992" y="2971800"/>
            <a:ext cx="4572000" cy="16459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Trains on data, learns the pattern</a:t>
            </a:r>
            <a:endParaRPr lang="en-US" sz="1500" dirty="0"/>
          </a:p>
          <a:p>
            <a:pPr marL="342900" indent="-342900">
              <a:spcAft>
                <a:spcPts val="500"/>
              </a:spcAft>
              <a:buSzPct val="100000"/>
              <a:buChar char="•"/>
            </a:pPr>
            <a:r>
              <a:rPr lang="en-US" sz="1500" dirty="0">
                <a:solidFill>
                  <a:schemeClr val="tx1"/>
                </a:solidFill>
              </a:rPr>
              <a:t>Captures how risk factors strengthen each other</a:t>
            </a:r>
            <a:endParaRPr lang="en-US" sz="1500" dirty="0"/>
          </a:p>
          <a:p>
            <a:pPr marL="342900" indent="-342900">
              <a:spcAft>
                <a:spcPts val="500"/>
              </a:spcAft>
              <a:buSzPct val="100000"/>
              <a:buChar char="•"/>
            </a:pPr>
            <a:r>
              <a:rPr lang="en-US" sz="1500" dirty="0">
                <a:solidFill>
                  <a:schemeClr val="tx1"/>
                </a:solidFill>
              </a:rPr>
              <a:t>Needs enough data to beat fixed rules</a:t>
            </a:r>
            <a:endParaRPr lang="en-US" sz="1500" dirty="0"/>
          </a:p>
          <a:p>
            <a:pPr marL="342900" indent="-342900">
              <a:spcAft>
                <a:spcPts val="500"/>
              </a:spcAft>
              <a:buSzPct val="100000"/>
              <a:buChar char="•"/>
            </a:pPr>
            <a:r>
              <a:rPr lang="en-US" sz="1500" dirty="0">
                <a:solidFill>
                  <a:schemeClr val="tx1"/>
                </a:solidFill>
              </a:rPr>
              <a:t>Models: GLM, Cox, XGBoost</a:t>
            </a:r>
            <a:endParaRPr lang="en-US" sz="1500" dirty="0"/>
          </a:p>
        </p:txBody>
      </p:sp>
      <p:sp>
        <p:nvSpPr>
          <p:cNvPr id="16" name="Versus"/>
          <p:cNvSpPr txBox="1"/>
          <p:nvPr/>
        </p:nvSpPr>
        <p:spPr>
          <a:xfrm>
            <a:off x="5779008" y="3017520"/>
            <a:ext cx="640080" cy="640080"/>
          </a:xfrm>
          <a:prstGeom prst="ellipse">
            <a:avLst/>
          </a:prstGeom>
          <a:solidFill>
            <a:schemeClr val="tx1"/>
          </a:solidFill>
          <a:ln/>
        </p:spPr>
        <p:txBody>
          <a:bodyPr wrap="square" lIns="0" tIns="0" rIns="0" bIns="0" rtlCol="0" anchor="ctr"/>
          <a:lstStyle/>
          <a:p>
            <a:pPr marL="0" indent="0" algn="ctr">
              <a:buNone/>
            </a:pPr>
            <a:r>
              <a:rPr lang="en-US" sz="1800" b="1" dirty="0">
                <a:solidFill>
                  <a:schemeClr val="bg1"/>
                </a:solidFill>
              </a:rPr>
              <a:t>vs</a:t>
            </a:r>
            <a:endParaRPr lang="en-US" sz="1800" dirty="0"/>
          </a:p>
        </p:txBody>
      </p:sp>
      <p:sp>
        <p:nvSpPr>
          <p:cNvPr id="17" name="Chevron"/>
          <p:cNvSpPr txBox="1"/>
          <p:nvPr/>
        </p:nvSpPr>
        <p:spPr>
          <a:xfrm>
            <a:off x="548640" y="5029200"/>
            <a:ext cx="2926080" cy="914400"/>
          </a:xfrm>
          <a:prstGeom prst="chevron">
            <a:avLst/>
          </a:prstGeom>
          <a:solidFill>
            <a:schemeClr val="accent4"/>
          </a:solidFill>
          <a:ln/>
        </p:spPr>
        <p:txBody>
          <a:bodyPr wrap="square" lIns="0" tIns="3810" rIns="3810" bIns="0" rtlCol="0" anchor="ctr"/>
          <a:lstStyle/>
          <a:p>
            <a:pPr marL="0" indent="0" algn="ctr">
              <a:buNone/>
            </a:pPr>
            <a:r>
              <a:rPr lang="en-US" sz="1400" b="1" dirty="0">
                <a:solidFill>
                  <a:schemeClr val="bg1"/>
                </a:solidFill>
              </a:rPr>
              <a:t>1  Applicant declares facts</a:t>
            </a:r>
            <a:endParaRPr lang="en-US" sz="1400" dirty="0"/>
          </a:p>
        </p:txBody>
      </p:sp>
      <p:sp>
        <p:nvSpPr>
          <p:cNvPr id="18" name="Chevron"/>
          <p:cNvSpPr txBox="1"/>
          <p:nvPr/>
        </p:nvSpPr>
        <p:spPr>
          <a:xfrm>
            <a:off x="3337560" y="5029200"/>
            <a:ext cx="2926080" cy="914400"/>
          </a:xfrm>
          <a:prstGeom prst="chevron">
            <a:avLst/>
          </a:prstGeom>
          <a:solidFill>
            <a:schemeClr val="accent1"/>
          </a:solidFill>
          <a:ln/>
        </p:spPr>
        <p:txBody>
          <a:bodyPr wrap="square" lIns="0" tIns="3810" rIns="3810" bIns="0" rtlCol="0" anchor="ctr"/>
          <a:lstStyle/>
          <a:p>
            <a:pPr marL="0" indent="0" algn="ctr">
              <a:buNone/>
            </a:pPr>
            <a:r>
              <a:rPr lang="en-US" sz="1400" b="1" dirty="0">
                <a:solidFill>
                  <a:schemeClr val="bg1"/>
                </a:solidFill>
              </a:rPr>
              <a:t>2  Estimate 10-year claim chance p</a:t>
            </a:r>
            <a:endParaRPr lang="en-US" sz="1400" dirty="0"/>
          </a:p>
        </p:txBody>
      </p:sp>
      <p:sp>
        <p:nvSpPr>
          <p:cNvPr id="19" name="Chevron"/>
          <p:cNvSpPr txBox="1"/>
          <p:nvPr/>
        </p:nvSpPr>
        <p:spPr>
          <a:xfrm>
            <a:off x="6126480" y="5029200"/>
            <a:ext cx="2926080" cy="914400"/>
          </a:xfrm>
          <a:prstGeom prst="chevron">
            <a:avLst/>
          </a:prstGeom>
          <a:solidFill>
            <a:schemeClr val="accent3"/>
          </a:solidFill>
          <a:ln/>
        </p:spPr>
        <p:txBody>
          <a:bodyPr wrap="square" lIns="0" tIns="3810" rIns="3810" bIns="0" rtlCol="0" anchor="ctr"/>
          <a:lstStyle/>
          <a:p>
            <a:pPr marL="0" indent="0" algn="ctr">
              <a:buNone/>
            </a:pPr>
            <a:r>
              <a:rPr lang="en-US" sz="1400" b="1" dirty="0">
                <a:solidFill>
                  <a:schemeClr val="bg1"/>
                </a:solidFill>
              </a:rPr>
              <a:t>3  Premium = 1.25 × p × SA ÷ T</a:t>
            </a:r>
            <a:endParaRPr lang="en-US" sz="1400" dirty="0"/>
          </a:p>
        </p:txBody>
      </p:sp>
      <p:sp>
        <p:nvSpPr>
          <p:cNvPr id="20" name="Chevron"/>
          <p:cNvSpPr txBox="1"/>
          <p:nvPr/>
        </p:nvSpPr>
        <p:spPr>
          <a:xfrm>
            <a:off x="8915400" y="5029200"/>
            <a:ext cx="2926080" cy="914400"/>
          </a:xfrm>
          <a:prstGeom prst="chevron">
            <a:avLst/>
          </a:prstGeom>
          <a:solidFill>
            <a:schemeClr val="tx1"/>
          </a:solidFill>
          <a:ln/>
        </p:spPr>
        <p:txBody>
          <a:bodyPr wrap="square" lIns="0" tIns="3810" rIns="3810" bIns="0" rtlCol="0" anchor="ctr"/>
          <a:lstStyle/>
          <a:p>
            <a:pPr marL="0" indent="0" algn="ctr">
              <a:buNone/>
            </a:pPr>
            <a:r>
              <a:rPr lang="en-US" sz="1400" b="1" dirty="0">
                <a:solidFill>
                  <a:schemeClr val="bg1"/>
                </a:solidFill>
              </a:rPr>
              <a:t>4  Standard · Rated · Decline</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1 · THE STATUS QUO</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Why Build a Simulated World?</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Meridian’s files cannot say who lied: a lie that works leaves no label.</a:t>
            </a:r>
            <a:endParaRPr lang="en-US" sz="1500" dirty="0"/>
          </a:p>
        </p:txBody>
      </p:sp>
      <p:sp>
        <p:nvSpPr>
          <p:cNvPr id="6" name="Flow box"/>
          <p:cNvSpPr/>
          <p:nvPr/>
        </p:nvSpPr>
        <p:spPr>
          <a:xfrm>
            <a:off x="548640" y="1965960"/>
            <a:ext cx="2395728" cy="1280160"/>
          </a:xfrm>
          <a:prstGeom prst="roundRect">
            <a:avLst>
              <a:gd name="adj" fmla="val 7143"/>
            </a:avLst>
          </a:prstGeom>
          <a:solidFill>
            <a:schemeClr val="accent1"/>
          </a:solidFill>
          <a:ln/>
        </p:spPr>
      </p:sp>
      <p:sp>
        <p:nvSpPr>
          <p:cNvPr id="7" name="Text 4"/>
          <p:cNvSpPr txBox="1"/>
          <p:nvPr/>
        </p:nvSpPr>
        <p:spPr>
          <a:xfrm>
            <a:off x="685800" y="1965960"/>
            <a:ext cx="2121408" cy="1280160"/>
          </a:xfrm>
          <a:prstGeom prst="rect">
            <a:avLst/>
          </a:prstGeom>
          <a:noFill/>
          <a:ln/>
        </p:spPr>
        <p:txBody>
          <a:bodyPr wrap="square" lIns="0" tIns="0" rIns="0" bIns="0" rtlCol="0" anchor="ctr"/>
          <a:lstStyle/>
          <a:p>
            <a:pPr marL="0" indent="0" algn="ctr">
              <a:buNone/>
            </a:pPr>
            <a:r>
              <a:rPr lang="en-US" sz="1800" b="1" dirty="0">
                <a:solidFill>
                  <a:schemeClr val="bg1"/>
                </a:solidFill>
              </a:rPr>
              <a:t>True record</a:t>
            </a:r>
            <a:endParaRPr lang="en-US" sz="1400" dirty="0"/>
          </a:p>
          <a:p>
            <a:pPr marL="0" indent="0" algn="ctr">
              <a:buNone/>
            </a:pPr>
            <a:r>
              <a:rPr lang="en-US" sz="1400" dirty="0">
                <a:solidFill>
                  <a:schemeClr val="bg1"/>
                </a:solidFill>
              </a:rPr>
              <a:t>we decide the risk</a:t>
            </a:r>
            <a:endParaRPr lang="en-US" sz="1400" dirty="0"/>
          </a:p>
        </p:txBody>
      </p:sp>
      <p:sp>
        <p:nvSpPr>
          <p:cNvPr id="8" name="Arrow"/>
          <p:cNvSpPr/>
          <p:nvPr/>
        </p:nvSpPr>
        <p:spPr>
          <a:xfrm>
            <a:off x="2990088" y="2423160"/>
            <a:ext cx="411480" cy="365760"/>
          </a:xfrm>
          <a:prstGeom prst="rightArrow">
            <a:avLst/>
          </a:prstGeom>
          <a:solidFill>
            <a:schemeClr val="accent5"/>
          </a:solidFill>
          <a:ln/>
        </p:spPr>
      </p:sp>
      <p:sp>
        <p:nvSpPr>
          <p:cNvPr id="9" name="Flow box"/>
          <p:cNvSpPr/>
          <p:nvPr/>
        </p:nvSpPr>
        <p:spPr>
          <a:xfrm>
            <a:off x="3447288" y="1965960"/>
            <a:ext cx="2395728" cy="1280160"/>
          </a:xfrm>
          <a:prstGeom prst="roundRect">
            <a:avLst>
              <a:gd name="adj" fmla="val 7143"/>
            </a:avLst>
          </a:prstGeom>
          <a:solidFill>
            <a:schemeClr val="accent4"/>
          </a:solidFill>
          <a:ln/>
        </p:spPr>
      </p:sp>
      <p:sp>
        <p:nvSpPr>
          <p:cNvPr id="10" name="Text 7"/>
          <p:cNvSpPr txBox="1"/>
          <p:nvPr/>
        </p:nvSpPr>
        <p:spPr>
          <a:xfrm>
            <a:off x="3584448" y="1965960"/>
            <a:ext cx="2121408" cy="1280160"/>
          </a:xfrm>
          <a:prstGeom prst="rect">
            <a:avLst/>
          </a:prstGeom>
          <a:noFill/>
          <a:ln/>
        </p:spPr>
        <p:txBody>
          <a:bodyPr wrap="square" lIns="0" tIns="0" rIns="0" bIns="0" rtlCol="0" anchor="ctr"/>
          <a:lstStyle/>
          <a:p>
            <a:pPr marL="0" indent="0" algn="ctr">
              <a:buNone/>
            </a:pPr>
            <a:r>
              <a:rPr lang="en-US" sz="1800" b="1" dirty="0">
                <a:solidFill>
                  <a:schemeClr val="bg1"/>
                </a:solidFill>
              </a:rPr>
              <a:t>Declared record</a:t>
            </a:r>
            <a:endParaRPr lang="en-US" sz="1400" dirty="0"/>
          </a:p>
          <a:p>
            <a:pPr marL="0" indent="0" algn="ctr">
              <a:buNone/>
            </a:pPr>
            <a:r>
              <a:rPr lang="en-US" sz="1400" dirty="0">
                <a:solidFill>
                  <a:schemeClr val="bg1"/>
                </a:solidFill>
              </a:rPr>
              <a:t>some facts hidden</a:t>
            </a:r>
            <a:endParaRPr lang="en-US" sz="1400" dirty="0"/>
          </a:p>
        </p:txBody>
      </p:sp>
      <p:sp>
        <p:nvSpPr>
          <p:cNvPr id="11" name="Arrow"/>
          <p:cNvSpPr/>
          <p:nvPr/>
        </p:nvSpPr>
        <p:spPr>
          <a:xfrm>
            <a:off x="5888736" y="2423160"/>
            <a:ext cx="411480" cy="365760"/>
          </a:xfrm>
          <a:prstGeom prst="rightArrow">
            <a:avLst/>
          </a:prstGeom>
          <a:solidFill>
            <a:schemeClr val="accent5"/>
          </a:solidFill>
          <a:ln/>
        </p:spPr>
      </p:sp>
      <p:sp>
        <p:nvSpPr>
          <p:cNvPr id="12" name="Flow box"/>
          <p:cNvSpPr/>
          <p:nvPr/>
        </p:nvSpPr>
        <p:spPr>
          <a:xfrm>
            <a:off x="6345936" y="1965960"/>
            <a:ext cx="2395728" cy="1280160"/>
          </a:xfrm>
          <a:prstGeom prst="roundRect">
            <a:avLst>
              <a:gd name="adj" fmla="val 7143"/>
            </a:avLst>
          </a:prstGeom>
          <a:solidFill>
            <a:schemeClr val="tx1"/>
          </a:solidFill>
          <a:ln/>
        </p:spPr>
      </p:sp>
      <p:sp>
        <p:nvSpPr>
          <p:cNvPr id="13" name="Text 10"/>
          <p:cNvSpPr txBox="1"/>
          <p:nvPr/>
        </p:nvSpPr>
        <p:spPr>
          <a:xfrm>
            <a:off x="6483096" y="1965960"/>
            <a:ext cx="2121408" cy="1280160"/>
          </a:xfrm>
          <a:prstGeom prst="rect">
            <a:avLst/>
          </a:prstGeom>
          <a:noFill/>
          <a:ln/>
        </p:spPr>
        <p:txBody>
          <a:bodyPr wrap="square" lIns="0" tIns="0" rIns="0" bIns="0" rtlCol="0" anchor="ctr"/>
          <a:lstStyle/>
          <a:p>
            <a:pPr marL="0" indent="0" algn="ctr">
              <a:buNone/>
            </a:pPr>
            <a:r>
              <a:rPr lang="en-US" sz="1800" b="1" dirty="0">
                <a:solidFill>
                  <a:schemeClr val="bg1"/>
                </a:solidFill>
              </a:rPr>
              <a:t>Price it</a:t>
            </a:r>
            <a:endParaRPr lang="en-US" sz="1400" dirty="0"/>
          </a:p>
          <a:p>
            <a:pPr marL="0" indent="0" algn="ctr">
              <a:buNone/>
            </a:pPr>
            <a:r>
              <a:rPr lang="en-US" sz="1400" dirty="0">
                <a:solidFill>
                  <a:schemeClr val="bg1"/>
                </a:solidFill>
              </a:rPr>
              <a:t>rules vs machine learning</a:t>
            </a:r>
            <a:endParaRPr lang="en-US" sz="1400" dirty="0"/>
          </a:p>
        </p:txBody>
      </p:sp>
      <p:sp>
        <p:nvSpPr>
          <p:cNvPr id="14" name="Arrow"/>
          <p:cNvSpPr/>
          <p:nvPr/>
        </p:nvSpPr>
        <p:spPr>
          <a:xfrm>
            <a:off x="8787384" y="2423160"/>
            <a:ext cx="411480" cy="365760"/>
          </a:xfrm>
          <a:prstGeom prst="rightArrow">
            <a:avLst/>
          </a:prstGeom>
          <a:solidFill>
            <a:schemeClr val="accent5"/>
          </a:solidFill>
          <a:ln/>
        </p:spPr>
      </p:sp>
      <p:sp>
        <p:nvSpPr>
          <p:cNvPr id="15" name="Flow box"/>
          <p:cNvSpPr/>
          <p:nvPr/>
        </p:nvSpPr>
        <p:spPr>
          <a:xfrm>
            <a:off x="9244584" y="1965960"/>
            <a:ext cx="2395728" cy="1280160"/>
          </a:xfrm>
          <a:prstGeom prst="roundRect">
            <a:avLst>
              <a:gd name="adj" fmla="val 7143"/>
            </a:avLst>
          </a:prstGeom>
          <a:solidFill>
            <a:schemeClr val="accent3"/>
          </a:solidFill>
          <a:ln/>
        </p:spPr>
      </p:sp>
      <p:sp>
        <p:nvSpPr>
          <p:cNvPr id="16" name="Text 13"/>
          <p:cNvSpPr txBox="1"/>
          <p:nvPr/>
        </p:nvSpPr>
        <p:spPr>
          <a:xfrm>
            <a:off x="9381744" y="1965960"/>
            <a:ext cx="2121408" cy="1280160"/>
          </a:xfrm>
          <a:prstGeom prst="rect">
            <a:avLst/>
          </a:prstGeom>
          <a:noFill/>
          <a:ln/>
        </p:spPr>
        <p:txBody>
          <a:bodyPr wrap="square" lIns="0" tIns="0" rIns="0" bIns="0" rtlCol="0" anchor="ctr"/>
          <a:lstStyle/>
          <a:p>
            <a:pPr marL="0" indent="0" algn="ctr">
              <a:buNone/>
            </a:pPr>
            <a:r>
              <a:rPr lang="en-US" sz="1800" b="1" dirty="0">
                <a:solidFill>
                  <a:schemeClr val="bg1"/>
                </a:solidFill>
              </a:rPr>
              <a:t>Compare</a:t>
            </a:r>
            <a:endParaRPr lang="en-US" sz="1400" dirty="0"/>
          </a:p>
          <a:p>
            <a:pPr marL="0" indent="0" algn="ctr">
              <a:buNone/>
            </a:pPr>
            <a:r>
              <a:rPr lang="en-US" sz="1400" dirty="0">
                <a:solidFill>
                  <a:schemeClr val="bg1"/>
                </a:solidFill>
              </a:rPr>
              <a:t>with the known truth</a:t>
            </a:r>
            <a:endParaRPr lang="en-US" sz="1400" dirty="0"/>
          </a:p>
        </p:txBody>
      </p:sp>
      <p:sp>
        <p:nvSpPr>
          <p:cNvPr id="17" name="Text 14"/>
          <p:cNvSpPr txBox="1"/>
          <p:nvPr/>
        </p:nvSpPr>
        <p:spPr>
          <a:xfrm>
            <a:off x="548640" y="3611880"/>
            <a:ext cx="3383280" cy="822960"/>
          </a:xfrm>
          <a:prstGeom prst="rect">
            <a:avLst/>
          </a:prstGeom>
          <a:noFill/>
          <a:ln/>
        </p:spPr>
        <p:txBody>
          <a:bodyPr wrap="square" lIns="0" tIns="0" rIns="0" bIns="0" rtlCol="0" anchor="ctr"/>
          <a:lstStyle/>
          <a:p>
            <a:pPr marL="0" indent="0">
              <a:buNone/>
            </a:pPr>
            <a:r>
              <a:rPr lang="en-US" sz="5400" b="1" dirty="0">
                <a:solidFill>
                  <a:schemeClr val="accent1"/>
                </a:solidFill>
                <a:latin typeface="+mj-lt" pitchFamily="34" charset="0"/>
                <a:ea typeface="+mj-lt" pitchFamily="34" charset="-122"/>
                <a:cs typeface="+mj-lt" pitchFamily="34" charset="-120"/>
              </a:rPr>
              <a:t>15</a:t>
            </a:r>
            <a:endParaRPr lang="en-US" sz="5400" dirty="0"/>
          </a:p>
        </p:txBody>
      </p:sp>
      <p:sp>
        <p:nvSpPr>
          <p:cNvPr id="18" name="Text 15"/>
          <p:cNvSpPr txBox="1"/>
          <p:nvPr/>
        </p:nvSpPr>
        <p:spPr>
          <a:xfrm>
            <a:off x="548640" y="4480560"/>
            <a:ext cx="3383280" cy="640080"/>
          </a:xfrm>
          <a:prstGeom prst="rect">
            <a:avLst/>
          </a:prstGeom>
          <a:noFill/>
          <a:ln/>
        </p:spPr>
        <p:txBody>
          <a:bodyPr wrap="square" lIns="0" tIns="0" rIns="0" bIns="0" rtlCol="0" anchor="t"/>
          <a:lstStyle/>
          <a:p>
            <a:pPr marL="0" indent="0">
              <a:buNone/>
            </a:pPr>
            <a:r>
              <a:rPr lang="en-US" sz="1400" dirty="0">
                <a:solidFill>
                  <a:schemeClr val="tx2"/>
                </a:solidFill>
              </a:rPr>
              <a:t>datasets: 3 random seeds × 5 interaction strengths</a:t>
            </a:r>
            <a:endParaRPr lang="en-US" sz="1400" dirty="0"/>
          </a:p>
        </p:txBody>
      </p:sp>
      <p:sp>
        <p:nvSpPr>
          <p:cNvPr id="19" name="Text 16"/>
          <p:cNvSpPr txBox="1"/>
          <p:nvPr/>
        </p:nvSpPr>
        <p:spPr>
          <a:xfrm>
            <a:off x="4389120" y="3611880"/>
            <a:ext cx="3383280" cy="822960"/>
          </a:xfrm>
          <a:prstGeom prst="rect">
            <a:avLst/>
          </a:prstGeom>
          <a:noFill/>
          <a:ln/>
        </p:spPr>
        <p:txBody>
          <a:bodyPr wrap="square" lIns="0" tIns="0" rIns="0" bIns="0" rtlCol="0" anchor="ctr"/>
          <a:lstStyle/>
          <a:p>
            <a:pPr marL="0" indent="0">
              <a:buNone/>
            </a:pPr>
            <a:r>
              <a:rPr lang="en-US" sz="5400" b="1" dirty="0">
                <a:solidFill>
                  <a:schemeClr val="accent4"/>
                </a:solidFill>
                <a:latin typeface="+mj-lt" pitchFamily="34" charset="0"/>
                <a:ea typeface="+mj-lt" pitchFamily="34" charset="-122"/>
                <a:cs typeface="+mj-lt" pitchFamily="34" charset="-120"/>
              </a:rPr>
              <a:t>50,000</a:t>
            </a:r>
            <a:endParaRPr lang="en-US" sz="5400" dirty="0"/>
          </a:p>
        </p:txBody>
      </p:sp>
      <p:sp>
        <p:nvSpPr>
          <p:cNvPr id="20" name="Text 17"/>
          <p:cNvSpPr txBox="1"/>
          <p:nvPr/>
        </p:nvSpPr>
        <p:spPr>
          <a:xfrm>
            <a:off x="4389120" y="4480560"/>
            <a:ext cx="3383280" cy="640080"/>
          </a:xfrm>
          <a:prstGeom prst="rect">
            <a:avLst/>
          </a:prstGeom>
          <a:noFill/>
          <a:ln/>
        </p:spPr>
        <p:txBody>
          <a:bodyPr wrap="square" lIns="0" tIns="0" rIns="0" bIns="0" rtlCol="0" anchor="t"/>
          <a:lstStyle/>
          <a:p>
            <a:pPr marL="0" indent="0">
              <a:buNone/>
            </a:pPr>
            <a:r>
              <a:rPr lang="en-US" sz="1400" dirty="0">
                <a:solidFill>
                  <a:schemeClr val="tx2"/>
                </a:solidFill>
              </a:rPr>
              <a:t>applicants in each dataset</a:t>
            </a:r>
            <a:endParaRPr lang="en-US" sz="1400" dirty="0"/>
          </a:p>
        </p:txBody>
      </p:sp>
      <p:sp>
        <p:nvSpPr>
          <p:cNvPr id="21" name="Text 18"/>
          <p:cNvSpPr txBox="1"/>
          <p:nvPr/>
        </p:nvSpPr>
        <p:spPr>
          <a:xfrm>
            <a:off x="8229600" y="3611880"/>
            <a:ext cx="3410712" cy="822960"/>
          </a:xfrm>
          <a:prstGeom prst="rect">
            <a:avLst/>
          </a:prstGeom>
          <a:noFill/>
          <a:ln/>
        </p:spPr>
        <p:txBody>
          <a:bodyPr wrap="square" lIns="0" tIns="0" rIns="0" bIns="0" rtlCol="0" anchor="ctr"/>
          <a:lstStyle/>
          <a:p>
            <a:pPr marL="0" indent="0">
              <a:buNone/>
            </a:pPr>
            <a:r>
              <a:rPr lang="en-US" sz="5400" b="1" dirty="0">
                <a:solidFill>
                  <a:schemeClr val="accent3"/>
                </a:solidFill>
                <a:latin typeface="+mj-lt" pitchFamily="34" charset="0"/>
                <a:ea typeface="+mj-lt" pitchFamily="34" charset="-122"/>
                <a:cs typeface="+mj-lt" pitchFamily="34" charset="-120"/>
              </a:rPr>
              <a:t>100%</a:t>
            </a:r>
            <a:endParaRPr lang="en-US" sz="5400" dirty="0"/>
          </a:p>
        </p:txBody>
      </p:sp>
      <p:sp>
        <p:nvSpPr>
          <p:cNvPr id="22" name="Text 19"/>
          <p:cNvSpPr txBox="1"/>
          <p:nvPr/>
        </p:nvSpPr>
        <p:spPr>
          <a:xfrm>
            <a:off x="8229600" y="4480560"/>
            <a:ext cx="3410712" cy="640080"/>
          </a:xfrm>
          <a:prstGeom prst="rect">
            <a:avLst/>
          </a:prstGeom>
          <a:noFill/>
          <a:ln/>
        </p:spPr>
        <p:txBody>
          <a:bodyPr wrap="square" lIns="0" tIns="0" rIns="0" bIns="0" rtlCol="0" anchor="t"/>
          <a:lstStyle/>
          <a:p>
            <a:pPr marL="0" indent="0">
              <a:buNone/>
            </a:pPr>
            <a:r>
              <a:rPr lang="en-US" sz="1400" dirty="0">
                <a:solidFill>
                  <a:schemeClr val="tx2"/>
                </a:solidFill>
              </a:rPr>
              <a:t>of true risks known, so errors can be measured</a:t>
            </a:r>
            <a:endParaRPr lang="en-US" sz="1400" dirty="0"/>
          </a:p>
        </p:txBody>
      </p:sp>
      <p:sp>
        <p:nvSpPr>
          <p:cNvPr id="23" name="Callout"/>
          <p:cNvSpPr/>
          <p:nvPr/>
        </p:nvSpPr>
        <p:spPr>
          <a:xfrm>
            <a:off x="548640" y="5486400"/>
            <a:ext cx="11091672" cy="731520"/>
          </a:xfrm>
          <a:prstGeom prst="roundRect">
            <a:avLst>
              <a:gd name="adj" fmla="val 12500"/>
            </a:avLst>
          </a:prstGeom>
          <a:solidFill>
            <a:schemeClr val="bg2"/>
          </a:solidFill>
          <a:ln/>
        </p:spPr>
      </p:sp>
      <p:sp>
        <p:nvSpPr>
          <p:cNvPr id="24" name="Icon circle Flask"/>
          <p:cNvSpPr/>
          <p:nvPr/>
        </p:nvSpPr>
        <p:spPr>
          <a:xfrm>
            <a:off x="731520" y="5577840"/>
            <a:ext cx="548640" cy="548640"/>
          </a:xfrm>
          <a:prstGeom prst="ellipse">
            <a:avLst/>
          </a:prstGeom>
          <a:solidFill>
            <a:schemeClr val="accent1"/>
          </a:solidFill>
          <a:ln/>
        </p:spPr>
      </p:sp>
      <p:pic>
        <p:nvPicPr>
          <p:cNvPr id="25" name="Image 0" descr="Flask icon"/>
          <p:cNvPicPr>
            <a:picLocks noChangeAspect="1"/>
          </p:cNvPicPr>
          <p:nvPr/>
        </p:nvPicPr>
        <p:blipFill>
          <a:blip r:embed="rId3"/>
          <a:stretch>
            <a:fillRect/>
          </a:stretch>
        </p:blipFill>
        <p:spPr>
          <a:xfrm>
            <a:off x="868680" y="5715000"/>
            <a:ext cx="274320" cy="274320"/>
          </a:xfrm>
          <a:prstGeom prst="rect">
            <a:avLst/>
          </a:prstGeom>
        </p:spPr>
      </p:pic>
      <p:sp>
        <p:nvSpPr>
          <p:cNvPr id="26" name="Text 22"/>
          <p:cNvSpPr txBox="1"/>
          <p:nvPr/>
        </p:nvSpPr>
        <p:spPr>
          <a:xfrm>
            <a:off x="1463040" y="5486400"/>
            <a:ext cx="9966960" cy="731520"/>
          </a:xfrm>
          <a:prstGeom prst="rect">
            <a:avLst/>
          </a:prstGeom>
          <a:noFill/>
          <a:ln/>
        </p:spPr>
        <p:txBody>
          <a:bodyPr wrap="square" lIns="0" tIns="0" rIns="0" bIns="0" rtlCol="0" anchor="ctr"/>
          <a:lstStyle/>
          <a:p>
            <a:pPr marL="0" indent="0">
              <a:buNone/>
            </a:pPr>
            <a:r>
              <a:rPr lang="en-US" sz="1500" dirty="0">
                <a:solidFill>
                  <a:schemeClr val="tx1"/>
                </a:solidFill>
              </a:rPr>
              <a:t>No public dataset reveals the concealed truth, so the paired true-vs-declared design measures detection and repricing directly.</a:t>
            </a:r>
            <a:endParaRPr lang="en-US" sz="1500" dirty="0"/>
          </a:p>
        </p:txBody>
      </p:sp>
      <p:sp>
        <p:nvSpPr>
          <p:cNvPr id="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1 · THE STATUS QUO</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Core Research Objectives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Meridian’s board wants four answers.</a:t>
            </a:r>
            <a:endParaRPr lang="en-US" sz="1500" dirty="0"/>
          </a:p>
        </p:txBody>
      </p:sp>
      <p:sp>
        <p:nvSpPr>
          <p:cNvPr id="6" name="Objective 1"/>
          <p:cNvSpPr/>
          <p:nvPr/>
        </p:nvSpPr>
        <p:spPr>
          <a:xfrm>
            <a:off x="548640" y="1920240"/>
            <a:ext cx="5440680" cy="1737360"/>
          </a:xfrm>
          <a:prstGeom prst="roundRect">
            <a:avLst>
              <a:gd name="adj" fmla="val 5263"/>
            </a:avLst>
          </a:prstGeom>
          <a:solidFill>
            <a:schemeClr val="bg2"/>
          </a:solidFill>
          <a:ln/>
        </p:spPr>
      </p:sp>
      <p:sp>
        <p:nvSpPr>
          <p:cNvPr id="7" name="Number 1"/>
          <p:cNvSpPr txBox="1"/>
          <p:nvPr/>
        </p:nvSpPr>
        <p:spPr>
          <a:xfrm>
            <a:off x="822960" y="2194560"/>
            <a:ext cx="731520" cy="731520"/>
          </a:xfrm>
          <a:prstGeom prst="ellipse">
            <a:avLst/>
          </a:prstGeom>
          <a:solidFill>
            <a:schemeClr val="accent4"/>
          </a:solidFill>
          <a:ln/>
        </p:spPr>
        <p:txBody>
          <a:bodyPr wrap="square" lIns="0" tIns="0" rIns="0" bIns="0" rtlCol="0" anchor="ctr"/>
          <a:lstStyle/>
          <a:p>
            <a:pPr marL="0" indent="0" algn="ctr">
              <a:buNone/>
            </a:pPr>
            <a:r>
              <a:rPr lang="en-US" sz="2100" b="1" dirty="0">
                <a:solidFill>
                  <a:schemeClr val="bg1"/>
                </a:solidFill>
                <a:latin typeface="+mj-lt" pitchFamily="34" charset="0"/>
                <a:ea typeface="+mj-lt" pitchFamily="34" charset="-122"/>
                <a:cs typeface="+mj-lt" pitchFamily="34" charset="-120"/>
              </a:rPr>
              <a:t>1</a:t>
            </a:r>
            <a:endParaRPr lang="en-US" sz="2100" dirty="0"/>
          </a:p>
        </p:txBody>
      </p:sp>
      <p:sp>
        <p:nvSpPr>
          <p:cNvPr id="8" name="Text 5"/>
          <p:cNvSpPr txBox="1"/>
          <p:nvPr/>
        </p:nvSpPr>
        <p:spPr>
          <a:xfrm>
            <a:off x="1828800" y="2148840"/>
            <a:ext cx="3931920" cy="1005840"/>
          </a:xfrm>
          <a:prstGeom prst="rect">
            <a:avLst/>
          </a:prstGeom>
          <a:noFill/>
          <a:ln/>
        </p:spPr>
        <p:txBody>
          <a:bodyPr wrap="square" lIns="0" tIns="0" rIns="0" bIns="0" rtlCol="0" anchor="ctr"/>
          <a:lstStyle/>
          <a:p>
            <a:pPr marL="0" indent="0">
              <a:buNone/>
            </a:pPr>
            <a:r>
              <a:rPr lang="en-US" sz="1900" b="1" dirty="0">
                <a:solidFill>
                  <a:schemeClr val="tx1"/>
                </a:solidFill>
              </a:rPr>
              <a:t>On honest applicants, who prices risk more accurately: rules or ML?</a:t>
            </a:r>
            <a:endParaRPr lang="en-US" sz="1900" dirty="0"/>
          </a:p>
        </p:txBody>
      </p:sp>
      <p:sp>
        <p:nvSpPr>
          <p:cNvPr id="9" name="Text 6"/>
          <p:cNvSpPr txBox="1"/>
          <p:nvPr/>
        </p:nvSpPr>
        <p:spPr>
          <a:xfrm>
            <a:off x="1828800" y="3200400"/>
            <a:ext cx="3931920" cy="274320"/>
          </a:xfrm>
          <a:prstGeom prst="rect">
            <a:avLst/>
          </a:prstGeom>
          <a:noFill/>
          <a:ln/>
        </p:spPr>
        <p:txBody>
          <a:bodyPr wrap="square" lIns="0" tIns="0" rIns="0" bIns="0" rtlCol="0" anchor="t"/>
          <a:lstStyle/>
          <a:p>
            <a:pPr marL="0" indent="0">
              <a:buNone/>
            </a:pPr>
            <a:r>
              <a:rPr lang="en-US" sz="1200" b="1" kern="0" spc="100" dirty="0">
                <a:solidFill>
                  <a:schemeClr val="accent4"/>
                </a:solidFill>
              </a:rPr>
              <a:t>HONEST APPLICANTS · ACCURACY</a:t>
            </a:r>
            <a:endParaRPr lang="en-US" sz="1200" dirty="0"/>
          </a:p>
        </p:txBody>
      </p:sp>
      <p:sp>
        <p:nvSpPr>
          <p:cNvPr id="10" name="Objective 2"/>
          <p:cNvSpPr/>
          <p:nvPr/>
        </p:nvSpPr>
        <p:spPr>
          <a:xfrm>
            <a:off x="6199632" y="1920240"/>
            <a:ext cx="5440680" cy="1737360"/>
          </a:xfrm>
          <a:prstGeom prst="roundRect">
            <a:avLst>
              <a:gd name="adj" fmla="val 5263"/>
            </a:avLst>
          </a:prstGeom>
          <a:solidFill>
            <a:schemeClr val="bg2"/>
          </a:solidFill>
          <a:ln/>
        </p:spPr>
      </p:sp>
      <p:sp>
        <p:nvSpPr>
          <p:cNvPr id="11" name="Number 2"/>
          <p:cNvSpPr txBox="1"/>
          <p:nvPr/>
        </p:nvSpPr>
        <p:spPr>
          <a:xfrm>
            <a:off x="6473952" y="2194560"/>
            <a:ext cx="731520" cy="731520"/>
          </a:xfrm>
          <a:prstGeom prst="ellipse">
            <a:avLst/>
          </a:prstGeom>
          <a:solidFill>
            <a:schemeClr val="accent3"/>
          </a:solidFill>
          <a:ln/>
        </p:spPr>
        <p:txBody>
          <a:bodyPr wrap="square" lIns="0" tIns="0" rIns="0" bIns="0" rtlCol="0" anchor="ctr"/>
          <a:lstStyle/>
          <a:p>
            <a:pPr marL="0" indent="0" algn="ctr">
              <a:buNone/>
            </a:pPr>
            <a:r>
              <a:rPr lang="en-US" sz="2100" b="1" dirty="0">
                <a:solidFill>
                  <a:schemeClr val="bg1"/>
                </a:solidFill>
                <a:latin typeface="+mj-lt" pitchFamily="34" charset="0"/>
                <a:ea typeface="+mj-lt" pitchFamily="34" charset="-122"/>
                <a:cs typeface="+mj-lt" pitchFamily="34" charset="-120"/>
              </a:rPr>
              <a:t>2</a:t>
            </a:r>
            <a:endParaRPr lang="en-US" sz="2100" dirty="0"/>
          </a:p>
        </p:txBody>
      </p:sp>
      <p:sp>
        <p:nvSpPr>
          <p:cNvPr id="12" name="Text 9"/>
          <p:cNvSpPr txBox="1"/>
          <p:nvPr/>
        </p:nvSpPr>
        <p:spPr>
          <a:xfrm>
            <a:off x="7479792" y="2148840"/>
            <a:ext cx="3931920" cy="1005840"/>
          </a:xfrm>
          <a:prstGeom prst="rect">
            <a:avLst/>
          </a:prstGeom>
          <a:noFill/>
          <a:ln/>
        </p:spPr>
        <p:txBody>
          <a:bodyPr wrap="square" lIns="0" tIns="0" rIns="0" bIns="0" rtlCol="0" anchor="ctr"/>
          <a:lstStyle/>
          <a:p>
            <a:pPr marL="0" indent="0">
              <a:buNone/>
            </a:pPr>
            <a:r>
              <a:rPr lang="en-US" sz="1900" b="1" dirty="0">
                <a:solidFill>
                  <a:schemeClr val="tx1"/>
                </a:solidFill>
              </a:rPr>
              <a:t>Do the premiums cover the expected claims?</a:t>
            </a:r>
            <a:endParaRPr lang="en-US" sz="1900" dirty="0"/>
          </a:p>
        </p:txBody>
      </p:sp>
      <p:sp>
        <p:nvSpPr>
          <p:cNvPr id="13" name="Text 10"/>
          <p:cNvSpPr txBox="1"/>
          <p:nvPr/>
        </p:nvSpPr>
        <p:spPr>
          <a:xfrm>
            <a:off x="7479792" y="3200400"/>
            <a:ext cx="3931920" cy="274320"/>
          </a:xfrm>
          <a:prstGeom prst="rect">
            <a:avLst/>
          </a:prstGeom>
          <a:noFill/>
          <a:ln/>
        </p:spPr>
        <p:txBody>
          <a:bodyPr wrap="square" lIns="0" tIns="0" rIns="0" bIns="0" rtlCol="0" anchor="t"/>
          <a:lstStyle/>
          <a:p>
            <a:pPr marL="0" indent="0">
              <a:buNone/>
            </a:pPr>
            <a:r>
              <a:rPr lang="en-US" sz="1200" b="1" kern="0" spc="100" dirty="0">
                <a:solidFill>
                  <a:schemeClr val="accent3"/>
                </a:solidFill>
              </a:rPr>
              <a:t>HONEST APPLICANTS · SOLVENCY</a:t>
            </a:r>
            <a:endParaRPr lang="en-US" sz="1200" dirty="0"/>
          </a:p>
        </p:txBody>
      </p:sp>
      <p:sp>
        <p:nvSpPr>
          <p:cNvPr id="14" name="Objective 3"/>
          <p:cNvSpPr/>
          <p:nvPr/>
        </p:nvSpPr>
        <p:spPr>
          <a:xfrm>
            <a:off x="548640" y="3840480"/>
            <a:ext cx="5440680" cy="1737360"/>
          </a:xfrm>
          <a:prstGeom prst="roundRect">
            <a:avLst>
              <a:gd name="adj" fmla="val 5263"/>
            </a:avLst>
          </a:prstGeom>
          <a:solidFill>
            <a:schemeClr val="bg2"/>
          </a:solidFill>
          <a:ln/>
        </p:spPr>
      </p:sp>
      <p:sp>
        <p:nvSpPr>
          <p:cNvPr id="15" name="Number 3"/>
          <p:cNvSpPr txBox="1"/>
          <p:nvPr/>
        </p:nvSpPr>
        <p:spPr>
          <a:xfrm>
            <a:off x="822960" y="4114800"/>
            <a:ext cx="731520" cy="731520"/>
          </a:xfrm>
          <a:prstGeom prst="ellipse">
            <a:avLst/>
          </a:prstGeom>
          <a:solidFill>
            <a:schemeClr val="accent1"/>
          </a:solidFill>
          <a:ln/>
        </p:spPr>
        <p:txBody>
          <a:bodyPr wrap="square" lIns="0" tIns="0" rIns="0" bIns="0" rtlCol="0" anchor="ctr"/>
          <a:lstStyle/>
          <a:p>
            <a:pPr marL="0" indent="0" algn="ctr">
              <a:buNone/>
            </a:pPr>
            <a:r>
              <a:rPr lang="en-US" sz="2100" b="1" dirty="0">
                <a:solidFill>
                  <a:schemeClr val="bg1"/>
                </a:solidFill>
                <a:latin typeface="+mj-lt" pitchFamily="34" charset="0"/>
                <a:ea typeface="+mj-lt" pitchFamily="34" charset="-122"/>
                <a:cs typeface="+mj-lt" pitchFamily="34" charset="-120"/>
              </a:rPr>
              <a:t>3</a:t>
            </a:r>
            <a:endParaRPr lang="en-US" sz="2100" dirty="0"/>
          </a:p>
        </p:txBody>
      </p:sp>
      <p:sp>
        <p:nvSpPr>
          <p:cNvPr id="16" name="Text 13"/>
          <p:cNvSpPr txBox="1"/>
          <p:nvPr/>
        </p:nvSpPr>
        <p:spPr>
          <a:xfrm>
            <a:off x="1828800" y="4069080"/>
            <a:ext cx="3931920" cy="1005840"/>
          </a:xfrm>
          <a:prstGeom prst="rect">
            <a:avLst/>
          </a:prstGeom>
          <a:noFill/>
          <a:ln/>
        </p:spPr>
        <p:txBody>
          <a:bodyPr wrap="square" lIns="0" tIns="0" rIns="0" bIns="0" rtlCol="0" anchor="ctr"/>
          <a:lstStyle/>
          <a:p>
            <a:pPr marL="0" indent="0">
              <a:buNone/>
            </a:pPr>
            <a:r>
              <a:rPr lang="en-US" sz="1900" b="1" dirty="0">
                <a:solidFill>
                  <a:schemeClr val="tx1"/>
                </a:solidFill>
              </a:rPr>
              <a:t>When applicants lie, what breaks, and who catches the liars better?</a:t>
            </a:r>
            <a:endParaRPr lang="en-US" sz="1900" dirty="0"/>
          </a:p>
        </p:txBody>
      </p:sp>
      <p:sp>
        <p:nvSpPr>
          <p:cNvPr id="17" name="Text 14"/>
          <p:cNvSpPr txBox="1"/>
          <p:nvPr/>
        </p:nvSpPr>
        <p:spPr>
          <a:xfrm>
            <a:off x="1828800" y="5120640"/>
            <a:ext cx="393192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LYING APPLICANTS · DETECTION</a:t>
            </a:r>
            <a:endParaRPr lang="en-US" sz="1200" dirty="0"/>
          </a:p>
        </p:txBody>
      </p:sp>
      <p:sp>
        <p:nvSpPr>
          <p:cNvPr id="18" name="Objective 4"/>
          <p:cNvSpPr/>
          <p:nvPr/>
        </p:nvSpPr>
        <p:spPr>
          <a:xfrm>
            <a:off x="6199632" y="3840480"/>
            <a:ext cx="5440680" cy="1737360"/>
          </a:xfrm>
          <a:prstGeom prst="roundRect">
            <a:avLst>
              <a:gd name="adj" fmla="val 5263"/>
            </a:avLst>
          </a:prstGeom>
          <a:solidFill>
            <a:schemeClr val="bg2"/>
          </a:solidFill>
          <a:ln/>
        </p:spPr>
      </p:sp>
      <p:sp>
        <p:nvSpPr>
          <p:cNvPr id="19" name="Number 4"/>
          <p:cNvSpPr txBox="1"/>
          <p:nvPr/>
        </p:nvSpPr>
        <p:spPr>
          <a:xfrm>
            <a:off x="6473952" y="4114800"/>
            <a:ext cx="731520" cy="731520"/>
          </a:xfrm>
          <a:prstGeom prst="ellipse">
            <a:avLst/>
          </a:prstGeom>
          <a:solidFill>
            <a:schemeClr val="accent6"/>
          </a:solidFill>
          <a:ln/>
        </p:spPr>
        <p:txBody>
          <a:bodyPr wrap="square" lIns="0" tIns="0" rIns="0" bIns="0" rtlCol="0" anchor="ctr"/>
          <a:lstStyle/>
          <a:p>
            <a:pPr marL="0" indent="0" algn="ctr">
              <a:buNone/>
            </a:pPr>
            <a:r>
              <a:rPr lang="en-US" sz="2100" b="1" dirty="0">
                <a:solidFill>
                  <a:schemeClr val="bg1"/>
                </a:solidFill>
                <a:latin typeface="+mj-lt" pitchFamily="34" charset="0"/>
                <a:ea typeface="+mj-lt" pitchFamily="34" charset="-122"/>
                <a:cs typeface="+mj-lt" pitchFamily="34" charset="-120"/>
              </a:rPr>
              <a:t>4</a:t>
            </a:r>
            <a:endParaRPr lang="en-US" sz="2100" dirty="0"/>
          </a:p>
        </p:txBody>
      </p:sp>
      <p:sp>
        <p:nvSpPr>
          <p:cNvPr id="20" name="Text 17"/>
          <p:cNvSpPr txBox="1"/>
          <p:nvPr/>
        </p:nvSpPr>
        <p:spPr>
          <a:xfrm>
            <a:off x="7479792" y="4069080"/>
            <a:ext cx="3931920" cy="1005840"/>
          </a:xfrm>
          <a:prstGeom prst="rect">
            <a:avLst/>
          </a:prstGeom>
          <a:noFill/>
          <a:ln/>
        </p:spPr>
        <p:txBody>
          <a:bodyPr wrap="square" lIns="0" tIns="0" rIns="0" bIns="0" rtlCol="0" anchor="ctr"/>
          <a:lstStyle/>
          <a:p>
            <a:pPr marL="0" indent="0">
              <a:buNone/>
            </a:pPr>
            <a:r>
              <a:rPr lang="en-US" sz="1900" b="1" dirty="0">
                <a:solidFill>
                  <a:schemeClr val="tx1"/>
                </a:solidFill>
              </a:rPr>
              <a:t>When is checking worth its cost, and what penalty stops lying?</a:t>
            </a:r>
            <a:endParaRPr lang="en-US" sz="1900" dirty="0"/>
          </a:p>
        </p:txBody>
      </p:sp>
      <p:sp>
        <p:nvSpPr>
          <p:cNvPr id="21" name="Text 18"/>
          <p:cNvSpPr txBox="1"/>
          <p:nvPr/>
        </p:nvSpPr>
        <p:spPr>
          <a:xfrm>
            <a:off x="7479792" y="5120640"/>
            <a:ext cx="3931920" cy="274320"/>
          </a:xfrm>
          <a:prstGeom prst="rect">
            <a:avLst/>
          </a:prstGeom>
          <a:noFill/>
          <a:ln/>
        </p:spPr>
        <p:txBody>
          <a:bodyPr wrap="square" lIns="0" tIns="0" rIns="0" bIns="0" rtlCol="0" anchor="t"/>
          <a:lstStyle/>
          <a:p>
            <a:pPr marL="0" indent="0">
              <a:buNone/>
            </a:pPr>
            <a:r>
              <a:rPr lang="en-US" sz="1200" b="1" kern="0" spc="100" dirty="0">
                <a:solidFill>
                  <a:schemeClr val="accent6"/>
                </a:solidFill>
              </a:rPr>
              <a:t>ECONOMICS · DETERRENCE</a:t>
            </a:r>
            <a:endParaRPr lang="en-US" sz="1200" dirty="0"/>
          </a:p>
        </p:txBody>
      </p:sp>
      <p:sp>
        <p:nvSpPr>
          <p:cNvPr id="22" name="Goal banner"/>
          <p:cNvSpPr/>
          <p:nvPr/>
        </p:nvSpPr>
        <p:spPr>
          <a:xfrm>
            <a:off x="548640" y="5760720"/>
            <a:ext cx="11091672" cy="502920"/>
          </a:xfrm>
          <a:prstGeom prst="roundRect">
            <a:avLst>
              <a:gd name="adj" fmla="val 18182"/>
            </a:avLst>
          </a:prstGeom>
          <a:solidFill>
            <a:schemeClr val="tx1"/>
          </a:solidFill>
          <a:ln/>
        </p:spPr>
      </p:sp>
      <p:sp>
        <p:nvSpPr>
          <p:cNvPr id="23" name="Text 20"/>
          <p:cNvSpPr txBox="1"/>
          <p:nvPr/>
        </p:nvSpPr>
        <p:spPr>
          <a:xfrm>
            <a:off x="822960" y="5760720"/>
            <a:ext cx="10515600" cy="502920"/>
          </a:xfrm>
          <a:prstGeom prst="rect">
            <a:avLst/>
          </a:prstGeom>
          <a:noFill/>
          <a:ln/>
        </p:spPr>
        <p:txBody>
          <a:bodyPr wrap="square" lIns="0" tIns="0" rIns="0" bIns="0" rtlCol="0" anchor="ctr"/>
          <a:lstStyle/>
          <a:p>
            <a:pPr marL="0" indent="0">
              <a:buNone/>
            </a:pPr>
            <a:r>
              <a:rPr lang="en-US" sz="1500" b="1" dirty="0">
                <a:solidFill>
                  <a:schemeClr val="bg1"/>
                </a:solidFill>
              </a:rPr>
              <a:t>Goal: test both methods fairly and report whoever wins, not prove that ML is better.</a:t>
            </a:r>
            <a:endParaRPr lang="en-US" sz="15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2 · THE INNOVATION</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The Simulation Environment &amp; 15 Datasets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To test fairly, Meridian builds fifteen worlds instead of one.</a:t>
            </a:r>
            <a:endParaRPr lang="en-US" sz="1500" dirty="0"/>
          </a:p>
        </p:txBody>
      </p:sp>
      <p:sp>
        <p:nvSpPr>
          <p:cNvPr id="6" name="Why 15"/>
          <p:cNvSpPr/>
          <p:nvPr/>
        </p:nvSpPr>
        <p:spPr>
          <a:xfrm>
            <a:off x="548640" y="1920240"/>
            <a:ext cx="5394960" cy="4297680"/>
          </a:xfrm>
          <a:prstGeom prst="roundRect">
            <a:avLst>
              <a:gd name="adj" fmla="val 2128"/>
            </a:avLst>
          </a:prstGeom>
          <a:solidFill>
            <a:schemeClr val="bg2"/>
          </a:solidFill>
          <a:ln/>
        </p:spPr>
      </p:sp>
      <p:sp>
        <p:nvSpPr>
          <p:cNvPr id="7" name="Text 4"/>
          <p:cNvSpPr txBox="1"/>
          <p:nvPr/>
        </p:nvSpPr>
        <p:spPr>
          <a:xfrm>
            <a:off x="822960" y="2103120"/>
            <a:ext cx="4846320" cy="365760"/>
          </a:xfrm>
          <a:prstGeom prst="rect">
            <a:avLst/>
          </a:prstGeom>
          <a:noFill/>
          <a:ln/>
        </p:spPr>
        <p:txBody>
          <a:bodyPr wrap="square" lIns="0" tIns="0" rIns="0" bIns="0" rtlCol="0" anchor="t"/>
          <a:lstStyle/>
          <a:p>
            <a:pPr marL="0" indent="0">
              <a:buNone/>
            </a:pPr>
            <a:r>
              <a:rPr lang="en-US" sz="2000" b="1" dirty="0">
                <a:solidFill>
                  <a:schemeClr val="tx1"/>
                </a:solidFill>
                <a:latin typeface="+mj-lt" pitchFamily="34" charset="0"/>
                <a:ea typeface="+mj-lt" pitchFamily="34" charset="-122"/>
                <a:cs typeface="+mj-lt" pitchFamily="34" charset="-120"/>
              </a:rPr>
              <a:t>Why 15 datasets?</a:t>
            </a:r>
            <a:endParaRPr lang="en-US" sz="2000" dirty="0"/>
          </a:p>
        </p:txBody>
      </p:sp>
      <p:sp>
        <p:nvSpPr>
          <p:cNvPr id="8" name="Text 5"/>
          <p:cNvSpPr txBox="1"/>
          <p:nvPr/>
        </p:nvSpPr>
        <p:spPr>
          <a:xfrm>
            <a:off x="822960" y="2560320"/>
            <a:ext cx="4846320" cy="548640"/>
          </a:xfrm>
          <a:prstGeom prst="rect">
            <a:avLst/>
          </a:prstGeom>
          <a:noFill/>
          <a:ln/>
        </p:spPr>
        <p:txBody>
          <a:bodyPr wrap="square" lIns="0" tIns="0" rIns="0" bIns="0" rtlCol="0" anchor="ctr"/>
          <a:lstStyle/>
          <a:p>
            <a:pPr marL="0" indent="0">
              <a:buNone/>
            </a:pPr>
            <a:r>
              <a:rPr lang="en-US" sz="2800" b="1" dirty="0">
                <a:solidFill>
                  <a:schemeClr val="accent3"/>
                </a:solidFill>
                <a:latin typeface="+mj-lt" pitchFamily="34" charset="0"/>
                <a:ea typeface="+mj-lt" pitchFamily="34" charset="-122"/>
                <a:cs typeface="+mj-lt" pitchFamily="34" charset="-120"/>
              </a:rPr>
              <a:t>5 γ values × 3 seeds = 15</a:t>
            </a:r>
            <a:endParaRPr lang="en-US" sz="2800" dirty="0"/>
          </a:p>
        </p:txBody>
      </p:sp>
      <p:sp>
        <p:nvSpPr>
          <p:cNvPr id="9" name="Text 6"/>
          <p:cNvSpPr txBox="1"/>
          <p:nvPr/>
        </p:nvSpPr>
        <p:spPr>
          <a:xfrm>
            <a:off x="822960" y="3246120"/>
            <a:ext cx="4846320" cy="16459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One dataset can crown a method by luck</a:t>
            </a:r>
            <a:endParaRPr lang="en-US" sz="1500" dirty="0"/>
          </a:p>
          <a:p>
            <a:pPr marL="342900" indent="-342900">
              <a:spcAft>
                <a:spcPts val="500"/>
              </a:spcAft>
              <a:buSzPct val="100000"/>
              <a:buChar char="•"/>
            </a:pPr>
            <a:r>
              <a:rPr lang="en-US" sz="1500" dirty="0">
                <a:solidFill>
                  <a:schemeClr val="tx1"/>
                </a:solidFill>
              </a:rPr>
              <a:t>γ: how strongly risk factors compound (real value unknown)</a:t>
            </a:r>
            <a:endParaRPr lang="en-US" sz="1500" dirty="0"/>
          </a:p>
          <a:p>
            <a:pPr marL="342900" indent="-342900">
              <a:spcAft>
                <a:spcPts val="500"/>
              </a:spcAft>
              <a:buSzPct val="100000"/>
              <a:buChar char="•"/>
            </a:pPr>
            <a:r>
              <a:rPr lang="en-US" sz="1500" dirty="0">
                <a:solidFill>
                  <a:schemeClr val="tx1"/>
                </a:solidFill>
              </a:rPr>
              <a:t>Seeds: repeat 3× with fresh randomness</a:t>
            </a:r>
            <a:endParaRPr lang="en-US" sz="1500" dirty="0"/>
          </a:p>
          <a:p>
            <a:pPr marL="342900" indent="-342900">
              <a:spcAft>
                <a:spcPts val="500"/>
              </a:spcAft>
              <a:buSzPct val="100000"/>
              <a:buChar char="•"/>
            </a:pPr>
            <a:r>
              <a:rPr lang="en-US" sz="1500" dirty="0">
                <a:solidFill>
                  <a:schemeClr val="tx1"/>
                </a:solidFill>
              </a:rPr>
              <a:t>Seeds disagree → flagged as unclear</a:t>
            </a:r>
            <a:endParaRPr lang="en-US" sz="1500" dirty="0"/>
          </a:p>
        </p:txBody>
      </p:sp>
      <p:sp>
        <p:nvSpPr>
          <p:cNvPr id="10" name="Text 7"/>
          <p:cNvSpPr txBox="1"/>
          <p:nvPr/>
        </p:nvSpPr>
        <p:spPr>
          <a:xfrm>
            <a:off x="822960" y="4846320"/>
            <a:ext cx="1600200" cy="457200"/>
          </a:xfrm>
          <a:prstGeom prst="rect">
            <a:avLst/>
          </a:prstGeom>
          <a:noFill/>
          <a:ln/>
        </p:spPr>
        <p:txBody>
          <a:bodyPr wrap="square" lIns="0" tIns="0" rIns="0" bIns="0" rtlCol="0" anchor="ctr"/>
          <a:lstStyle/>
          <a:p>
            <a:pPr marL="0" indent="0">
              <a:buNone/>
            </a:pPr>
            <a:r>
              <a:rPr lang="en-US" sz="2600" b="1" dirty="0">
                <a:solidFill>
                  <a:schemeClr val="accent4"/>
                </a:solidFill>
                <a:latin typeface="+mj-lt" pitchFamily="34" charset="0"/>
                <a:ea typeface="+mj-lt" pitchFamily="34" charset="-122"/>
                <a:cs typeface="+mj-lt" pitchFamily="34" charset="-120"/>
              </a:rPr>
              <a:t>50,000</a:t>
            </a:r>
            <a:endParaRPr lang="en-US" sz="2600" dirty="0"/>
          </a:p>
        </p:txBody>
      </p:sp>
      <p:sp>
        <p:nvSpPr>
          <p:cNvPr id="11" name="Text 8"/>
          <p:cNvSpPr txBox="1"/>
          <p:nvPr/>
        </p:nvSpPr>
        <p:spPr>
          <a:xfrm>
            <a:off x="822960" y="5349240"/>
            <a:ext cx="1600200" cy="548640"/>
          </a:xfrm>
          <a:prstGeom prst="rect">
            <a:avLst/>
          </a:prstGeom>
          <a:noFill/>
          <a:ln/>
        </p:spPr>
        <p:txBody>
          <a:bodyPr wrap="square" lIns="0" tIns="0" rIns="0" bIns="0" rtlCol="0" anchor="t"/>
          <a:lstStyle/>
          <a:p>
            <a:pPr marL="0" indent="0">
              <a:buNone/>
            </a:pPr>
            <a:r>
              <a:rPr lang="en-US" sz="1200" dirty="0">
                <a:solidFill>
                  <a:schemeClr val="tx2"/>
                </a:solidFill>
              </a:rPr>
              <a:t>applicants each</a:t>
            </a:r>
            <a:endParaRPr lang="en-US" sz="1200" dirty="0"/>
          </a:p>
        </p:txBody>
      </p:sp>
      <p:sp>
        <p:nvSpPr>
          <p:cNvPr id="12" name="Text 9"/>
          <p:cNvSpPr txBox="1"/>
          <p:nvPr/>
        </p:nvSpPr>
        <p:spPr>
          <a:xfrm>
            <a:off x="2514600" y="4846320"/>
            <a:ext cx="1600200" cy="457200"/>
          </a:xfrm>
          <a:prstGeom prst="rect">
            <a:avLst/>
          </a:prstGeom>
          <a:noFill/>
          <a:ln/>
        </p:spPr>
        <p:txBody>
          <a:bodyPr wrap="square" lIns="0" tIns="0" rIns="0" bIns="0" rtlCol="0" anchor="ctr"/>
          <a:lstStyle/>
          <a:p>
            <a:pPr marL="0" indent="0">
              <a:buNone/>
            </a:pPr>
            <a:r>
              <a:rPr lang="en-US" sz="2600" b="1" dirty="0">
                <a:solidFill>
                  <a:schemeClr val="accent4"/>
                </a:solidFill>
                <a:latin typeface="+mj-lt" pitchFamily="34" charset="0"/>
                <a:ea typeface="+mj-lt" pitchFamily="34" charset="-122"/>
                <a:cs typeface="+mj-lt" pitchFamily="34" charset="-120"/>
              </a:rPr>
              <a:t>34</a:t>
            </a:r>
            <a:endParaRPr lang="en-US" sz="2600" dirty="0"/>
          </a:p>
        </p:txBody>
      </p:sp>
      <p:sp>
        <p:nvSpPr>
          <p:cNvPr id="13" name="Text 10"/>
          <p:cNvSpPr txBox="1"/>
          <p:nvPr/>
        </p:nvSpPr>
        <p:spPr>
          <a:xfrm>
            <a:off x="2514600" y="5349240"/>
            <a:ext cx="1600200" cy="548640"/>
          </a:xfrm>
          <a:prstGeom prst="rect">
            <a:avLst/>
          </a:prstGeom>
          <a:noFill/>
          <a:ln/>
        </p:spPr>
        <p:txBody>
          <a:bodyPr wrap="square" lIns="0" tIns="0" rIns="0" bIns="0" rtlCol="0" anchor="t"/>
          <a:lstStyle/>
          <a:p>
            <a:pPr marL="0" indent="0">
              <a:buNone/>
            </a:pPr>
            <a:r>
              <a:rPr lang="en-US" sz="1200" dirty="0">
                <a:solidFill>
                  <a:schemeClr val="tx2"/>
                </a:solidFill>
              </a:rPr>
              <a:t>columns (true + declared)</a:t>
            </a:r>
            <a:endParaRPr lang="en-US" sz="1200" dirty="0"/>
          </a:p>
        </p:txBody>
      </p:sp>
      <p:sp>
        <p:nvSpPr>
          <p:cNvPr id="14" name="Text 11"/>
          <p:cNvSpPr txBox="1"/>
          <p:nvPr/>
        </p:nvSpPr>
        <p:spPr>
          <a:xfrm>
            <a:off x="4206240" y="4846320"/>
            <a:ext cx="1600200" cy="457200"/>
          </a:xfrm>
          <a:prstGeom prst="rect">
            <a:avLst/>
          </a:prstGeom>
          <a:noFill/>
          <a:ln/>
        </p:spPr>
        <p:txBody>
          <a:bodyPr wrap="square" lIns="0" tIns="0" rIns="0" bIns="0" rtlCol="0" anchor="ctr"/>
          <a:lstStyle/>
          <a:p>
            <a:pPr marL="0" indent="0">
              <a:buNone/>
            </a:pPr>
            <a:r>
              <a:rPr lang="en-US" sz="2600" b="1" dirty="0">
                <a:solidFill>
                  <a:schemeClr val="accent4"/>
                </a:solidFill>
                <a:latin typeface="+mj-lt" pitchFamily="34" charset="0"/>
                <a:ea typeface="+mj-lt" pitchFamily="34" charset="-122"/>
                <a:cs typeface="+mj-lt" pitchFamily="34" charset="-120"/>
              </a:rPr>
              <a:t>≥ 88</a:t>
            </a:r>
            <a:endParaRPr lang="en-US" sz="2600" dirty="0"/>
          </a:p>
        </p:txBody>
      </p:sp>
      <p:sp>
        <p:nvSpPr>
          <p:cNvPr id="15" name="Text 12"/>
          <p:cNvSpPr txBox="1"/>
          <p:nvPr/>
        </p:nvSpPr>
        <p:spPr>
          <a:xfrm>
            <a:off x="4206240" y="5349240"/>
            <a:ext cx="1600200" cy="548640"/>
          </a:xfrm>
          <a:prstGeom prst="rect">
            <a:avLst/>
          </a:prstGeom>
          <a:noFill/>
          <a:ln/>
        </p:spPr>
        <p:txBody>
          <a:bodyPr wrap="square" lIns="0" tIns="0" rIns="0" bIns="0" rtlCol="0" anchor="t"/>
          <a:lstStyle/>
          <a:p>
            <a:pPr marL="0" indent="0">
              <a:buNone/>
            </a:pPr>
            <a:r>
              <a:rPr lang="en-US" sz="1200" dirty="0">
                <a:solidFill>
                  <a:schemeClr val="tx2"/>
                </a:solidFill>
              </a:rPr>
              <a:t>claims in smallest group</a:t>
            </a:r>
            <a:endParaRPr lang="en-US" sz="1200" dirty="0"/>
          </a:p>
        </p:txBody>
      </p:sp>
      <p:sp>
        <p:nvSpPr>
          <p:cNvPr id="16" name="Gamma dial"/>
          <p:cNvSpPr/>
          <p:nvPr/>
        </p:nvSpPr>
        <p:spPr>
          <a:xfrm>
            <a:off x="6217920" y="1920240"/>
            <a:ext cx="5422392" cy="4297680"/>
          </a:xfrm>
          <a:prstGeom prst="roundRect">
            <a:avLst>
              <a:gd name="adj" fmla="val 2128"/>
            </a:avLst>
          </a:prstGeom>
          <a:solidFill>
            <a:schemeClr val="bg2"/>
          </a:solidFill>
          <a:ln/>
        </p:spPr>
      </p:sp>
      <p:sp>
        <p:nvSpPr>
          <p:cNvPr id="17" name="Text 14"/>
          <p:cNvSpPr txBox="1"/>
          <p:nvPr/>
        </p:nvSpPr>
        <p:spPr>
          <a:xfrm>
            <a:off x="6492240" y="2103120"/>
            <a:ext cx="4846320" cy="365760"/>
          </a:xfrm>
          <a:prstGeom prst="rect">
            <a:avLst/>
          </a:prstGeom>
          <a:noFill/>
          <a:ln/>
        </p:spPr>
        <p:txBody>
          <a:bodyPr wrap="square" lIns="0" tIns="0" rIns="0" bIns="0" rtlCol="0" anchor="t"/>
          <a:lstStyle/>
          <a:p>
            <a:pPr marL="0" indent="0">
              <a:buNone/>
            </a:pPr>
            <a:r>
              <a:rPr lang="en-US" sz="2000" b="1" dirty="0">
                <a:solidFill>
                  <a:schemeClr val="tx1"/>
                </a:solidFill>
                <a:latin typeface="+mj-lt" pitchFamily="34" charset="0"/>
                <a:ea typeface="+mj-lt" pitchFamily="34" charset="-122"/>
                <a:cs typeface="+mj-lt" pitchFamily="34" charset="-120"/>
              </a:rPr>
              <a:t>The interaction dial (γ)</a:t>
            </a:r>
            <a:endParaRPr lang="en-US" sz="2000" dirty="0"/>
          </a:p>
        </p:txBody>
      </p:sp>
      <p:sp>
        <p:nvSpPr>
          <p:cNvPr id="18" name="Text 15"/>
          <p:cNvSpPr txBox="1"/>
          <p:nvPr/>
        </p:nvSpPr>
        <p:spPr>
          <a:xfrm>
            <a:off x="6492240" y="2514600"/>
            <a:ext cx="4846320" cy="320040"/>
          </a:xfrm>
          <a:prstGeom prst="rect">
            <a:avLst/>
          </a:prstGeom>
          <a:noFill/>
          <a:ln/>
        </p:spPr>
        <p:txBody>
          <a:bodyPr wrap="square" lIns="0" tIns="0" rIns="0" bIns="0" rtlCol="0" anchor="t"/>
          <a:lstStyle/>
          <a:p>
            <a:pPr marL="0" indent="0">
              <a:buNone/>
            </a:pPr>
            <a:r>
              <a:rPr lang="en-US" sz="1400" dirty="0">
                <a:solidFill>
                  <a:schemeClr val="tx2"/>
                </a:solidFill>
              </a:rPr>
              <a:t>How much do risk factors make each other worse?</a:t>
            </a:r>
            <a:endParaRPr lang="en-US" sz="1400" dirty="0"/>
          </a:p>
        </p:txBody>
      </p:sp>
      <p:sp>
        <p:nvSpPr>
          <p:cNvPr id="19" name="Dial line"/>
          <p:cNvSpPr/>
          <p:nvPr/>
        </p:nvSpPr>
        <p:spPr>
          <a:xfrm>
            <a:off x="6766560" y="3337560"/>
            <a:ext cx="4480560" cy="0"/>
          </a:xfrm>
          <a:prstGeom prst="line">
            <a:avLst/>
          </a:prstGeom>
          <a:noFill/>
          <a:ln w="25400">
            <a:solidFill>
              <a:schemeClr val="accent5"/>
            </a:solidFill>
            <a:prstDash val="solid"/>
          </a:ln>
        </p:spPr>
      </p:sp>
      <p:sp>
        <p:nvSpPr>
          <p:cNvPr id="20" name="Dial dot"/>
          <p:cNvSpPr/>
          <p:nvPr/>
        </p:nvSpPr>
        <p:spPr>
          <a:xfrm>
            <a:off x="6611112" y="3182112"/>
            <a:ext cx="310896" cy="310896"/>
          </a:xfrm>
          <a:prstGeom prst="ellipse">
            <a:avLst/>
          </a:prstGeom>
          <a:solidFill>
            <a:schemeClr val="accent4"/>
          </a:solidFill>
          <a:ln/>
        </p:spPr>
      </p:sp>
      <p:sp>
        <p:nvSpPr>
          <p:cNvPr id="21" name="Text 18"/>
          <p:cNvSpPr txBox="1"/>
          <p:nvPr/>
        </p:nvSpPr>
        <p:spPr>
          <a:xfrm>
            <a:off x="6400800" y="3566160"/>
            <a:ext cx="731520" cy="274320"/>
          </a:xfrm>
          <a:prstGeom prst="rect">
            <a:avLst/>
          </a:prstGeom>
          <a:noFill/>
          <a:ln/>
        </p:spPr>
        <p:txBody>
          <a:bodyPr wrap="square" lIns="0" tIns="0" rIns="0" bIns="0" rtlCol="0" anchor="t"/>
          <a:lstStyle/>
          <a:p>
            <a:pPr marL="0" indent="0" algn="ctr">
              <a:buNone/>
            </a:pPr>
            <a:r>
              <a:rPr lang="en-US" sz="1400" b="1" dirty="0">
                <a:solidFill>
                  <a:schemeClr val="tx1"/>
                </a:solidFill>
              </a:rPr>
              <a:t>0</a:t>
            </a:r>
            <a:endParaRPr lang="en-US" sz="1400" dirty="0"/>
          </a:p>
        </p:txBody>
      </p:sp>
      <p:sp>
        <p:nvSpPr>
          <p:cNvPr id="22" name="Dial dot"/>
          <p:cNvSpPr/>
          <p:nvPr/>
        </p:nvSpPr>
        <p:spPr>
          <a:xfrm>
            <a:off x="7731252" y="3182112"/>
            <a:ext cx="310896" cy="310896"/>
          </a:xfrm>
          <a:prstGeom prst="ellipse">
            <a:avLst/>
          </a:prstGeom>
          <a:solidFill>
            <a:schemeClr val="accent5"/>
          </a:solidFill>
          <a:ln/>
        </p:spPr>
      </p:sp>
      <p:sp>
        <p:nvSpPr>
          <p:cNvPr id="23" name="Text 20"/>
          <p:cNvSpPr txBox="1"/>
          <p:nvPr/>
        </p:nvSpPr>
        <p:spPr>
          <a:xfrm>
            <a:off x="7520940" y="3566160"/>
            <a:ext cx="731520" cy="274320"/>
          </a:xfrm>
          <a:prstGeom prst="rect">
            <a:avLst/>
          </a:prstGeom>
          <a:noFill/>
          <a:ln/>
        </p:spPr>
        <p:txBody>
          <a:bodyPr wrap="square" lIns="0" tIns="0" rIns="0" bIns="0" rtlCol="0" anchor="t"/>
          <a:lstStyle/>
          <a:p>
            <a:pPr marL="0" indent="0" algn="ctr">
              <a:buNone/>
            </a:pPr>
            <a:r>
              <a:rPr lang="en-US" sz="1400" b="1" dirty="0">
                <a:solidFill>
                  <a:schemeClr val="tx1"/>
                </a:solidFill>
              </a:rPr>
              <a:t>0.25</a:t>
            </a:r>
            <a:endParaRPr lang="en-US" sz="1400" dirty="0"/>
          </a:p>
        </p:txBody>
      </p:sp>
      <p:sp>
        <p:nvSpPr>
          <p:cNvPr id="24" name="Dial dot"/>
          <p:cNvSpPr/>
          <p:nvPr/>
        </p:nvSpPr>
        <p:spPr>
          <a:xfrm>
            <a:off x="8851392" y="3182112"/>
            <a:ext cx="310896" cy="310896"/>
          </a:xfrm>
          <a:prstGeom prst="ellipse">
            <a:avLst/>
          </a:prstGeom>
          <a:solidFill>
            <a:schemeClr val="accent5"/>
          </a:solidFill>
          <a:ln/>
        </p:spPr>
      </p:sp>
      <p:sp>
        <p:nvSpPr>
          <p:cNvPr id="25" name="Text 22"/>
          <p:cNvSpPr txBox="1"/>
          <p:nvPr/>
        </p:nvSpPr>
        <p:spPr>
          <a:xfrm>
            <a:off x="8641080" y="3566160"/>
            <a:ext cx="731520" cy="274320"/>
          </a:xfrm>
          <a:prstGeom prst="rect">
            <a:avLst/>
          </a:prstGeom>
          <a:noFill/>
          <a:ln/>
        </p:spPr>
        <p:txBody>
          <a:bodyPr wrap="square" lIns="0" tIns="0" rIns="0" bIns="0" rtlCol="0" anchor="t"/>
          <a:lstStyle/>
          <a:p>
            <a:pPr marL="0" indent="0" algn="ctr">
              <a:buNone/>
            </a:pPr>
            <a:r>
              <a:rPr lang="en-US" sz="1400" b="1" dirty="0">
                <a:solidFill>
                  <a:schemeClr val="tx1"/>
                </a:solidFill>
              </a:rPr>
              <a:t>0.5</a:t>
            </a:r>
            <a:endParaRPr lang="en-US" sz="1400" dirty="0"/>
          </a:p>
        </p:txBody>
      </p:sp>
      <p:sp>
        <p:nvSpPr>
          <p:cNvPr id="26" name="Dial dot"/>
          <p:cNvSpPr/>
          <p:nvPr/>
        </p:nvSpPr>
        <p:spPr>
          <a:xfrm>
            <a:off x="9971532" y="3182112"/>
            <a:ext cx="310896" cy="310896"/>
          </a:xfrm>
          <a:prstGeom prst="ellipse">
            <a:avLst/>
          </a:prstGeom>
          <a:solidFill>
            <a:schemeClr val="accent5"/>
          </a:solidFill>
          <a:ln/>
        </p:spPr>
      </p:sp>
      <p:sp>
        <p:nvSpPr>
          <p:cNvPr id="27" name="Text 24"/>
          <p:cNvSpPr txBox="1"/>
          <p:nvPr/>
        </p:nvSpPr>
        <p:spPr>
          <a:xfrm>
            <a:off x="9761220" y="3566160"/>
            <a:ext cx="731520" cy="274320"/>
          </a:xfrm>
          <a:prstGeom prst="rect">
            <a:avLst/>
          </a:prstGeom>
          <a:noFill/>
          <a:ln/>
        </p:spPr>
        <p:txBody>
          <a:bodyPr wrap="square" lIns="0" tIns="0" rIns="0" bIns="0" rtlCol="0" anchor="t"/>
          <a:lstStyle/>
          <a:p>
            <a:pPr marL="0" indent="0" algn="ctr">
              <a:buNone/>
            </a:pPr>
            <a:r>
              <a:rPr lang="en-US" sz="1400" b="1" dirty="0">
                <a:solidFill>
                  <a:schemeClr val="tx1"/>
                </a:solidFill>
              </a:rPr>
              <a:t>0.75</a:t>
            </a:r>
            <a:endParaRPr lang="en-US" sz="1400" dirty="0"/>
          </a:p>
        </p:txBody>
      </p:sp>
      <p:sp>
        <p:nvSpPr>
          <p:cNvPr id="28" name="Dial dot"/>
          <p:cNvSpPr/>
          <p:nvPr/>
        </p:nvSpPr>
        <p:spPr>
          <a:xfrm>
            <a:off x="11091672" y="3182112"/>
            <a:ext cx="310896" cy="310896"/>
          </a:xfrm>
          <a:prstGeom prst="ellipse">
            <a:avLst/>
          </a:prstGeom>
          <a:solidFill>
            <a:schemeClr val="accent1"/>
          </a:solidFill>
          <a:ln/>
        </p:spPr>
      </p:sp>
      <p:sp>
        <p:nvSpPr>
          <p:cNvPr id="29" name="Text 26"/>
          <p:cNvSpPr txBox="1"/>
          <p:nvPr/>
        </p:nvSpPr>
        <p:spPr>
          <a:xfrm>
            <a:off x="10881360" y="3566160"/>
            <a:ext cx="731520" cy="274320"/>
          </a:xfrm>
          <a:prstGeom prst="rect">
            <a:avLst/>
          </a:prstGeom>
          <a:noFill/>
          <a:ln/>
        </p:spPr>
        <p:txBody>
          <a:bodyPr wrap="square" lIns="0" tIns="0" rIns="0" bIns="0" rtlCol="0" anchor="t"/>
          <a:lstStyle/>
          <a:p>
            <a:pPr marL="0" indent="0" algn="ctr">
              <a:buNone/>
            </a:pPr>
            <a:r>
              <a:rPr lang="en-US" sz="1400" b="1" dirty="0">
                <a:solidFill>
                  <a:schemeClr val="tx1"/>
                </a:solidFill>
              </a:rPr>
              <a:t>1</a:t>
            </a:r>
            <a:endParaRPr lang="en-US" sz="1400" dirty="0"/>
          </a:p>
        </p:txBody>
      </p:sp>
      <p:sp>
        <p:nvSpPr>
          <p:cNvPr id="30" name="Text 27"/>
          <p:cNvSpPr txBox="1"/>
          <p:nvPr/>
        </p:nvSpPr>
        <p:spPr>
          <a:xfrm>
            <a:off x="6492240" y="3931920"/>
            <a:ext cx="2194560" cy="274320"/>
          </a:xfrm>
          <a:prstGeom prst="rect">
            <a:avLst/>
          </a:prstGeom>
          <a:noFill/>
          <a:ln/>
        </p:spPr>
        <p:txBody>
          <a:bodyPr wrap="square" lIns="0" tIns="0" rIns="0" bIns="0" rtlCol="0" anchor="t"/>
          <a:lstStyle/>
          <a:p>
            <a:pPr marL="0" indent="0">
              <a:buNone/>
            </a:pPr>
            <a:r>
              <a:rPr lang="en-US" sz="1200" dirty="0">
                <a:solidFill>
                  <a:schemeClr val="tx2"/>
                </a:solidFill>
              </a:rPr>
              <a:t>risks simply multiply</a:t>
            </a:r>
            <a:endParaRPr lang="en-US" sz="1200" dirty="0"/>
          </a:p>
        </p:txBody>
      </p:sp>
      <p:sp>
        <p:nvSpPr>
          <p:cNvPr id="31" name="Text 28"/>
          <p:cNvSpPr txBox="1"/>
          <p:nvPr/>
        </p:nvSpPr>
        <p:spPr>
          <a:xfrm>
            <a:off x="9235440" y="3931920"/>
            <a:ext cx="2103120" cy="274320"/>
          </a:xfrm>
          <a:prstGeom prst="rect">
            <a:avLst/>
          </a:prstGeom>
          <a:noFill/>
          <a:ln/>
        </p:spPr>
        <p:txBody>
          <a:bodyPr wrap="square" lIns="0" tIns="0" rIns="0" bIns="0" rtlCol="0" anchor="t"/>
          <a:lstStyle/>
          <a:p>
            <a:pPr marL="0" indent="0" algn="r">
              <a:buNone/>
            </a:pPr>
            <a:r>
              <a:rPr lang="en-US" sz="1200" dirty="0">
                <a:solidFill>
                  <a:schemeClr val="tx2"/>
                </a:solidFill>
              </a:rPr>
              <a:t>risks compound</a:t>
            </a:r>
            <a:endParaRPr lang="en-US" sz="1200" dirty="0"/>
          </a:p>
        </p:txBody>
      </p:sp>
      <p:sp>
        <p:nvSpPr>
          <p:cNvPr id="32" name="Text 29"/>
          <p:cNvSpPr txBox="1"/>
          <p:nvPr/>
        </p:nvSpPr>
        <p:spPr>
          <a:xfrm>
            <a:off x="6492240" y="4389120"/>
            <a:ext cx="2103120" cy="685800"/>
          </a:xfrm>
          <a:prstGeom prst="rect">
            <a:avLst/>
          </a:prstGeom>
          <a:noFill/>
          <a:ln/>
        </p:spPr>
        <p:txBody>
          <a:bodyPr wrap="square" lIns="0" tIns="0" rIns="0" bIns="0" rtlCol="0" anchor="ctr"/>
          <a:lstStyle/>
          <a:p>
            <a:pPr marL="0" indent="0">
              <a:buNone/>
            </a:pPr>
            <a:r>
              <a:rPr lang="en-US" sz="4000" b="1" dirty="0">
                <a:solidFill>
                  <a:schemeClr val="accent4"/>
                </a:solidFill>
                <a:latin typeface="+mj-lt" pitchFamily="34" charset="0"/>
                <a:ea typeface="+mj-lt" pitchFamily="34" charset="-122"/>
                <a:cs typeface="+mj-lt" pitchFamily="34" charset="-120"/>
              </a:rPr>
              <a:t>5.3×</a:t>
            </a:r>
            <a:endParaRPr lang="en-US" sz="4000" dirty="0"/>
          </a:p>
        </p:txBody>
      </p:sp>
      <p:sp>
        <p:nvSpPr>
          <p:cNvPr id="33" name="Text 30"/>
          <p:cNvSpPr txBox="1"/>
          <p:nvPr/>
        </p:nvSpPr>
        <p:spPr>
          <a:xfrm>
            <a:off x="6492240" y="5120640"/>
            <a:ext cx="2103120" cy="640080"/>
          </a:xfrm>
          <a:prstGeom prst="rect">
            <a:avLst/>
          </a:prstGeom>
          <a:noFill/>
          <a:ln/>
        </p:spPr>
        <p:txBody>
          <a:bodyPr wrap="square" lIns="0" tIns="0" rIns="0" bIns="0" rtlCol="0" anchor="t"/>
          <a:lstStyle/>
          <a:p>
            <a:pPr marL="0" indent="0">
              <a:buNone/>
            </a:pPr>
            <a:r>
              <a:rPr lang="en-US" sz="1400" dirty="0">
                <a:solidFill>
                  <a:schemeClr val="tx2"/>
                </a:solidFill>
              </a:rPr>
              <a:t>risk at γ = 0</a:t>
            </a:r>
            <a:endParaRPr lang="en-US" sz="1400" dirty="0"/>
          </a:p>
        </p:txBody>
      </p:sp>
      <p:sp>
        <p:nvSpPr>
          <p:cNvPr id="34" name="Arrow"/>
          <p:cNvSpPr/>
          <p:nvPr/>
        </p:nvSpPr>
        <p:spPr>
          <a:xfrm>
            <a:off x="8641080" y="4572000"/>
            <a:ext cx="457200" cy="365760"/>
          </a:xfrm>
          <a:prstGeom prst="rightArrow">
            <a:avLst/>
          </a:prstGeom>
          <a:solidFill>
            <a:schemeClr val="accent5"/>
          </a:solidFill>
          <a:ln/>
        </p:spPr>
      </p:sp>
      <p:sp>
        <p:nvSpPr>
          <p:cNvPr id="35" name="Text 32"/>
          <p:cNvSpPr txBox="1"/>
          <p:nvPr/>
        </p:nvSpPr>
        <p:spPr>
          <a:xfrm>
            <a:off x="9235440" y="4389120"/>
            <a:ext cx="2103120" cy="685800"/>
          </a:xfrm>
          <a:prstGeom prst="rect">
            <a:avLst/>
          </a:prstGeom>
          <a:noFill/>
          <a:ln/>
        </p:spPr>
        <p:txBody>
          <a:bodyPr wrap="square" lIns="0" tIns="0" rIns="0" bIns="0" rtlCol="0" anchor="ctr"/>
          <a:lstStyle/>
          <a:p>
            <a:pPr marL="0" indent="0">
              <a:buNone/>
            </a:pPr>
            <a:r>
              <a:rPr lang="en-US" sz="4000" b="1" dirty="0">
                <a:solidFill>
                  <a:schemeClr val="accent1"/>
                </a:solidFill>
                <a:latin typeface="+mj-lt" pitchFamily="34" charset="0"/>
                <a:ea typeface="+mj-lt" pitchFamily="34" charset="-122"/>
                <a:cs typeface="+mj-lt" pitchFamily="34" charset="-120"/>
              </a:rPr>
              <a:t>8.4×</a:t>
            </a:r>
            <a:endParaRPr lang="en-US" sz="4000" dirty="0"/>
          </a:p>
        </p:txBody>
      </p:sp>
      <p:sp>
        <p:nvSpPr>
          <p:cNvPr id="36" name="Text 33"/>
          <p:cNvSpPr txBox="1"/>
          <p:nvPr/>
        </p:nvSpPr>
        <p:spPr>
          <a:xfrm>
            <a:off x="9235440" y="5120640"/>
            <a:ext cx="2103120" cy="640080"/>
          </a:xfrm>
          <a:prstGeom prst="rect">
            <a:avLst/>
          </a:prstGeom>
          <a:noFill/>
          <a:ln/>
        </p:spPr>
        <p:txBody>
          <a:bodyPr wrap="square" lIns="0" tIns="0" rIns="0" bIns="0" rtlCol="0" anchor="t"/>
          <a:lstStyle/>
          <a:p>
            <a:pPr marL="0" indent="0">
              <a:buNone/>
            </a:pPr>
            <a:r>
              <a:rPr lang="en-US" sz="1400" dirty="0">
                <a:solidFill>
                  <a:schemeClr val="tx2"/>
                </a:solidFill>
              </a:rPr>
              <a:t>risk at γ = 1</a:t>
            </a:r>
            <a:endParaRPr lang="en-US" sz="1400" dirty="0"/>
          </a:p>
        </p:txBody>
      </p:sp>
      <p:sp>
        <p:nvSpPr>
          <p:cNvPr id="37" name="Text 34"/>
          <p:cNvSpPr txBox="1"/>
          <p:nvPr/>
        </p:nvSpPr>
        <p:spPr>
          <a:xfrm>
            <a:off x="6492240" y="5577840"/>
            <a:ext cx="4846320" cy="457200"/>
          </a:xfrm>
          <a:prstGeom prst="rect">
            <a:avLst/>
          </a:prstGeom>
          <a:noFill/>
          <a:ln/>
        </p:spPr>
        <p:txBody>
          <a:bodyPr wrap="square" lIns="0" tIns="0" rIns="0" bIns="0" rtlCol="0" anchor="t"/>
          <a:lstStyle/>
          <a:p>
            <a:pPr marL="0" indent="0">
              <a:buNone/>
            </a:pPr>
            <a:r>
              <a:rPr lang="en-US" sz="1200" dirty="0">
                <a:solidFill>
                  <a:schemeClr val="tx2"/>
                </a:solidFill>
              </a:rPr>
              <a:t>Smoker + high blood pressure + high BMI vs none. Average claim rate fixed at 5.5% at every γ.</a:t>
            </a:r>
            <a:endParaRPr lang="en-US" sz="1200" dirty="0"/>
          </a:p>
        </p:txBody>
      </p:sp>
      <p:sp>
        <p:nvSpPr>
          <p:cNvPr id="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2 · THE INNOVATION</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Traditional Rule-Based System (Arm A)</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Meridian’s status quo: a table, some multipliers and a cut-off.</a:t>
            </a:r>
            <a:endParaRPr lang="en-US" sz="1500" dirty="0"/>
          </a:p>
        </p:txBody>
      </p:sp>
      <p:sp>
        <p:nvSpPr>
          <p:cNvPr id="6" name="Chevron"/>
          <p:cNvSpPr txBox="1"/>
          <p:nvPr/>
        </p:nvSpPr>
        <p:spPr>
          <a:xfrm>
            <a:off x="548640" y="1920240"/>
            <a:ext cx="2926080" cy="868680"/>
          </a:xfrm>
          <a:prstGeom prst="chevron">
            <a:avLst/>
          </a:prstGeom>
          <a:solidFill>
            <a:schemeClr val="accent4"/>
          </a:solidFill>
          <a:ln/>
        </p:spPr>
        <p:txBody>
          <a:bodyPr wrap="square" lIns="0" tIns="3810" rIns="3810" bIns="0" rtlCol="0" anchor="ctr"/>
          <a:lstStyle/>
          <a:p>
            <a:pPr marL="0" indent="0" algn="ctr">
              <a:buNone/>
            </a:pPr>
            <a:r>
              <a:rPr lang="en-US" sz="1400" b="1" dirty="0">
                <a:solidFill>
                  <a:schemeClr val="bg1"/>
                </a:solidFill>
              </a:rPr>
              <a:t>Base rate by age band &amp; sex</a:t>
            </a:r>
            <a:endParaRPr lang="en-US" sz="1400" dirty="0"/>
          </a:p>
        </p:txBody>
      </p:sp>
      <p:sp>
        <p:nvSpPr>
          <p:cNvPr id="7" name="Chevron"/>
          <p:cNvSpPr txBox="1"/>
          <p:nvPr/>
        </p:nvSpPr>
        <p:spPr>
          <a:xfrm>
            <a:off x="3337560" y="1920240"/>
            <a:ext cx="2926080" cy="868680"/>
          </a:xfrm>
          <a:prstGeom prst="chevron">
            <a:avLst/>
          </a:prstGeom>
          <a:solidFill>
            <a:schemeClr val="accent1"/>
          </a:solidFill>
          <a:ln/>
        </p:spPr>
        <p:txBody>
          <a:bodyPr wrap="square" lIns="0" tIns="3810" rIns="3810" bIns="0" rtlCol="0" anchor="ctr"/>
          <a:lstStyle/>
          <a:p>
            <a:pPr marL="0" indent="0" algn="ctr">
              <a:buNone/>
            </a:pPr>
            <a:r>
              <a:rPr lang="en-US" sz="1400" b="1" dirty="0">
                <a:solidFill>
                  <a:schemeClr val="bg1"/>
                </a:solidFill>
              </a:rPr>
              <a:t>× Loadings M (product)</a:t>
            </a:r>
            <a:endParaRPr lang="en-US" sz="1400" dirty="0"/>
          </a:p>
        </p:txBody>
      </p:sp>
      <p:sp>
        <p:nvSpPr>
          <p:cNvPr id="8" name="Chevron"/>
          <p:cNvSpPr txBox="1"/>
          <p:nvPr/>
        </p:nvSpPr>
        <p:spPr>
          <a:xfrm>
            <a:off x="6126480" y="1920240"/>
            <a:ext cx="2926080" cy="868680"/>
          </a:xfrm>
          <a:prstGeom prst="chevron">
            <a:avLst/>
          </a:prstGeom>
          <a:solidFill>
            <a:schemeClr val="accent3"/>
          </a:solidFill>
          <a:ln/>
        </p:spPr>
        <p:txBody>
          <a:bodyPr wrap="square" lIns="0" tIns="3810" rIns="3810" bIns="0" rtlCol="0" anchor="ctr"/>
          <a:lstStyle/>
          <a:p>
            <a:pPr marL="0" indent="0" algn="ctr">
              <a:buNone/>
            </a:pPr>
            <a:r>
              <a:rPr lang="en-US" sz="1400" b="1" dirty="0">
                <a:solidFill>
                  <a:schemeClr val="bg1"/>
                </a:solidFill>
              </a:rPr>
              <a:t>× scaling k ≈ 0.53</a:t>
            </a:r>
            <a:endParaRPr lang="en-US" sz="1400" dirty="0"/>
          </a:p>
        </p:txBody>
      </p:sp>
      <p:sp>
        <p:nvSpPr>
          <p:cNvPr id="9" name="Chevron"/>
          <p:cNvSpPr txBox="1"/>
          <p:nvPr/>
        </p:nvSpPr>
        <p:spPr>
          <a:xfrm>
            <a:off x="8915400" y="1920240"/>
            <a:ext cx="2926080" cy="868680"/>
          </a:xfrm>
          <a:prstGeom prst="chevron">
            <a:avLst/>
          </a:prstGeom>
          <a:solidFill>
            <a:schemeClr val="tx1"/>
          </a:solidFill>
          <a:ln/>
        </p:spPr>
        <p:txBody>
          <a:bodyPr wrap="square" lIns="0" tIns="3810" rIns="3810" bIns="0" rtlCol="0" anchor="ctr"/>
          <a:lstStyle/>
          <a:p>
            <a:pPr marL="0" indent="0" algn="ctr">
              <a:buNone/>
            </a:pPr>
            <a:r>
              <a:rPr lang="en-US" sz="1400" b="1" dirty="0">
                <a:solidFill>
                  <a:schemeClr val="bg1"/>
                </a:solidFill>
              </a:rPr>
              <a:t>Decision + premium</a:t>
            </a:r>
            <a:endParaRPr lang="en-US" sz="1400" dirty="0"/>
          </a:p>
        </p:txBody>
      </p:sp>
      <p:sp>
        <p:nvSpPr>
          <p:cNvPr id="10" name="Loadings"/>
          <p:cNvSpPr/>
          <p:nvPr/>
        </p:nvSpPr>
        <p:spPr>
          <a:xfrm>
            <a:off x="548640" y="3108960"/>
            <a:ext cx="5486400" cy="3108960"/>
          </a:xfrm>
          <a:prstGeom prst="roundRect">
            <a:avLst>
              <a:gd name="adj" fmla="val 2941"/>
            </a:avLst>
          </a:prstGeom>
          <a:solidFill>
            <a:schemeClr val="bg2"/>
          </a:solidFill>
          <a:ln/>
        </p:spPr>
      </p:sp>
      <p:sp>
        <p:nvSpPr>
          <p:cNvPr id="11" name="Text 8"/>
          <p:cNvSpPr txBox="1"/>
          <p:nvPr/>
        </p:nvSpPr>
        <p:spPr>
          <a:xfrm>
            <a:off x="822960" y="3246120"/>
            <a:ext cx="493776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Fixed loadings</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3703320"/>
          <a:ext cx="4937760" cy="1828800"/>
        </p:xfrm>
        <a:graphic>
          <a:graphicData uri="http://schemas.openxmlformats.org/drawingml/2006/table">
            <a:tbl>
              <a:tblPr/>
              <a:tblGrid>
                <a:gridCol w="32918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65760">
                <a:tc>
                  <a:txBody>
                    <a:bodyPr/>
                    <a:lstStyle/>
                    <a:p>
                      <a:pPr marL="0" indent="0">
                        <a:buNone/>
                      </a:pPr>
                      <a:r>
                        <a:rPr lang="en-US" sz="1400" b="1" dirty="0">
                          <a:solidFill>
                            <a:srgbClr val="FFFFFF"/>
                          </a:solidFill>
                          <a:latin typeface="+mn-lt" pitchFamily="34" charset="0"/>
                          <a:ea typeface="+mn-lt" pitchFamily="34" charset="-122"/>
                          <a:cs typeface="+mn-lt" pitchFamily="34" charset="-120"/>
                        </a:rPr>
                        <a:t>Risk factor</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mn-lt" pitchFamily="34" charset="0"/>
                          <a:ea typeface="+mn-lt" pitchFamily="34" charset="-122"/>
                          <a:cs typeface="+mn-lt" pitchFamily="34" charset="-120"/>
                        </a:rPr>
                        <a:t>Loading</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365760">
                <a:tc>
                  <a:txBody>
                    <a:bodyPr/>
                    <a:lstStyle/>
                    <a:p>
                      <a:pPr marL="0" indent="0" algn="l">
                        <a:buNone/>
                      </a:pPr>
                      <a:r>
                        <a:rPr lang="en-US" sz="1400" dirty="0">
                          <a:solidFill>
                            <a:srgbClr val="1B2A41"/>
                          </a:solidFill>
                          <a:latin typeface="+mn-lt" pitchFamily="34" charset="0"/>
                          <a:ea typeface="+mn-lt" pitchFamily="34" charset="-122"/>
                          <a:cs typeface="+mn-lt" pitchFamily="34" charset="-120"/>
                        </a:rPr>
                        <a:t>Smoker</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2.50</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400" dirty="0">
                          <a:solidFill>
                            <a:srgbClr val="1B2A41"/>
                          </a:solidFill>
                          <a:latin typeface="+mn-lt" pitchFamily="34" charset="0"/>
                          <a:ea typeface="+mn-lt" pitchFamily="34" charset="-122"/>
                          <a:cs typeface="+mn-lt" pitchFamily="34" charset="-120"/>
                        </a:rPr>
                        <a:t>Heart disease</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2.00</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65760">
                <a:tc>
                  <a:txBody>
                    <a:bodyPr/>
                    <a:lstStyle/>
                    <a:p>
                      <a:pPr marL="0" indent="0" algn="l">
                        <a:buNone/>
                      </a:pPr>
                      <a:r>
                        <a:rPr lang="en-US" sz="1400" dirty="0">
                          <a:solidFill>
                            <a:srgbClr val="1B2A41"/>
                          </a:solidFill>
                          <a:latin typeface="+mn-lt" pitchFamily="34" charset="0"/>
                          <a:ea typeface="+mn-lt" pitchFamily="34" charset="-122"/>
                          <a:cs typeface="+mn-lt" pitchFamily="34" charset="-120"/>
                        </a:rPr>
                        <a:t>Diabetes</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1.75</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400" dirty="0">
                          <a:solidFill>
                            <a:srgbClr val="1B2A41"/>
                          </a:solidFill>
                          <a:latin typeface="+mn-lt" pitchFamily="34" charset="0"/>
                          <a:ea typeface="+mn-lt" pitchFamily="34" charset="-122"/>
                          <a:cs typeface="+mn-lt" pitchFamily="34" charset="-120"/>
                        </a:rPr>
                        <a:t>Six other factors*</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1.25</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13" name="Text 9"/>
          <p:cNvSpPr txBox="1"/>
          <p:nvPr/>
        </p:nvSpPr>
        <p:spPr>
          <a:xfrm>
            <a:off x="822960" y="5623560"/>
            <a:ext cx="4937760" cy="457200"/>
          </a:xfrm>
          <a:prstGeom prst="rect">
            <a:avLst/>
          </a:prstGeom>
          <a:noFill/>
          <a:ln/>
        </p:spPr>
        <p:txBody>
          <a:bodyPr wrap="square" lIns="0" tIns="0" rIns="0" bIns="0" rtlCol="0" anchor="t"/>
          <a:lstStyle/>
          <a:p>
            <a:pPr marL="0" indent="0">
              <a:buNone/>
            </a:pPr>
            <a:r>
              <a:rPr lang="en-US" sz="1200" dirty="0">
                <a:solidFill>
                  <a:schemeClr val="tx2"/>
                </a:solidFill>
              </a:rPr>
              <a:t>*Hypertension, BMI ≥ 30, heavy alcohol, occupation class 4, family history, cholesterol ≥ 240</a:t>
            </a:r>
            <a:endParaRPr lang="en-US" sz="1200" dirty="0"/>
          </a:p>
        </p:txBody>
      </p:sp>
      <p:sp>
        <p:nvSpPr>
          <p:cNvPr id="14" name="Decision"/>
          <p:cNvSpPr/>
          <p:nvPr/>
        </p:nvSpPr>
        <p:spPr>
          <a:xfrm>
            <a:off x="6309360" y="3108960"/>
            <a:ext cx="5330952" cy="3108960"/>
          </a:xfrm>
          <a:prstGeom prst="roundRect">
            <a:avLst>
              <a:gd name="adj" fmla="val 2941"/>
            </a:avLst>
          </a:prstGeom>
          <a:solidFill>
            <a:schemeClr val="bg2"/>
          </a:solidFill>
          <a:ln/>
        </p:spPr>
      </p:sp>
      <p:sp>
        <p:nvSpPr>
          <p:cNvPr id="15" name="Text 11"/>
          <p:cNvSpPr txBox="1"/>
          <p:nvPr/>
        </p:nvSpPr>
        <p:spPr>
          <a:xfrm>
            <a:off x="6583680" y="3246120"/>
            <a:ext cx="475488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Decision rule on M</a:t>
            </a:r>
            <a:endParaRPr lang="en-US" sz="1800" dirty="0"/>
          </a:p>
        </p:txBody>
      </p:sp>
      <p:sp>
        <p:nvSpPr>
          <p:cNvPr id="16" name="Decision pill"/>
          <p:cNvSpPr/>
          <p:nvPr/>
        </p:nvSpPr>
        <p:spPr>
          <a:xfrm>
            <a:off x="6583680" y="3703320"/>
            <a:ext cx="1463040" cy="731520"/>
          </a:xfrm>
          <a:prstGeom prst="roundRect">
            <a:avLst>
              <a:gd name="adj" fmla="val 12500"/>
            </a:avLst>
          </a:prstGeom>
          <a:solidFill>
            <a:schemeClr val="accent3"/>
          </a:solidFill>
          <a:ln/>
        </p:spPr>
      </p:sp>
      <p:sp>
        <p:nvSpPr>
          <p:cNvPr id="17" name="Text 13"/>
          <p:cNvSpPr txBox="1"/>
          <p:nvPr/>
        </p:nvSpPr>
        <p:spPr>
          <a:xfrm>
            <a:off x="6583680" y="3703320"/>
            <a:ext cx="1463040" cy="731520"/>
          </a:xfrm>
          <a:prstGeom prst="rect">
            <a:avLst/>
          </a:prstGeom>
          <a:noFill/>
          <a:ln/>
        </p:spPr>
        <p:txBody>
          <a:bodyPr wrap="square" lIns="0" tIns="0" rIns="0" bIns="0" rtlCol="0" anchor="ctr"/>
          <a:lstStyle/>
          <a:p>
            <a:pPr marL="0" indent="0" algn="ctr">
              <a:buNone/>
            </a:pPr>
            <a:r>
              <a:rPr lang="en-US" sz="1500" b="1" dirty="0">
                <a:solidFill>
                  <a:schemeClr val="bg1"/>
                </a:solidFill>
              </a:rPr>
              <a:t>Standard</a:t>
            </a:r>
            <a:endParaRPr lang="en-US" sz="1400" dirty="0"/>
          </a:p>
          <a:p>
            <a:pPr marL="0" indent="0" algn="ctr">
              <a:buNone/>
            </a:pPr>
            <a:r>
              <a:rPr lang="en-US" sz="1300" dirty="0">
                <a:solidFill>
                  <a:schemeClr val="bg1"/>
                </a:solidFill>
              </a:rPr>
              <a:t>M ≤ 1.25</a:t>
            </a:r>
            <a:endParaRPr lang="en-US" sz="1400" dirty="0"/>
          </a:p>
        </p:txBody>
      </p:sp>
      <p:sp>
        <p:nvSpPr>
          <p:cNvPr id="18" name="Decision pill"/>
          <p:cNvSpPr/>
          <p:nvPr/>
        </p:nvSpPr>
        <p:spPr>
          <a:xfrm>
            <a:off x="8183880" y="3703320"/>
            <a:ext cx="1463040" cy="731520"/>
          </a:xfrm>
          <a:prstGeom prst="roundRect">
            <a:avLst>
              <a:gd name="adj" fmla="val 12500"/>
            </a:avLst>
          </a:prstGeom>
          <a:solidFill>
            <a:schemeClr val="accent2"/>
          </a:solidFill>
          <a:ln/>
        </p:spPr>
      </p:sp>
      <p:sp>
        <p:nvSpPr>
          <p:cNvPr id="19" name="Text 15"/>
          <p:cNvSpPr txBox="1"/>
          <p:nvPr/>
        </p:nvSpPr>
        <p:spPr>
          <a:xfrm>
            <a:off x="8183880" y="3703320"/>
            <a:ext cx="1463040" cy="731520"/>
          </a:xfrm>
          <a:prstGeom prst="rect">
            <a:avLst/>
          </a:prstGeom>
          <a:noFill/>
          <a:ln/>
        </p:spPr>
        <p:txBody>
          <a:bodyPr wrap="square" lIns="0" tIns="0" rIns="0" bIns="0" rtlCol="0" anchor="ctr"/>
          <a:lstStyle/>
          <a:p>
            <a:pPr marL="0" indent="0" algn="ctr">
              <a:buNone/>
            </a:pPr>
            <a:r>
              <a:rPr lang="en-US" sz="1500" b="1" dirty="0">
                <a:solidFill>
                  <a:schemeClr val="tx1"/>
                </a:solidFill>
              </a:rPr>
              <a:t>Rated</a:t>
            </a:r>
            <a:endParaRPr lang="en-US" sz="1400" dirty="0"/>
          </a:p>
          <a:p>
            <a:pPr marL="0" indent="0" algn="ctr">
              <a:buNone/>
            </a:pPr>
            <a:r>
              <a:rPr lang="en-US" sz="1300" dirty="0">
                <a:solidFill>
                  <a:schemeClr val="tx1"/>
                </a:solidFill>
              </a:rPr>
              <a:t>M ≤ 5.0</a:t>
            </a:r>
            <a:endParaRPr lang="en-US" sz="1400" dirty="0"/>
          </a:p>
        </p:txBody>
      </p:sp>
      <p:sp>
        <p:nvSpPr>
          <p:cNvPr id="20" name="Decision pill"/>
          <p:cNvSpPr/>
          <p:nvPr/>
        </p:nvSpPr>
        <p:spPr>
          <a:xfrm>
            <a:off x="9784080" y="3703320"/>
            <a:ext cx="1463040" cy="731520"/>
          </a:xfrm>
          <a:prstGeom prst="roundRect">
            <a:avLst>
              <a:gd name="adj" fmla="val 12500"/>
            </a:avLst>
          </a:prstGeom>
          <a:solidFill>
            <a:schemeClr val="accent1"/>
          </a:solidFill>
          <a:ln/>
        </p:spPr>
      </p:sp>
      <p:sp>
        <p:nvSpPr>
          <p:cNvPr id="21" name="Text 17"/>
          <p:cNvSpPr txBox="1"/>
          <p:nvPr/>
        </p:nvSpPr>
        <p:spPr>
          <a:xfrm>
            <a:off x="9784080" y="3703320"/>
            <a:ext cx="1463040" cy="731520"/>
          </a:xfrm>
          <a:prstGeom prst="rect">
            <a:avLst/>
          </a:prstGeom>
          <a:noFill/>
          <a:ln/>
        </p:spPr>
        <p:txBody>
          <a:bodyPr wrap="square" lIns="0" tIns="0" rIns="0" bIns="0" rtlCol="0" anchor="ctr"/>
          <a:lstStyle/>
          <a:p>
            <a:pPr marL="0" indent="0" algn="ctr">
              <a:buNone/>
            </a:pPr>
            <a:r>
              <a:rPr lang="en-US" sz="1500" b="1" dirty="0">
                <a:solidFill>
                  <a:schemeClr val="bg1"/>
                </a:solidFill>
              </a:rPr>
              <a:t>Decline</a:t>
            </a:r>
            <a:endParaRPr lang="en-US" sz="1400" dirty="0"/>
          </a:p>
          <a:p>
            <a:pPr marL="0" indent="0" algn="ctr">
              <a:buNone/>
            </a:pPr>
            <a:r>
              <a:rPr lang="en-US" sz="1300" dirty="0">
                <a:solidFill>
                  <a:schemeClr val="bg1"/>
                </a:solidFill>
              </a:rPr>
              <a:t>M &gt; 5.0</a:t>
            </a:r>
            <a:endParaRPr lang="en-US" sz="1400" dirty="0"/>
          </a:p>
        </p:txBody>
      </p:sp>
      <p:sp>
        <p:nvSpPr>
          <p:cNvPr id="22" name="Text 18"/>
          <p:cNvSpPr txBox="1"/>
          <p:nvPr/>
        </p:nvSpPr>
        <p:spPr>
          <a:xfrm>
            <a:off x="6583680" y="4617720"/>
            <a:ext cx="484632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BP ≥ 140 or HbA1c ≥ 6.5 counts as the condition, even if undeclared</a:t>
            </a:r>
            <a:endParaRPr lang="en-US" sz="1400" dirty="0"/>
          </a:p>
          <a:p>
            <a:pPr marL="342900" indent="-342900">
              <a:spcAft>
                <a:spcPts val="500"/>
              </a:spcAft>
              <a:buSzPct val="100000"/>
              <a:buChar char="•"/>
            </a:pPr>
            <a:r>
              <a:rPr lang="en-US" sz="1400" dirty="0">
                <a:solidFill>
                  <a:schemeClr val="tx1"/>
                </a:solidFill>
              </a:rPr>
              <a:t>Arm A+: k re-set per declared group, a fair opponent</a:t>
            </a:r>
            <a:endParaRPr lang="en-US" sz="1400" dirty="0"/>
          </a:p>
          <a:p>
            <a:pPr marL="342900" indent="-342900">
              <a:spcAft>
                <a:spcPts val="500"/>
              </a:spcAft>
              <a:buSzPct val="100000"/>
              <a:buChar char="•"/>
            </a:pPr>
            <a:r>
              <a:rPr lang="en-US" sz="1400" dirty="0">
                <a:solidFill>
                  <a:schemeClr val="tx1"/>
                </a:solidFill>
              </a:rPr>
              <a:t>Loadings fixed before any result, rounded to 0.25</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2 · THE INNOVATION</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Machine Learning Model Framework</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The innovation: let the data, not a rulebook, set the price.</a:t>
            </a:r>
            <a:endParaRPr lang="en-US" sz="1500" dirty="0"/>
          </a:p>
        </p:txBody>
      </p:sp>
      <p:sp>
        <p:nvSpPr>
          <p:cNvPr id="6" name="Model card"/>
          <p:cNvSpPr/>
          <p:nvPr/>
        </p:nvSpPr>
        <p:spPr>
          <a:xfrm>
            <a:off x="548640" y="1920240"/>
            <a:ext cx="3520440" cy="2514600"/>
          </a:xfrm>
          <a:prstGeom prst="roundRect">
            <a:avLst>
              <a:gd name="adj" fmla="val 3636"/>
            </a:avLst>
          </a:prstGeom>
          <a:solidFill>
            <a:schemeClr val="bg2"/>
          </a:solidFill>
          <a:ln/>
        </p:spPr>
      </p:sp>
      <p:sp>
        <p:nvSpPr>
          <p:cNvPr id="7" name="Icon circle ChartLine"/>
          <p:cNvSpPr/>
          <p:nvPr/>
        </p:nvSpPr>
        <p:spPr>
          <a:xfrm>
            <a:off x="777240" y="2103120"/>
            <a:ext cx="640080" cy="640080"/>
          </a:xfrm>
          <a:prstGeom prst="ellipse">
            <a:avLst/>
          </a:prstGeom>
          <a:solidFill>
            <a:schemeClr val="accent3"/>
          </a:solidFill>
          <a:ln/>
        </p:spPr>
      </p:sp>
      <p:pic>
        <p:nvPicPr>
          <p:cNvPr id="8" name="Image 0" descr="ChartLine icon"/>
          <p:cNvPicPr>
            <a:picLocks noChangeAspect="1"/>
          </p:cNvPicPr>
          <p:nvPr/>
        </p:nvPicPr>
        <p:blipFill>
          <a:blip r:embed="rId3"/>
          <a:stretch>
            <a:fillRect/>
          </a:stretch>
        </p:blipFill>
        <p:spPr>
          <a:xfrm>
            <a:off x="937260" y="2263140"/>
            <a:ext cx="320040" cy="320040"/>
          </a:xfrm>
          <a:prstGeom prst="rect">
            <a:avLst/>
          </a:prstGeom>
        </p:spPr>
      </p:pic>
      <p:sp>
        <p:nvSpPr>
          <p:cNvPr id="9" name="Text 5"/>
          <p:cNvSpPr txBox="1"/>
          <p:nvPr/>
        </p:nvSpPr>
        <p:spPr>
          <a:xfrm>
            <a:off x="1600200" y="2103120"/>
            <a:ext cx="2286000" cy="640080"/>
          </a:xfrm>
          <a:prstGeom prst="rect">
            <a:avLst/>
          </a:prstGeom>
          <a:noFill/>
          <a:ln/>
        </p:spPr>
        <p:txBody>
          <a:bodyPr wrap="square" lIns="0" tIns="0" rIns="0" bIns="0" rtlCol="0" anchor="ctr"/>
          <a:lstStyle/>
          <a:p>
            <a:pPr marL="0" indent="0">
              <a:buNone/>
            </a:pPr>
            <a:r>
              <a:rPr lang="en-US" sz="2400" b="1" dirty="0">
                <a:solidFill>
                  <a:schemeClr val="tx1"/>
                </a:solidFill>
                <a:latin typeface="+mj-lt" pitchFamily="34" charset="0"/>
                <a:ea typeface="+mj-lt" pitchFamily="34" charset="-122"/>
                <a:cs typeface="+mj-lt" pitchFamily="34" charset="-120"/>
              </a:rPr>
              <a:t>GLM</a:t>
            </a:r>
            <a:endParaRPr lang="en-US" sz="2400" dirty="0"/>
          </a:p>
        </p:txBody>
      </p:sp>
      <p:sp>
        <p:nvSpPr>
          <p:cNvPr id="10" name="Text 6"/>
          <p:cNvSpPr txBox="1"/>
          <p:nvPr/>
        </p:nvSpPr>
        <p:spPr>
          <a:xfrm>
            <a:off x="777240" y="2880360"/>
            <a:ext cx="3108960" cy="548640"/>
          </a:xfrm>
          <a:prstGeom prst="rect">
            <a:avLst/>
          </a:prstGeom>
          <a:noFill/>
          <a:ln/>
        </p:spPr>
        <p:txBody>
          <a:bodyPr wrap="square" lIns="0" tIns="0" rIns="0" bIns="0" rtlCol="0" anchor="t"/>
          <a:lstStyle/>
          <a:p>
            <a:pPr marL="0" indent="0">
              <a:buNone/>
            </a:pPr>
            <a:r>
              <a:rPr lang="en-US" sz="1500" dirty="0">
                <a:solidFill>
                  <a:schemeClr val="tx1"/>
                </a:solidFill>
              </a:rPr>
              <a:t>Adds up risk effects, learned from data</a:t>
            </a:r>
            <a:endParaRPr lang="en-US" sz="1500" dirty="0"/>
          </a:p>
        </p:txBody>
      </p:sp>
      <p:sp>
        <p:nvSpPr>
          <p:cNvPr id="11" name="Text 7"/>
          <p:cNvSpPr txBox="1"/>
          <p:nvPr/>
        </p:nvSpPr>
        <p:spPr>
          <a:xfrm>
            <a:off x="777240" y="3611880"/>
            <a:ext cx="3108960" cy="640080"/>
          </a:xfrm>
          <a:prstGeom prst="rect">
            <a:avLst/>
          </a:prstGeom>
          <a:noFill/>
          <a:ln/>
        </p:spPr>
        <p:txBody>
          <a:bodyPr wrap="square" lIns="0" tIns="0" rIns="0" bIns="0" rtlCol="0" anchor="ctr"/>
          <a:lstStyle/>
          <a:p>
            <a:pPr marL="0" indent="0">
              <a:buNone/>
            </a:pPr>
            <a:r>
              <a:rPr lang="en-US" sz="1500" b="1" dirty="0">
                <a:solidFill>
                  <a:schemeClr val="accent3"/>
                </a:solidFill>
                <a:latin typeface="+mj-lt" pitchFamily="34" charset="0"/>
                <a:ea typeface="+mj-lt" pitchFamily="34" charset="-122"/>
                <a:cs typeface="+mj-lt" pitchFamily="34" charset="-120"/>
              </a:rPr>
              <a:t>ln(p / (1 − p)) = b</a:t>
            </a:r>
            <a:r>
              <a:rPr lang="en-US" sz="1500" b="1" baseline="-40000" dirty="0">
                <a:solidFill>
                  <a:schemeClr val="accent3"/>
                </a:solidFill>
                <a:latin typeface="+mj-lt" pitchFamily="34" charset="0"/>
                <a:ea typeface="+mj-lt" pitchFamily="34" charset="-122"/>
                <a:cs typeface="+mj-lt" pitchFamily="34" charset="-120"/>
              </a:rPr>
              <a:t>0</a:t>
            </a:r>
            <a:r>
              <a:rPr lang="en-US" sz="1500" b="1" dirty="0">
                <a:solidFill>
                  <a:schemeClr val="accent3"/>
                </a:solidFill>
                <a:latin typeface="+mj-lt" pitchFamily="34" charset="0"/>
                <a:ea typeface="+mj-lt" pitchFamily="34" charset="-122"/>
                <a:cs typeface="+mj-lt" pitchFamily="34" charset="-120"/>
              </a:rPr>
              <a:t> + Σ b</a:t>
            </a:r>
            <a:r>
              <a:rPr lang="en-US" sz="1500" b="1" baseline="-40000" dirty="0">
                <a:solidFill>
                  <a:schemeClr val="accent3"/>
                </a:solidFill>
                <a:latin typeface="+mj-lt" pitchFamily="34" charset="0"/>
                <a:ea typeface="+mj-lt" pitchFamily="34" charset="-122"/>
                <a:cs typeface="+mj-lt" pitchFamily="34" charset="-120"/>
              </a:rPr>
              <a:t>j</a:t>
            </a:r>
            <a:r>
              <a:rPr lang="en-US" sz="1500" b="1" dirty="0">
                <a:solidFill>
                  <a:schemeClr val="accent3"/>
                </a:solidFill>
                <a:latin typeface="+mj-lt" pitchFamily="34" charset="0"/>
                <a:ea typeface="+mj-lt" pitchFamily="34" charset="-122"/>
                <a:cs typeface="+mj-lt" pitchFamily="34" charset="-120"/>
              </a:rPr>
              <a:t> x</a:t>
            </a:r>
            <a:r>
              <a:rPr lang="en-US" sz="1500" b="1" baseline="-40000" dirty="0">
                <a:solidFill>
                  <a:schemeClr val="accent3"/>
                </a:solidFill>
                <a:latin typeface="+mj-lt" pitchFamily="34" charset="0"/>
                <a:ea typeface="+mj-lt" pitchFamily="34" charset="-122"/>
                <a:cs typeface="+mj-lt" pitchFamily="34" charset="-120"/>
              </a:rPr>
              <a:t>j</a:t>
            </a:r>
            <a:endParaRPr lang="en-US" sz="1500" dirty="0"/>
          </a:p>
        </p:txBody>
      </p:sp>
      <p:sp>
        <p:nvSpPr>
          <p:cNvPr id="12" name="Model card"/>
          <p:cNvSpPr/>
          <p:nvPr/>
        </p:nvSpPr>
        <p:spPr>
          <a:xfrm>
            <a:off x="4334256" y="1920240"/>
            <a:ext cx="3520440" cy="2514600"/>
          </a:xfrm>
          <a:prstGeom prst="roundRect">
            <a:avLst>
              <a:gd name="adj" fmla="val 3636"/>
            </a:avLst>
          </a:prstGeom>
          <a:solidFill>
            <a:schemeClr val="bg2"/>
          </a:solidFill>
          <a:ln/>
        </p:spPr>
      </p:sp>
      <p:sp>
        <p:nvSpPr>
          <p:cNvPr id="13" name="Icon circle Route"/>
          <p:cNvSpPr/>
          <p:nvPr/>
        </p:nvSpPr>
        <p:spPr>
          <a:xfrm>
            <a:off x="4562856" y="2103120"/>
            <a:ext cx="640080" cy="640080"/>
          </a:xfrm>
          <a:prstGeom prst="ellipse">
            <a:avLst/>
          </a:prstGeom>
          <a:solidFill>
            <a:schemeClr val="accent4"/>
          </a:solidFill>
          <a:ln/>
        </p:spPr>
      </p:sp>
      <p:pic>
        <p:nvPicPr>
          <p:cNvPr id="14" name="Image 1" descr="Route icon"/>
          <p:cNvPicPr>
            <a:picLocks noChangeAspect="1"/>
          </p:cNvPicPr>
          <p:nvPr/>
        </p:nvPicPr>
        <p:blipFill>
          <a:blip r:embed="rId4"/>
          <a:stretch>
            <a:fillRect/>
          </a:stretch>
        </p:blipFill>
        <p:spPr>
          <a:xfrm>
            <a:off x="4722876" y="2263140"/>
            <a:ext cx="320040" cy="320040"/>
          </a:xfrm>
          <a:prstGeom prst="rect">
            <a:avLst/>
          </a:prstGeom>
        </p:spPr>
      </p:pic>
      <p:sp>
        <p:nvSpPr>
          <p:cNvPr id="15" name="Text 10"/>
          <p:cNvSpPr txBox="1"/>
          <p:nvPr/>
        </p:nvSpPr>
        <p:spPr>
          <a:xfrm>
            <a:off x="5385816" y="2103120"/>
            <a:ext cx="2286000" cy="640080"/>
          </a:xfrm>
          <a:prstGeom prst="rect">
            <a:avLst/>
          </a:prstGeom>
          <a:noFill/>
          <a:ln/>
        </p:spPr>
        <p:txBody>
          <a:bodyPr wrap="square" lIns="0" tIns="0" rIns="0" bIns="0" rtlCol="0" anchor="ctr"/>
          <a:lstStyle/>
          <a:p>
            <a:pPr marL="0" indent="0">
              <a:buNone/>
            </a:pPr>
            <a:r>
              <a:rPr lang="en-US" sz="2400" b="1" dirty="0">
                <a:solidFill>
                  <a:schemeClr val="tx1"/>
                </a:solidFill>
                <a:latin typeface="+mj-lt" pitchFamily="34" charset="0"/>
                <a:ea typeface="+mj-lt" pitchFamily="34" charset="-122"/>
                <a:cs typeface="+mj-lt" pitchFamily="34" charset="-120"/>
              </a:rPr>
              <a:t>Cox</a:t>
            </a:r>
            <a:endParaRPr lang="en-US" sz="2400" dirty="0"/>
          </a:p>
        </p:txBody>
      </p:sp>
      <p:sp>
        <p:nvSpPr>
          <p:cNvPr id="16" name="Text 11"/>
          <p:cNvSpPr txBox="1"/>
          <p:nvPr/>
        </p:nvSpPr>
        <p:spPr>
          <a:xfrm>
            <a:off x="4562856" y="2880360"/>
            <a:ext cx="3108960" cy="548640"/>
          </a:xfrm>
          <a:prstGeom prst="rect">
            <a:avLst/>
          </a:prstGeom>
          <a:noFill/>
          <a:ln/>
        </p:spPr>
        <p:txBody>
          <a:bodyPr wrap="square" lIns="0" tIns="0" rIns="0" bIns="0" rtlCol="0" anchor="t"/>
          <a:lstStyle/>
          <a:p>
            <a:pPr marL="0" indent="0">
              <a:buNone/>
            </a:pPr>
            <a:r>
              <a:rPr lang="en-US" sz="1500" dirty="0">
                <a:solidFill>
                  <a:schemeClr val="tx1"/>
                </a:solidFill>
              </a:rPr>
              <a:t>Models time until a claim</a:t>
            </a:r>
            <a:endParaRPr lang="en-US" sz="1500" dirty="0"/>
          </a:p>
        </p:txBody>
      </p:sp>
      <p:sp>
        <p:nvSpPr>
          <p:cNvPr id="17" name="Text 12"/>
          <p:cNvSpPr txBox="1"/>
          <p:nvPr/>
        </p:nvSpPr>
        <p:spPr>
          <a:xfrm>
            <a:off x="4562856" y="3611880"/>
            <a:ext cx="3108960" cy="640080"/>
          </a:xfrm>
          <a:prstGeom prst="rect">
            <a:avLst/>
          </a:prstGeom>
          <a:noFill/>
          <a:ln/>
        </p:spPr>
        <p:txBody>
          <a:bodyPr wrap="square" lIns="0" tIns="0" rIns="0" bIns="0" rtlCol="0" anchor="ctr"/>
          <a:lstStyle/>
          <a:p>
            <a:pPr marL="0" indent="0">
              <a:buNone/>
            </a:pPr>
            <a:r>
              <a:rPr lang="en-US" sz="1500" b="1" dirty="0">
                <a:solidFill>
                  <a:schemeClr val="accent4"/>
                </a:solidFill>
                <a:latin typeface="+mj-lt" pitchFamily="34" charset="0"/>
                <a:ea typeface="+mj-lt" pitchFamily="34" charset="-122"/>
                <a:cs typeface="+mj-lt" pitchFamily="34" charset="-120"/>
              </a:rPr>
              <a:t>p</a:t>
            </a:r>
            <a:r>
              <a:rPr lang="en-US" sz="1500" b="1" baseline="-40000" dirty="0">
                <a:solidFill>
                  <a:schemeClr val="accent4"/>
                </a:solidFill>
                <a:latin typeface="+mj-lt" pitchFamily="34" charset="0"/>
                <a:ea typeface="+mj-lt" pitchFamily="34" charset="-122"/>
                <a:cs typeface="+mj-lt" pitchFamily="34" charset="-120"/>
              </a:rPr>
              <a:t>10</a:t>
            </a:r>
            <a:r>
              <a:rPr lang="en-US" sz="1500" b="1" dirty="0">
                <a:solidFill>
                  <a:schemeClr val="accent4"/>
                </a:solidFill>
                <a:latin typeface="+mj-lt" pitchFamily="34" charset="0"/>
                <a:ea typeface="+mj-lt" pitchFamily="34" charset="-122"/>
                <a:cs typeface="+mj-lt" pitchFamily="34" charset="-120"/>
              </a:rPr>
              <a:t> = 1 − exp(−H</a:t>
            </a:r>
            <a:r>
              <a:rPr lang="en-US" sz="1500" b="1" baseline="-40000" dirty="0">
                <a:solidFill>
                  <a:schemeClr val="accent4"/>
                </a:solidFill>
                <a:latin typeface="+mj-lt" pitchFamily="34" charset="0"/>
                <a:ea typeface="+mj-lt" pitchFamily="34" charset="-122"/>
                <a:cs typeface="+mj-lt" pitchFamily="34" charset="-120"/>
              </a:rPr>
              <a:t>0</a:t>
            </a:r>
            <a:r>
              <a:rPr lang="en-US" sz="1500" b="1" dirty="0">
                <a:solidFill>
                  <a:schemeClr val="accent4"/>
                </a:solidFill>
                <a:latin typeface="+mj-lt" pitchFamily="34" charset="0"/>
                <a:ea typeface="+mj-lt" pitchFamily="34" charset="-122"/>
                <a:cs typeface="+mj-lt" pitchFamily="34" charset="-120"/>
              </a:rPr>
              <a:t>(10) · e</a:t>
            </a:r>
            <a:r>
              <a:rPr lang="en-US" sz="1500" b="1" baseline="30000" dirty="0">
                <a:solidFill>
                  <a:schemeClr val="accent4"/>
                </a:solidFill>
                <a:latin typeface="+mj-lt" pitchFamily="34" charset="0"/>
                <a:ea typeface="+mj-lt" pitchFamily="34" charset="-122"/>
                <a:cs typeface="+mj-lt" pitchFamily="34" charset="-120"/>
              </a:rPr>
              <a:t>score</a:t>
            </a:r>
            <a:r>
              <a:rPr lang="en-US" sz="1500" b="1" dirty="0">
                <a:solidFill>
                  <a:schemeClr val="accent4"/>
                </a:solidFill>
                <a:latin typeface="+mj-lt" pitchFamily="34" charset="0"/>
                <a:ea typeface="+mj-lt" pitchFamily="34" charset="-122"/>
                <a:cs typeface="+mj-lt" pitchFamily="34" charset="-120"/>
              </a:rPr>
              <a:t>)</a:t>
            </a:r>
            <a:endParaRPr lang="en-US" sz="1500" dirty="0"/>
          </a:p>
        </p:txBody>
      </p:sp>
      <p:sp>
        <p:nvSpPr>
          <p:cNvPr id="18" name="Model card"/>
          <p:cNvSpPr/>
          <p:nvPr/>
        </p:nvSpPr>
        <p:spPr>
          <a:xfrm>
            <a:off x="8119872" y="1920240"/>
            <a:ext cx="3520440" cy="2514600"/>
          </a:xfrm>
          <a:prstGeom prst="roundRect">
            <a:avLst>
              <a:gd name="adj" fmla="val 3636"/>
            </a:avLst>
          </a:prstGeom>
          <a:solidFill>
            <a:schemeClr val="bg2"/>
          </a:solidFill>
          <a:ln/>
        </p:spPr>
      </p:sp>
      <p:sp>
        <p:nvSpPr>
          <p:cNvPr id="19" name="Icon circle Robot"/>
          <p:cNvSpPr/>
          <p:nvPr/>
        </p:nvSpPr>
        <p:spPr>
          <a:xfrm>
            <a:off x="8348472" y="2103120"/>
            <a:ext cx="640080" cy="640080"/>
          </a:xfrm>
          <a:prstGeom prst="ellipse">
            <a:avLst/>
          </a:prstGeom>
          <a:solidFill>
            <a:schemeClr val="accent1"/>
          </a:solidFill>
          <a:ln/>
        </p:spPr>
      </p:sp>
      <p:pic>
        <p:nvPicPr>
          <p:cNvPr id="20" name="Image 2" descr="Robot icon"/>
          <p:cNvPicPr>
            <a:picLocks noChangeAspect="1"/>
          </p:cNvPicPr>
          <p:nvPr/>
        </p:nvPicPr>
        <p:blipFill>
          <a:blip r:embed="rId5"/>
          <a:stretch>
            <a:fillRect/>
          </a:stretch>
        </p:blipFill>
        <p:spPr>
          <a:xfrm>
            <a:off x="8508492" y="2263140"/>
            <a:ext cx="320040" cy="320040"/>
          </a:xfrm>
          <a:prstGeom prst="rect">
            <a:avLst/>
          </a:prstGeom>
        </p:spPr>
      </p:pic>
      <p:sp>
        <p:nvSpPr>
          <p:cNvPr id="21" name="Text 15"/>
          <p:cNvSpPr txBox="1"/>
          <p:nvPr/>
        </p:nvSpPr>
        <p:spPr>
          <a:xfrm>
            <a:off x="9171432" y="2103120"/>
            <a:ext cx="2286000" cy="640080"/>
          </a:xfrm>
          <a:prstGeom prst="rect">
            <a:avLst/>
          </a:prstGeom>
          <a:noFill/>
          <a:ln/>
        </p:spPr>
        <p:txBody>
          <a:bodyPr wrap="square" lIns="0" tIns="0" rIns="0" bIns="0" rtlCol="0" anchor="ctr"/>
          <a:lstStyle/>
          <a:p>
            <a:pPr marL="0" indent="0">
              <a:buNone/>
            </a:pPr>
            <a:r>
              <a:rPr lang="en-US" sz="2400" b="1" dirty="0">
                <a:solidFill>
                  <a:schemeClr val="tx1"/>
                </a:solidFill>
                <a:latin typeface="+mj-lt" pitchFamily="34" charset="0"/>
                <a:ea typeface="+mj-lt" pitchFamily="34" charset="-122"/>
                <a:cs typeface="+mj-lt" pitchFamily="34" charset="-120"/>
              </a:rPr>
              <a:t>XGBoost</a:t>
            </a:r>
            <a:endParaRPr lang="en-US" sz="2400" dirty="0"/>
          </a:p>
        </p:txBody>
      </p:sp>
      <p:sp>
        <p:nvSpPr>
          <p:cNvPr id="22" name="Text 16"/>
          <p:cNvSpPr txBox="1"/>
          <p:nvPr/>
        </p:nvSpPr>
        <p:spPr>
          <a:xfrm>
            <a:off x="8348472" y="2880360"/>
            <a:ext cx="3108960" cy="548640"/>
          </a:xfrm>
          <a:prstGeom prst="rect">
            <a:avLst/>
          </a:prstGeom>
          <a:noFill/>
          <a:ln/>
        </p:spPr>
        <p:txBody>
          <a:bodyPr wrap="square" lIns="0" tIns="0" rIns="0" bIns="0" rtlCol="0" anchor="t"/>
          <a:lstStyle/>
          <a:p>
            <a:pPr marL="0" indent="0">
              <a:buNone/>
            </a:pPr>
            <a:r>
              <a:rPr lang="en-US" sz="1500" dirty="0">
                <a:solidFill>
                  <a:schemeClr val="tx1"/>
                </a:solidFill>
              </a:rPr>
              <a:t>Many small trees, the main ML model</a:t>
            </a:r>
            <a:endParaRPr lang="en-US" sz="1500" dirty="0"/>
          </a:p>
        </p:txBody>
      </p:sp>
      <p:sp>
        <p:nvSpPr>
          <p:cNvPr id="23" name="Text 17"/>
          <p:cNvSpPr txBox="1"/>
          <p:nvPr/>
        </p:nvSpPr>
        <p:spPr>
          <a:xfrm>
            <a:off x="8348472" y="3611880"/>
            <a:ext cx="3108960" cy="640080"/>
          </a:xfrm>
          <a:prstGeom prst="rect">
            <a:avLst/>
          </a:prstGeom>
          <a:noFill/>
          <a:ln/>
        </p:spPr>
        <p:txBody>
          <a:bodyPr wrap="square" lIns="0" tIns="0" rIns="0" bIns="0" rtlCol="0" anchor="ctr"/>
          <a:lstStyle/>
          <a:p>
            <a:pPr marL="0" indent="0">
              <a:buNone/>
            </a:pPr>
            <a:r>
              <a:rPr lang="en-US" sz="1500" b="1" dirty="0">
                <a:solidFill>
                  <a:schemeClr val="accent1"/>
                </a:solidFill>
                <a:latin typeface="+mj-lt" pitchFamily="34" charset="0"/>
                <a:ea typeface="+mj-lt" pitchFamily="34" charset="-122"/>
                <a:cs typeface="+mj-lt" pitchFamily="34" charset="-120"/>
              </a:rPr>
              <a:t>ln(p / (1 − p)) = Σ f</a:t>
            </a:r>
            <a:r>
              <a:rPr lang="en-US" sz="1500" b="1" baseline="-40000" dirty="0">
                <a:solidFill>
                  <a:schemeClr val="accent1"/>
                </a:solidFill>
                <a:latin typeface="+mj-lt" pitchFamily="34" charset="0"/>
                <a:ea typeface="+mj-lt" pitchFamily="34" charset="-122"/>
                <a:cs typeface="+mj-lt" pitchFamily="34" charset="-120"/>
              </a:rPr>
              <a:t>m</a:t>
            </a:r>
            <a:r>
              <a:rPr lang="en-US" sz="1500" b="1" dirty="0">
                <a:solidFill>
                  <a:schemeClr val="accent1"/>
                </a:solidFill>
                <a:latin typeface="+mj-lt" pitchFamily="34" charset="0"/>
                <a:ea typeface="+mj-lt" pitchFamily="34" charset="-122"/>
                <a:cs typeface="+mj-lt" pitchFamily="34" charset="-120"/>
              </a:rPr>
              <a:t>(x)</a:t>
            </a:r>
            <a:endParaRPr lang="en-US" sz="1500" dirty="0"/>
          </a:p>
        </p:txBody>
      </p:sp>
      <p:sp>
        <p:nvSpPr>
          <p:cNvPr id="24" name="Text 18"/>
          <p:cNvSpPr txBox="1"/>
          <p:nvPr/>
        </p:nvSpPr>
        <p:spPr>
          <a:xfrm>
            <a:off x="548640" y="4480560"/>
            <a:ext cx="4572000" cy="274320"/>
          </a:xfrm>
          <a:prstGeom prst="rect">
            <a:avLst/>
          </a:prstGeom>
          <a:noFill/>
          <a:ln/>
        </p:spPr>
        <p:txBody>
          <a:bodyPr wrap="square" lIns="0" tIns="0" rIns="0" bIns="0" rtlCol="0" anchor="ctr"/>
          <a:lstStyle/>
          <a:p>
            <a:pPr marL="0" indent="0">
              <a:buNone/>
            </a:pPr>
            <a:r>
              <a:rPr lang="en-US" sz="1200" i="1" dirty="0">
                <a:solidFill>
                  <a:srgbClr val="4B5870"/>
                </a:solidFill>
              </a:rPr>
              <a:t>learns more from data →</a:t>
            </a:r>
            <a:endParaRPr lang="en-US" sz="1200" dirty="0"/>
          </a:p>
        </p:txBody>
      </p:sp>
      <p:sp>
        <p:nvSpPr>
          <p:cNvPr id="25" name="Design chip"/>
          <p:cNvSpPr/>
          <p:nvPr/>
        </p:nvSpPr>
        <p:spPr>
          <a:xfrm>
            <a:off x="548640" y="4846320"/>
            <a:ext cx="3520440" cy="1371600"/>
          </a:xfrm>
          <a:prstGeom prst="roundRect">
            <a:avLst>
              <a:gd name="adj" fmla="val 6667"/>
            </a:avLst>
          </a:prstGeom>
          <a:solidFill>
            <a:schemeClr val="bg2"/>
          </a:solidFill>
          <a:ln/>
        </p:spPr>
      </p:sp>
      <p:sp>
        <p:nvSpPr>
          <p:cNvPr id="26" name="Icon circle Lock"/>
          <p:cNvSpPr/>
          <p:nvPr/>
        </p:nvSpPr>
        <p:spPr>
          <a:xfrm>
            <a:off x="731520" y="5074920"/>
            <a:ext cx="548640" cy="548640"/>
          </a:xfrm>
          <a:prstGeom prst="ellipse">
            <a:avLst/>
          </a:prstGeom>
          <a:solidFill>
            <a:schemeClr val="tx1"/>
          </a:solidFill>
          <a:ln/>
        </p:spPr>
      </p:sp>
      <p:pic>
        <p:nvPicPr>
          <p:cNvPr id="27" name="Image 3" descr="Lock icon"/>
          <p:cNvPicPr>
            <a:picLocks noChangeAspect="1"/>
          </p:cNvPicPr>
          <p:nvPr/>
        </p:nvPicPr>
        <p:blipFill>
          <a:blip r:embed="rId6"/>
          <a:stretch>
            <a:fillRect/>
          </a:stretch>
        </p:blipFill>
        <p:spPr>
          <a:xfrm>
            <a:off x="868680" y="5212080"/>
            <a:ext cx="274320" cy="274320"/>
          </a:xfrm>
          <a:prstGeom prst="rect">
            <a:avLst/>
          </a:prstGeom>
        </p:spPr>
      </p:pic>
      <p:sp>
        <p:nvSpPr>
          <p:cNvPr id="28" name="Text 21"/>
          <p:cNvSpPr txBox="1"/>
          <p:nvPr/>
        </p:nvSpPr>
        <p:spPr>
          <a:xfrm>
            <a:off x="1417320" y="4846320"/>
            <a:ext cx="2514600" cy="1371600"/>
          </a:xfrm>
          <a:prstGeom prst="rect">
            <a:avLst/>
          </a:prstGeom>
          <a:noFill/>
          <a:ln/>
        </p:spPr>
        <p:txBody>
          <a:bodyPr wrap="square" lIns="0" tIns="0" rIns="0" bIns="0" rtlCol="0" anchor="ctr"/>
          <a:lstStyle/>
          <a:p>
            <a:pPr marL="0" indent="0">
              <a:buNone/>
            </a:pPr>
            <a:r>
              <a:rPr lang="en-US" sz="1400" dirty="0">
                <a:solidFill>
                  <a:schemeClr val="tx1"/>
                </a:solidFill>
              </a:rPr>
              <a:t>60 / 10 / 30 split by applicant: both versions of a person stay together</a:t>
            </a:r>
            <a:endParaRPr lang="en-US" sz="1400" dirty="0"/>
          </a:p>
        </p:txBody>
      </p:sp>
      <p:sp>
        <p:nvSpPr>
          <p:cNvPr id="29" name="Design chip"/>
          <p:cNvSpPr/>
          <p:nvPr/>
        </p:nvSpPr>
        <p:spPr>
          <a:xfrm>
            <a:off x="4334256" y="4846320"/>
            <a:ext cx="3520440" cy="1371600"/>
          </a:xfrm>
          <a:prstGeom prst="roundRect">
            <a:avLst>
              <a:gd name="adj" fmla="val 6667"/>
            </a:avLst>
          </a:prstGeom>
          <a:solidFill>
            <a:schemeClr val="bg2"/>
          </a:solidFill>
          <a:ln/>
        </p:spPr>
      </p:sp>
      <p:sp>
        <p:nvSpPr>
          <p:cNvPr id="30" name="Icon circle Users"/>
          <p:cNvSpPr/>
          <p:nvPr/>
        </p:nvSpPr>
        <p:spPr>
          <a:xfrm>
            <a:off x="4517136" y="5074920"/>
            <a:ext cx="548640" cy="548640"/>
          </a:xfrm>
          <a:prstGeom prst="ellipse">
            <a:avLst/>
          </a:prstGeom>
          <a:solidFill>
            <a:schemeClr val="tx1"/>
          </a:solidFill>
          <a:ln/>
        </p:spPr>
      </p:sp>
      <p:pic>
        <p:nvPicPr>
          <p:cNvPr id="31" name="Image 4" descr="Users icon"/>
          <p:cNvPicPr>
            <a:picLocks noChangeAspect="1"/>
          </p:cNvPicPr>
          <p:nvPr/>
        </p:nvPicPr>
        <p:blipFill>
          <a:blip r:embed="rId7"/>
          <a:stretch>
            <a:fillRect/>
          </a:stretch>
        </p:blipFill>
        <p:spPr>
          <a:xfrm>
            <a:off x="4654296" y="5212080"/>
            <a:ext cx="274320" cy="274320"/>
          </a:xfrm>
          <a:prstGeom prst="rect">
            <a:avLst/>
          </a:prstGeom>
        </p:spPr>
      </p:pic>
      <p:sp>
        <p:nvSpPr>
          <p:cNvPr id="32" name="Text 24"/>
          <p:cNvSpPr txBox="1"/>
          <p:nvPr/>
        </p:nvSpPr>
        <p:spPr>
          <a:xfrm>
            <a:off x="5202936" y="4846320"/>
            <a:ext cx="2514600" cy="1371600"/>
          </a:xfrm>
          <a:prstGeom prst="rect">
            <a:avLst/>
          </a:prstGeom>
          <a:noFill/>
          <a:ln/>
        </p:spPr>
        <p:txBody>
          <a:bodyPr wrap="square" lIns="0" tIns="0" rIns="0" bIns="0" rtlCol="0" anchor="ctr"/>
          <a:lstStyle/>
          <a:p>
            <a:pPr marL="0" indent="0">
              <a:buNone/>
            </a:pPr>
            <a:r>
              <a:rPr lang="en-US" sz="1400" dirty="0">
                <a:solidFill>
                  <a:schemeClr val="tx1"/>
                </a:solidFill>
              </a:rPr>
              <a:t>Trained two ways: honest records (R1) or declared records (R2)</a:t>
            </a:r>
            <a:endParaRPr lang="en-US" sz="1400" dirty="0"/>
          </a:p>
        </p:txBody>
      </p:sp>
      <p:sp>
        <p:nvSpPr>
          <p:cNvPr id="33" name="Design chip"/>
          <p:cNvSpPr/>
          <p:nvPr/>
        </p:nvSpPr>
        <p:spPr>
          <a:xfrm>
            <a:off x="8119872" y="4846320"/>
            <a:ext cx="3520440" cy="1371600"/>
          </a:xfrm>
          <a:prstGeom prst="roundRect">
            <a:avLst>
              <a:gd name="adj" fmla="val 6667"/>
            </a:avLst>
          </a:prstGeom>
          <a:solidFill>
            <a:schemeClr val="bg2"/>
          </a:solidFill>
          <a:ln/>
        </p:spPr>
      </p:sp>
      <p:sp>
        <p:nvSpPr>
          <p:cNvPr id="34" name="Icon circle Search"/>
          <p:cNvSpPr/>
          <p:nvPr/>
        </p:nvSpPr>
        <p:spPr>
          <a:xfrm>
            <a:off x="8302752" y="5074920"/>
            <a:ext cx="548640" cy="548640"/>
          </a:xfrm>
          <a:prstGeom prst="ellipse">
            <a:avLst/>
          </a:prstGeom>
          <a:solidFill>
            <a:schemeClr val="tx1"/>
          </a:solidFill>
          <a:ln/>
        </p:spPr>
      </p:sp>
      <p:pic>
        <p:nvPicPr>
          <p:cNvPr id="35" name="Image 5" descr="Search icon"/>
          <p:cNvPicPr>
            <a:picLocks noChangeAspect="1"/>
          </p:cNvPicPr>
          <p:nvPr/>
        </p:nvPicPr>
        <p:blipFill>
          <a:blip r:embed="rId8"/>
          <a:stretch>
            <a:fillRect/>
          </a:stretch>
        </p:blipFill>
        <p:spPr>
          <a:xfrm>
            <a:off x="8439912" y="5212080"/>
            <a:ext cx="274320" cy="274320"/>
          </a:xfrm>
          <a:prstGeom prst="rect">
            <a:avLst/>
          </a:prstGeom>
        </p:spPr>
      </p:pic>
      <p:sp>
        <p:nvSpPr>
          <p:cNvPr id="36" name="Text 27"/>
          <p:cNvSpPr txBox="1"/>
          <p:nvPr/>
        </p:nvSpPr>
        <p:spPr>
          <a:xfrm>
            <a:off x="8988552" y="4846320"/>
            <a:ext cx="2514600" cy="1371600"/>
          </a:xfrm>
          <a:prstGeom prst="rect">
            <a:avLst/>
          </a:prstGeom>
          <a:noFill/>
          <a:ln/>
        </p:spPr>
        <p:txBody>
          <a:bodyPr wrap="square" lIns="0" tIns="0" rIns="0" bIns="0" rtlCol="0" anchor="ctr"/>
          <a:lstStyle/>
          <a:p>
            <a:pPr marL="0" indent="0">
              <a:buNone/>
            </a:pPr>
            <a:r>
              <a:rPr lang="en-US" sz="1400" dirty="0">
                <a:solidFill>
                  <a:schemeClr val="tx1"/>
                </a:solidFill>
              </a:rPr>
              <a:t>Same columns for all methods; SHAP only describes XGBoost</a:t>
            </a:r>
            <a:endParaRPr lang="en-US" sz="1400" dirty="0"/>
          </a:p>
        </p:txBody>
      </p:sp>
      <p:sp>
        <p:nvSpPr>
          <p:cNvPr id="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2 · THE INNOVATION</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Underwriting Mathematical Formulations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The four formulas that decide every price in the study.</a:t>
            </a:r>
            <a:endParaRPr lang="en-US" sz="1500" dirty="0"/>
          </a:p>
        </p:txBody>
      </p:sp>
      <p:sp>
        <p:nvSpPr>
          <p:cNvPr id="6" name="Formula card"/>
          <p:cNvSpPr/>
          <p:nvPr/>
        </p:nvSpPr>
        <p:spPr>
          <a:xfrm>
            <a:off x="548640" y="1920240"/>
            <a:ext cx="5440680" cy="2103120"/>
          </a:xfrm>
          <a:prstGeom prst="roundRect">
            <a:avLst>
              <a:gd name="adj" fmla="val 4348"/>
            </a:avLst>
          </a:prstGeom>
          <a:solidFill>
            <a:schemeClr val="bg2"/>
          </a:solidFill>
          <a:ln/>
        </p:spPr>
      </p:sp>
      <p:sp>
        <p:nvSpPr>
          <p:cNvPr id="7" name="Text 4"/>
          <p:cNvSpPr txBox="1"/>
          <p:nvPr/>
        </p:nvSpPr>
        <p:spPr>
          <a:xfrm>
            <a:off x="822960" y="2084832"/>
            <a:ext cx="4937760" cy="365760"/>
          </a:xfrm>
          <a:prstGeom prst="rect">
            <a:avLst/>
          </a:prstGeom>
          <a:noFill/>
          <a:ln/>
        </p:spPr>
        <p:txBody>
          <a:bodyPr wrap="square" lIns="0" tIns="0" rIns="0" bIns="0" rtlCol="0" anchor="t"/>
          <a:lstStyle/>
          <a:p>
            <a:pPr marL="0" indent="0">
              <a:buNone/>
            </a:pPr>
            <a:r>
              <a:rPr lang="en-US" sz="1700" b="1" dirty="0">
                <a:solidFill>
                  <a:schemeClr val="accent1"/>
                </a:solidFill>
                <a:latin typeface="+mj-lt" pitchFamily="34" charset="0"/>
                <a:ea typeface="+mj-lt" pitchFamily="34" charset="-122"/>
                <a:cs typeface="+mj-lt" pitchFamily="34" charset="-120"/>
              </a:rPr>
              <a:t>1 · Truth: the simulated world</a:t>
            </a:r>
            <a:endParaRPr lang="en-US" sz="1700" dirty="0"/>
          </a:p>
        </p:txBody>
      </p:sp>
      <p:sp>
        <p:nvSpPr>
          <p:cNvPr id="8" name="Text 5"/>
          <p:cNvSpPr txBox="1"/>
          <p:nvPr/>
        </p:nvSpPr>
        <p:spPr>
          <a:xfrm>
            <a:off x="822960" y="2514600"/>
            <a:ext cx="4937760" cy="1051560"/>
          </a:xfrm>
          <a:prstGeom prst="rect">
            <a:avLst/>
          </a:prstGeom>
          <a:noFill/>
          <a:ln/>
        </p:spPr>
        <p:txBody>
          <a:bodyPr wrap="square" lIns="0" tIns="0" rIns="0" bIns="0" rtlCol="0" anchor="t"/>
          <a:lstStyle/>
          <a:p>
            <a:pPr marL="0" indent="0">
              <a:spcAft>
                <a:spcPts val="400"/>
              </a:spcAft>
              <a:buNone/>
            </a:pPr>
            <a:r>
              <a:rPr lang="en-US" sz="1600" dirty="0">
                <a:solidFill>
                  <a:schemeClr val="tx1"/>
                </a:solidFill>
                <a:latin typeface="+mj-lt" pitchFamily="34" charset="0"/>
                <a:ea typeface="+mj-lt" pitchFamily="34" charset="-122"/>
                <a:cs typeface="+mj-lt" pitchFamily="34" charset="-120"/>
              </a:rPr>
              <a:t>h(t) = Z · A</a:t>
            </a:r>
            <a:r>
              <a:rPr lang="en-US" sz="1600" baseline="-40000" dirty="0">
                <a:solidFill>
                  <a:schemeClr val="tx1"/>
                </a:solidFill>
                <a:latin typeface="+mj-lt" pitchFamily="34" charset="0"/>
                <a:ea typeface="+mj-lt" pitchFamily="34" charset="-122"/>
                <a:cs typeface="+mj-lt" pitchFamily="34" charset="-120"/>
              </a:rPr>
              <a:t>0</a:t>
            </a:r>
            <a:r>
              <a:rPr lang="en-US" sz="1600" dirty="0">
                <a:solidFill>
                  <a:schemeClr val="tx1"/>
                </a:solidFill>
                <a:latin typeface="+mj-lt" pitchFamily="34" charset="0"/>
                <a:ea typeface="+mj-lt" pitchFamily="34" charset="-122"/>
                <a:cs typeface="+mj-lt" pitchFamily="34" charset="-120"/>
              </a:rPr>
              <a:t> · s · e</a:t>
            </a:r>
            <a:r>
              <a:rPr lang="en-US" sz="1600" baseline="30000" dirty="0">
                <a:solidFill>
                  <a:schemeClr val="tx1"/>
                </a:solidFill>
                <a:latin typeface="+mj-lt" pitchFamily="34" charset="0"/>
                <a:ea typeface="+mj-lt" pitchFamily="34" charset="-122"/>
                <a:cs typeface="+mj-lt" pitchFamily="34" charset="-120"/>
              </a:rPr>
              <a:t>bt</a:t>
            </a:r>
            <a:r>
              <a:rPr lang="en-US" sz="1600" dirty="0">
                <a:solidFill>
                  <a:schemeClr val="tx1"/>
                </a:solidFill>
                <a:latin typeface="+mj-lt" pitchFamily="34" charset="0"/>
                <a:ea typeface="+mj-lt" pitchFamily="34" charset="-122"/>
                <a:cs typeface="+mj-lt" pitchFamily="34" charset="-120"/>
              </a:rPr>
              <a:t> · e</a:t>
            </a:r>
            <a:r>
              <a:rPr lang="en-US" sz="1600" baseline="30000" dirty="0">
                <a:solidFill>
                  <a:schemeClr val="tx1"/>
                </a:solidFill>
                <a:latin typeface="+mj-lt" pitchFamily="34" charset="0"/>
                <a:ea typeface="+mj-lt" pitchFamily="34" charset="-122"/>
                <a:cs typeface="+mj-lt" pitchFamily="34" charset="-120"/>
              </a:rPr>
              <a:t>LP</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LP = Σ β</a:t>
            </a:r>
            <a:r>
              <a:rPr lang="en-US" sz="1600" baseline="-40000" dirty="0">
                <a:solidFill>
                  <a:schemeClr val="tx1"/>
                </a:solidFill>
                <a:latin typeface="+mj-lt" pitchFamily="34" charset="0"/>
                <a:ea typeface="+mj-lt" pitchFamily="34" charset="-122"/>
                <a:cs typeface="+mj-lt" pitchFamily="34" charset="-120"/>
              </a:rPr>
              <a:t>k</a:t>
            </a:r>
            <a:r>
              <a:rPr lang="en-US" sz="1600" dirty="0">
                <a:solidFill>
                  <a:schemeClr val="tx1"/>
                </a:solidFill>
                <a:latin typeface="+mj-lt" pitchFamily="34" charset="0"/>
                <a:ea typeface="+mj-lt" pitchFamily="34" charset="-122"/>
                <a:cs typeface="+mj-lt" pitchFamily="34" charset="-120"/>
              </a:rPr>
              <a:t> x</a:t>
            </a:r>
            <a:r>
              <a:rPr lang="en-US" sz="1600" baseline="-40000" dirty="0">
                <a:solidFill>
                  <a:schemeClr val="tx1"/>
                </a:solidFill>
                <a:latin typeface="+mj-lt" pitchFamily="34" charset="0"/>
                <a:ea typeface="+mj-lt" pitchFamily="34" charset="-122"/>
                <a:cs typeface="+mj-lt" pitchFamily="34" charset="-120"/>
              </a:rPr>
              <a:t>k</a:t>
            </a:r>
            <a:r>
              <a:rPr lang="en-US" sz="1600" dirty="0">
                <a:solidFill>
                  <a:schemeClr val="tx1"/>
                </a:solidFill>
                <a:latin typeface="+mj-lt" pitchFamily="34" charset="0"/>
                <a:ea typeface="+mj-lt" pitchFamily="34" charset="-122"/>
                <a:cs typeface="+mj-lt" pitchFamily="34" charset="-120"/>
              </a:rPr>
              <a:t> + γ Σ β</a:t>
            </a:r>
            <a:r>
              <a:rPr lang="en-US" sz="1600" baseline="-40000" dirty="0">
                <a:solidFill>
                  <a:schemeClr val="tx1"/>
                </a:solidFill>
                <a:latin typeface="+mj-lt" pitchFamily="34" charset="0"/>
                <a:ea typeface="+mj-lt" pitchFamily="34" charset="-122"/>
                <a:cs typeface="+mj-lt" pitchFamily="34" charset="-120"/>
              </a:rPr>
              <a:t>jk</a:t>
            </a:r>
            <a:r>
              <a:rPr lang="en-US" sz="1600" dirty="0">
                <a:solidFill>
                  <a:schemeClr val="tx1"/>
                </a:solidFill>
                <a:latin typeface="+mj-lt" pitchFamily="34" charset="0"/>
                <a:ea typeface="+mj-lt" pitchFamily="34" charset="-122"/>
                <a:cs typeface="+mj-lt" pitchFamily="34" charset="-120"/>
              </a:rPr>
              <a:t> x</a:t>
            </a:r>
            <a:r>
              <a:rPr lang="en-US" sz="1600" baseline="-40000" dirty="0">
                <a:solidFill>
                  <a:schemeClr val="tx1"/>
                </a:solidFill>
                <a:latin typeface="+mj-lt" pitchFamily="34" charset="0"/>
                <a:ea typeface="+mj-lt" pitchFamily="34" charset="-122"/>
                <a:cs typeface="+mj-lt" pitchFamily="34" charset="-120"/>
              </a:rPr>
              <a:t>j</a:t>
            </a:r>
            <a:r>
              <a:rPr lang="en-US" sz="1600" dirty="0">
                <a:solidFill>
                  <a:schemeClr val="tx1"/>
                </a:solidFill>
                <a:latin typeface="+mj-lt" pitchFamily="34" charset="0"/>
                <a:ea typeface="+mj-lt" pitchFamily="34" charset="-122"/>
                <a:cs typeface="+mj-lt" pitchFamily="34" charset="-120"/>
              </a:rPr>
              <a:t> x</a:t>
            </a:r>
            <a:r>
              <a:rPr lang="en-US" sz="1600" baseline="-40000" dirty="0">
                <a:solidFill>
                  <a:schemeClr val="tx1"/>
                </a:solidFill>
                <a:latin typeface="+mj-lt" pitchFamily="34" charset="0"/>
                <a:ea typeface="+mj-lt" pitchFamily="34" charset="-122"/>
                <a:cs typeface="+mj-lt" pitchFamily="34" charset="-120"/>
              </a:rPr>
              <a:t>k</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p(T) = 1 − (1 + 0.25 · H(T))</a:t>
            </a:r>
            <a:r>
              <a:rPr lang="en-US" sz="1600" baseline="30000" dirty="0">
                <a:solidFill>
                  <a:schemeClr val="tx1"/>
                </a:solidFill>
                <a:latin typeface="+mj-lt" pitchFamily="34" charset="0"/>
                <a:ea typeface="+mj-lt" pitchFamily="34" charset="-122"/>
                <a:cs typeface="+mj-lt" pitchFamily="34" charset="-120"/>
              </a:rPr>
              <a:t>−4</a:t>
            </a:r>
            <a:endParaRPr lang="en-US" sz="1600" dirty="0"/>
          </a:p>
        </p:txBody>
      </p:sp>
      <p:sp>
        <p:nvSpPr>
          <p:cNvPr id="9" name="Text 6"/>
          <p:cNvSpPr txBox="1"/>
          <p:nvPr/>
        </p:nvSpPr>
        <p:spPr>
          <a:xfrm>
            <a:off x="822960" y="3547872"/>
            <a:ext cx="4937760" cy="411480"/>
          </a:xfrm>
          <a:prstGeom prst="rect">
            <a:avLst/>
          </a:prstGeom>
          <a:noFill/>
          <a:ln/>
        </p:spPr>
        <p:txBody>
          <a:bodyPr wrap="square" lIns="0" tIns="0" rIns="0" bIns="0" rtlCol="0" anchor="t"/>
          <a:lstStyle/>
          <a:p>
            <a:pPr marL="0" indent="0">
              <a:buNone/>
            </a:pPr>
            <a:r>
              <a:rPr lang="en-US" sz="1200" dirty="0">
                <a:solidFill>
                  <a:schemeClr val="tx2"/>
                </a:solidFill>
              </a:rPr>
              <a:t>Z hidden extra risk · γ interaction dial · H(T) total risk over T years</a:t>
            </a:r>
            <a:endParaRPr lang="en-US" sz="1200" dirty="0"/>
          </a:p>
        </p:txBody>
      </p:sp>
      <p:sp>
        <p:nvSpPr>
          <p:cNvPr id="10" name="Formula card"/>
          <p:cNvSpPr/>
          <p:nvPr/>
        </p:nvSpPr>
        <p:spPr>
          <a:xfrm>
            <a:off x="6199632" y="1920240"/>
            <a:ext cx="5440680" cy="2103120"/>
          </a:xfrm>
          <a:prstGeom prst="roundRect">
            <a:avLst>
              <a:gd name="adj" fmla="val 4348"/>
            </a:avLst>
          </a:prstGeom>
          <a:solidFill>
            <a:schemeClr val="bg2"/>
          </a:solidFill>
          <a:ln/>
        </p:spPr>
      </p:sp>
      <p:sp>
        <p:nvSpPr>
          <p:cNvPr id="11" name="Text 8"/>
          <p:cNvSpPr txBox="1"/>
          <p:nvPr/>
        </p:nvSpPr>
        <p:spPr>
          <a:xfrm>
            <a:off x="6473952" y="2084832"/>
            <a:ext cx="4937760" cy="365760"/>
          </a:xfrm>
          <a:prstGeom prst="rect">
            <a:avLst/>
          </a:prstGeom>
          <a:noFill/>
          <a:ln/>
        </p:spPr>
        <p:txBody>
          <a:bodyPr wrap="square" lIns="0" tIns="0" rIns="0" bIns="0" rtlCol="0" anchor="t"/>
          <a:lstStyle/>
          <a:p>
            <a:pPr marL="0" indent="0">
              <a:buNone/>
            </a:pPr>
            <a:r>
              <a:rPr lang="en-US" sz="1700" b="1" dirty="0">
                <a:solidFill>
                  <a:schemeClr val="accent4"/>
                </a:solidFill>
                <a:latin typeface="+mj-lt" pitchFamily="34" charset="0"/>
                <a:ea typeface="+mj-lt" pitchFamily="34" charset="-122"/>
                <a:cs typeface="+mj-lt" pitchFamily="34" charset="-120"/>
              </a:rPr>
              <a:t>2 · Traditional price (Arm A)</a:t>
            </a:r>
            <a:endParaRPr lang="en-US" sz="1700" dirty="0"/>
          </a:p>
        </p:txBody>
      </p:sp>
      <p:sp>
        <p:nvSpPr>
          <p:cNvPr id="12" name="Text 9"/>
          <p:cNvSpPr txBox="1"/>
          <p:nvPr/>
        </p:nvSpPr>
        <p:spPr>
          <a:xfrm>
            <a:off x="6473952" y="2514600"/>
            <a:ext cx="4937760" cy="1051560"/>
          </a:xfrm>
          <a:prstGeom prst="rect">
            <a:avLst/>
          </a:prstGeom>
          <a:noFill/>
          <a:ln/>
        </p:spPr>
        <p:txBody>
          <a:bodyPr wrap="square" lIns="0" tIns="0" rIns="0" bIns="0" rtlCol="0" anchor="t"/>
          <a:lstStyle/>
          <a:p>
            <a:pPr marL="0" indent="0">
              <a:spcAft>
                <a:spcPts val="400"/>
              </a:spcAft>
              <a:buNone/>
            </a:pPr>
            <a:r>
              <a:rPr lang="en-US" sz="1600" dirty="0">
                <a:solidFill>
                  <a:schemeClr val="tx1"/>
                </a:solidFill>
                <a:latin typeface="+mj-lt" pitchFamily="34" charset="0"/>
                <a:ea typeface="+mj-lt" pitchFamily="34" charset="-122"/>
                <a:cs typeface="+mj-lt" pitchFamily="34" charset="-120"/>
              </a:rPr>
              <a:t>p</a:t>
            </a:r>
            <a:r>
              <a:rPr lang="en-US" sz="1600" baseline="-40000" dirty="0">
                <a:solidFill>
                  <a:schemeClr val="tx1"/>
                </a:solidFill>
                <a:latin typeface="+mj-lt" pitchFamily="34" charset="0"/>
                <a:ea typeface="+mj-lt" pitchFamily="34" charset="-122"/>
                <a:cs typeface="+mj-lt" pitchFamily="34" charset="-120"/>
              </a:rPr>
              <a:t>10</a:t>
            </a:r>
            <a:r>
              <a:rPr lang="en-US" sz="1600" dirty="0">
                <a:solidFill>
                  <a:schemeClr val="tx1"/>
                </a:solidFill>
                <a:latin typeface="+mj-lt" pitchFamily="34" charset="0"/>
                <a:ea typeface="+mj-lt" pitchFamily="34" charset="-122"/>
                <a:cs typeface="+mj-lt" pitchFamily="34" charset="-120"/>
              </a:rPr>
              <a:t> = 1 − exp(−10 · k · h</a:t>
            </a:r>
            <a:r>
              <a:rPr lang="en-US" sz="1600" baseline="-40000" dirty="0">
                <a:solidFill>
                  <a:schemeClr val="tx1"/>
                </a:solidFill>
                <a:latin typeface="+mj-lt" pitchFamily="34" charset="0"/>
                <a:ea typeface="+mj-lt" pitchFamily="34" charset="-122"/>
                <a:cs typeface="+mj-lt" pitchFamily="34" charset="-120"/>
              </a:rPr>
              <a:t>band</a:t>
            </a:r>
            <a:r>
              <a:rPr lang="en-US" sz="1600" dirty="0">
                <a:solidFill>
                  <a:schemeClr val="tx1"/>
                </a:solidFill>
                <a:latin typeface="+mj-lt" pitchFamily="34" charset="0"/>
                <a:ea typeface="+mj-lt" pitchFamily="34" charset="-122"/>
                <a:cs typeface="+mj-lt" pitchFamily="34" charset="-120"/>
              </a:rPr>
              <a:t> · M)</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M = Π loading</a:t>
            </a:r>
            <a:r>
              <a:rPr lang="en-US" sz="1600" baseline="-40000" dirty="0">
                <a:solidFill>
                  <a:schemeClr val="tx1"/>
                </a:solidFill>
                <a:latin typeface="+mj-lt" pitchFamily="34" charset="0"/>
                <a:ea typeface="+mj-lt" pitchFamily="34" charset="-122"/>
                <a:cs typeface="+mj-lt" pitchFamily="34" charset="-120"/>
              </a:rPr>
              <a:t>j</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Standard if M ≤ 1.25 · Rated ≤ 5.0 · else Decline</a:t>
            </a:r>
            <a:endParaRPr lang="en-US" sz="1600" dirty="0"/>
          </a:p>
        </p:txBody>
      </p:sp>
      <p:sp>
        <p:nvSpPr>
          <p:cNvPr id="13" name="Text 10"/>
          <p:cNvSpPr txBox="1"/>
          <p:nvPr/>
        </p:nvSpPr>
        <p:spPr>
          <a:xfrm>
            <a:off x="6473952" y="3547872"/>
            <a:ext cx="4937760" cy="411480"/>
          </a:xfrm>
          <a:prstGeom prst="rect">
            <a:avLst/>
          </a:prstGeom>
          <a:noFill/>
          <a:ln/>
        </p:spPr>
        <p:txBody>
          <a:bodyPr wrap="square" lIns="0" tIns="0" rIns="0" bIns="0" rtlCol="0" anchor="t"/>
          <a:lstStyle/>
          <a:p>
            <a:pPr marL="0" indent="0">
              <a:buNone/>
            </a:pPr>
            <a:r>
              <a:rPr lang="en-US" sz="1200" dirty="0">
                <a:solidFill>
                  <a:schemeClr val="tx2"/>
                </a:solidFill>
              </a:rPr>
              <a:t>k ≈ 0.53 fitted scaling · h</a:t>
            </a:r>
            <a:r>
              <a:rPr lang="en-US" sz="1200" baseline="-40000" dirty="0">
                <a:solidFill>
                  <a:schemeClr val="tx2"/>
                </a:solidFill>
              </a:rPr>
              <a:t>b</a:t>
            </a:r>
            <a:r>
              <a:rPr lang="en-US" sz="1200" dirty="0">
                <a:solidFill>
                  <a:schemeClr val="tx2"/>
                </a:solidFill>
              </a:rPr>
              <a:t>and base rate by age band and sex</a:t>
            </a:r>
            <a:endParaRPr lang="en-US" sz="1200" dirty="0"/>
          </a:p>
        </p:txBody>
      </p:sp>
      <p:sp>
        <p:nvSpPr>
          <p:cNvPr id="14" name="Formula card"/>
          <p:cNvSpPr/>
          <p:nvPr/>
        </p:nvSpPr>
        <p:spPr>
          <a:xfrm>
            <a:off x="548640" y="4114800"/>
            <a:ext cx="5440680" cy="2103120"/>
          </a:xfrm>
          <a:prstGeom prst="roundRect">
            <a:avLst>
              <a:gd name="adj" fmla="val 4348"/>
            </a:avLst>
          </a:prstGeom>
          <a:solidFill>
            <a:schemeClr val="bg2"/>
          </a:solidFill>
          <a:ln/>
        </p:spPr>
      </p:sp>
      <p:sp>
        <p:nvSpPr>
          <p:cNvPr id="15" name="Text 12"/>
          <p:cNvSpPr txBox="1"/>
          <p:nvPr/>
        </p:nvSpPr>
        <p:spPr>
          <a:xfrm>
            <a:off x="822960" y="4279392"/>
            <a:ext cx="4937760" cy="365760"/>
          </a:xfrm>
          <a:prstGeom prst="rect">
            <a:avLst/>
          </a:prstGeom>
          <a:noFill/>
          <a:ln/>
        </p:spPr>
        <p:txBody>
          <a:bodyPr wrap="square" lIns="0" tIns="0" rIns="0" bIns="0" rtlCol="0" anchor="t"/>
          <a:lstStyle/>
          <a:p>
            <a:pPr marL="0" indent="0">
              <a:buNone/>
            </a:pPr>
            <a:r>
              <a:rPr lang="en-US" sz="1700" b="1" dirty="0">
                <a:solidFill>
                  <a:schemeClr val="accent3"/>
                </a:solidFill>
                <a:latin typeface="+mj-lt" pitchFamily="34" charset="0"/>
                <a:ea typeface="+mj-lt" pitchFamily="34" charset="-122"/>
                <a:cs typeface="+mj-lt" pitchFamily="34" charset="-120"/>
              </a:rPr>
              <a:t>3 · Machine learning (Arm B)</a:t>
            </a:r>
            <a:endParaRPr lang="en-US" sz="1700" dirty="0"/>
          </a:p>
        </p:txBody>
      </p:sp>
      <p:sp>
        <p:nvSpPr>
          <p:cNvPr id="16" name="Text 13"/>
          <p:cNvSpPr txBox="1"/>
          <p:nvPr/>
        </p:nvSpPr>
        <p:spPr>
          <a:xfrm>
            <a:off x="822960" y="4709160"/>
            <a:ext cx="4937760" cy="1051560"/>
          </a:xfrm>
          <a:prstGeom prst="rect">
            <a:avLst/>
          </a:prstGeom>
          <a:noFill/>
          <a:ln/>
        </p:spPr>
        <p:txBody>
          <a:bodyPr wrap="square" lIns="0" tIns="0" rIns="0" bIns="0" rtlCol="0" anchor="t"/>
          <a:lstStyle/>
          <a:p>
            <a:pPr marL="0" indent="0">
              <a:spcAft>
                <a:spcPts val="400"/>
              </a:spcAft>
              <a:buNone/>
            </a:pPr>
            <a:r>
              <a:rPr lang="en-US" sz="1600" dirty="0">
                <a:solidFill>
                  <a:schemeClr val="tx1"/>
                </a:solidFill>
                <a:latin typeface="+mj-lt" pitchFamily="34" charset="0"/>
                <a:ea typeface="+mj-lt" pitchFamily="34" charset="-122"/>
                <a:cs typeface="+mj-lt" pitchFamily="34" charset="-120"/>
              </a:rPr>
              <a:t>GLM: ln(p/(1−p)) = b</a:t>
            </a:r>
            <a:r>
              <a:rPr lang="en-US" sz="1600" baseline="-40000" dirty="0">
                <a:solidFill>
                  <a:schemeClr val="tx1"/>
                </a:solidFill>
                <a:latin typeface="+mj-lt" pitchFamily="34" charset="0"/>
                <a:ea typeface="+mj-lt" pitchFamily="34" charset="-122"/>
                <a:cs typeface="+mj-lt" pitchFamily="34" charset="-120"/>
              </a:rPr>
              <a:t>0</a:t>
            </a:r>
            <a:r>
              <a:rPr lang="en-US" sz="1600" dirty="0">
                <a:solidFill>
                  <a:schemeClr val="tx1"/>
                </a:solidFill>
                <a:latin typeface="+mj-lt" pitchFamily="34" charset="0"/>
                <a:ea typeface="+mj-lt" pitchFamily="34" charset="-122"/>
                <a:cs typeface="+mj-lt" pitchFamily="34" charset="-120"/>
              </a:rPr>
              <a:t> + Σ b</a:t>
            </a:r>
            <a:r>
              <a:rPr lang="en-US" sz="1600" baseline="-40000" dirty="0">
                <a:solidFill>
                  <a:schemeClr val="tx1"/>
                </a:solidFill>
                <a:latin typeface="+mj-lt" pitchFamily="34" charset="0"/>
                <a:ea typeface="+mj-lt" pitchFamily="34" charset="-122"/>
                <a:cs typeface="+mj-lt" pitchFamily="34" charset="-120"/>
              </a:rPr>
              <a:t>j</a:t>
            </a:r>
            <a:r>
              <a:rPr lang="en-US" sz="1600" dirty="0">
                <a:solidFill>
                  <a:schemeClr val="tx1"/>
                </a:solidFill>
                <a:latin typeface="+mj-lt" pitchFamily="34" charset="0"/>
                <a:ea typeface="+mj-lt" pitchFamily="34" charset="-122"/>
                <a:cs typeface="+mj-lt" pitchFamily="34" charset="-120"/>
              </a:rPr>
              <a:t> x</a:t>
            </a:r>
            <a:r>
              <a:rPr lang="en-US" sz="1600" baseline="-40000" dirty="0">
                <a:solidFill>
                  <a:schemeClr val="tx1"/>
                </a:solidFill>
                <a:latin typeface="+mj-lt" pitchFamily="34" charset="0"/>
                <a:ea typeface="+mj-lt" pitchFamily="34" charset="-122"/>
                <a:cs typeface="+mj-lt" pitchFamily="34" charset="-120"/>
              </a:rPr>
              <a:t>j</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XGBoost: ln(p/(1−p)) = Σ</a:t>
            </a:r>
            <a:r>
              <a:rPr lang="en-US" sz="1600" baseline="-40000" dirty="0">
                <a:solidFill>
                  <a:schemeClr val="tx1"/>
                </a:solidFill>
                <a:latin typeface="+mj-lt" pitchFamily="34" charset="0"/>
                <a:ea typeface="+mj-lt" pitchFamily="34" charset="-122"/>
                <a:cs typeface="+mj-lt" pitchFamily="34" charset="-120"/>
              </a:rPr>
              <a:t>m</a:t>
            </a:r>
            <a:r>
              <a:rPr lang="en-US" sz="1600" dirty="0">
                <a:solidFill>
                  <a:schemeClr val="tx1"/>
                </a:solidFill>
                <a:latin typeface="+mj-lt" pitchFamily="34" charset="0"/>
                <a:ea typeface="+mj-lt" pitchFamily="34" charset="-122"/>
                <a:cs typeface="+mj-lt" pitchFamily="34" charset="-120"/>
              </a:rPr>
              <a:t> f</a:t>
            </a:r>
            <a:r>
              <a:rPr lang="en-US" sz="1600" baseline="-40000" dirty="0">
                <a:solidFill>
                  <a:schemeClr val="tx1"/>
                </a:solidFill>
                <a:latin typeface="+mj-lt" pitchFamily="34" charset="0"/>
                <a:ea typeface="+mj-lt" pitchFamily="34" charset="-122"/>
                <a:cs typeface="+mj-lt" pitchFamily="34" charset="-120"/>
              </a:rPr>
              <a:t>m</a:t>
            </a:r>
            <a:r>
              <a:rPr lang="en-US" sz="1600" dirty="0">
                <a:solidFill>
                  <a:schemeClr val="tx1"/>
                </a:solidFill>
                <a:latin typeface="+mj-lt" pitchFamily="34" charset="0"/>
                <a:ea typeface="+mj-lt" pitchFamily="34" charset="-122"/>
                <a:cs typeface="+mj-lt" pitchFamily="34" charset="-120"/>
              </a:rPr>
              <a:t>(x)</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Cox: p</a:t>
            </a:r>
            <a:r>
              <a:rPr lang="en-US" sz="1600" baseline="-40000" dirty="0">
                <a:solidFill>
                  <a:schemeClr val="tx1"/>
                </a:solidFill>
                <a:latin typeface="+mj-lt" pitchFamily="34" charset="0"/>
                <a:ea typeface="+mj-lt" pitchFamily="34" charset="-122"/>
                <a:cs typeface="+mj-lt" pitchFamily="34" charset="-120"/>
              </a:rPr>
              <a:t>10</a:t>
            </a:r>
            <a:r>
              <a:rPr lang="en-US" sz="1600" dirty="0">
                <a:solidFill>
                  <a:schemeClr val="tx1"/>
                </a:solidFill>
                <a:latin typeface="+mj-lt" pitchFamily="34" charset="0"/>
                <a:ea typeface="+mj-lt" pitchFamily="34" charset="-122"/>
                <a:cs typeface="+mj-lt" pitchFamily="34" charset="-120"/>
              </a:rPr>
              <a:t> = 1 − exp(−H</a:t>
            </a:r>
            <a:r>
              <a:rPr lang="en-US" sz="1600" baseline="-40000" dirty="0">
                <a:solidFill>
                  <a:schemeClr val="tx1"/>
                </a:solidFill>
                <a:latin typeface="+mj-lt" pitchFamily="34" charset="0"/>
                <a:ea typeface="+mj-lt" pitchFamily="34" charset="-122"/>
                <a:cs typeface="+mj-lt" pitchFamily="34" charset="-120"/>
              </a:rPr>
              <a:t>0</a:t>
            </a:r>
            <a:r>
              <a:rPr lang="en-US" sz="1600" dirty="0">
                <a:solidFill>
                  <a:schemeClr val="tx1"/>
                </a:solidFill>
                <a:latin typeface="+mj-lt" pitchFamily="34" charset="0"/>
                <a:ea typeface="+mj-lt" pitchFamily="34" charset="-122"/>
                <a:cs typeface="+mj-lt" pitchFamily="34" charset="-120"/>
              </a:rPr>
              <a:t>(10) · e</a:t>
            </a:r>
            <a:r>
              <a:rPr lang="en-US" sz="1600" baseline="30000" dirty="0">
                <a:solidFill>
                  <a:schemeClr val="tx1"/>
                </a:solidFill>
                <a:latin typeface="+mj-lt" pitchFamily="34" charset="0"/>
                <a:ea typeface="+mj-lt" pitchFamily="34" charset="-122"/>
                <a:cs typeface="+mj-lt" pitchFamily="34" charset="-120"/>
              </a:rPr>
              <a:t>score</a:t>
            </a:r>
            <a:r>
              <a:rPr lang="en-US" sz="1600" dirty="0">
                <a:solidFill>
                  <a:schemeClr val="tx1"/>
                </a:solidFill>
                <a:latin typeface="+mj-lt" pitchFamily="34" charset="0"/>
                <a:ea typeface="+mj-lt" pitchFamily="34" charset="-122"/>
                <a:cs typeface="+mj-lt" pitchFamily="34" charset="-120"/>
              </a:rPr>
              <a:t>)</a:t>
            </a:r>
            <a:endParaRPr lang="en-US" sz="1600" dirty="0"/>
          </a:p>
        </p:txBody>
      </p:sp>
      <p:sp>
        <p:nvSpPr>
          <p:cNvPr id="17" name="Text 14"/>
          <p:cNvSpPr txBox="1"/>
          <p:nvPr/>
        </p:nvSpPr>
        <p:spPr>
          <a:xfrm>
            <a:off x="822960" y="5742432"/>
            <a:ext cx="4937760" cy="411480"/>
          </a:xfrm>
          <a:prstGeom prst="rect">
            <a:avLst/>
          </a:prstGeom>
          <a:noFill/>
          <a:ln/>
        </p:spPr>
        <p:txBody>
          <a:bodyPr wrap="square" lIns="0" tIns="0" rIns="0" bIns="0" rtlCol="0" anchor="t"/>
          <a:lstStyle/>
          <a:p>
            <a:pPr marL="0" indent="0">
              <a:buNone/>
            </a:pPr>
            <a:r>
              <a:rPr lang="en-US" sz="1200" dirty="0">
                <a:solidFill>
                  <a:schemeClr val="tx2"/>
                </a:solidFill>
              </a:rPr>
              <a:t>score = Σ b</a:t>
            </a:r>
            <a:r>
              <a:rPr lang="en-US" sz="1200" baseline="-40000" dirty="0">
                <a:solidFill>
                  <a:schemeClr val="tx2"/>
                </a:solidFill>
              </a:rPr>
              <a:t>j</a:t>
            </a:r>
            <a:r>
              <a:rPr lang="en-US" sz="1200" dirty="0">
                <a:solidFill>
                  <a:schemeClr val="tx2"/>
                </a:solidFill>
              </a:rPr>
              <a:t> x</a:t>
            </a:r>
            <a:r>
              <a:rPr lang="en-US" sz="1200" baseline="-40000" dirty="0">
                <a:solidFill>
                  <a:schemeClr val="tx2"/>
                </a:solidFill>
              </a:rPr>
              <a:t>j</a:t>
            </a:r>
            <a:r>
              <a:rPr lang="en-US" sz="1200" dirty="0">
                <a:solidFill>
                  <a:schemeClr val="tx2"/>
                </a:solidFill>
              </a:rPr>
              <a:t> · f</a:t>
            </a:r>
            <a:r>
              <a:rPr lang="en-US" sz="1200" baseline="-40000" dirty="0">
                <a:solidFill>
                  <a:schemeClr val="tx2"/>
                </a:solidFill>
              </a:rPr>
              <a:t>m</a:t>
            </a:r>
            <a:r>
              <a:rPr lang="en-US" sz="1200" dirty="0">
                <a:solidFill>
                  <a:schemeClr val="tx2"/>
                </a:solidFill>
              </a:rPr>
              <a:t> small trees (rate 0.05, depth 2–4) · H</a:t>
            </a:r>
            <a:r>
              <a:rPr lang="en-US" sz="1200" baseline="-40000" dirty="0">
                <a:solidFill>
                  <a:schemeClr val="tx2"/>
                </a:solidFill>
              </a:rPr>
              <a:t>0</a:t>
            </a:r>
            <a:r>
              <a:rPr lang="en-US" sz="1200" dirty="0">
                <a:solidFill>
                  <a:schemeClr val="tx2"/>
                </a:solidFill>
              </a:rPr>
              <a:t> baseline risk</a:t>
            </a:r>
            <a:endParaRPr lang="en-US" sz="1200" dirty="0"/>
          </a:p>
        </p:txBody>
      </p:sp>
      <p:sp>
        <p:nvSpPr>
          <p:cNvPr id="18" name="Formula card"/>
          <p:cNvSpPr/>
          <p:nvPr/>
        </p:nvSpPr>
        <p:spPr>
          <a:xfrm>
            <a:off x="6199632" y="4114800"/>
            <a:ext cx="5440680" cy="2103120"/>
          </a:xfrm>
          <a:prstGeom prst="roundRect">
            <a:avLst>
              <a:gd name="adj" fmla="val 4348"/>
            </a:avLst>
          </a:prstGeom>
          <a:solidFill>
            <a:schemeClr val="bg2"/>
          </a:solidFill>
          <a:ln/>
        </p:spPr>
      </p:sp>
      <p:sp>
        <p:nvSpPr>
          <p:cNvPr id="19" name="Text 16"/>
          <p:cNvSpPr txBox="1"/>
          <p:nvPr/>
        </p:nvSpPr>
        <p:spPr>
          <a:xfrm>
            <a:off x="6473952" y="4279392"/>
            <a:ext cx="4937760" cy="365760"/>
          </a:xfrm>
          <a:prstGeom prst="rect">
            <a:avLst/>
          </a:prstGeom>
          <a:noFill/>
          <a:ln/>
        </p:spPr>
        <p:txBody>
          <a:bodyPr wrap="square" lIns="0" tIns="0" rIns="0" bIns="0" rtlCol="0" anchor="t"/>
          <a:lstStyle/>
          <a:p>
            <a:pPr marL="0" indent="0">
              <a:buNone/>
            </a:pPr>
            <a:r>
              <a:rPr lang="en-US" sz="1700" b="1" dirty="0">
                <a:solidFill>
                  <a:schemeClr val="accent6"/>
                </a:solidFill>
                <a:latin typeface="+mj-lt" pitchFamily="34" charset="0"/>
                <a:ea typeface="+mj-lt" pitchFamily="34" charset="-122"/>
                <a:cs typeface="+mj-lt" pitchFamily="34" charset="-120"/>
              </a:rPr>
              <a:t>4 · Premium and solvency</a:t>
            </a:r>
            <a:endParaRPr lang="en-US" sz="1700" dirty="0"/>
          </a:p>
        </p:txBody>
      </p:sp>
      <p:sp>
        <p:nvSpPr>
          <p:cNvPr id="20" name="Text 17"/>
          <p:cNvSpPr txBox="1"/>
          <p:nvPr/>
        </p:nvSpPr>
        <p:spPr>
          <a:xfrm>
            <a:off x="6473952" y="4709160"/>
            <a:ext cx="4937760" cy="1051560"/>
          </a:xfrm>
          <a:prstGeom prst="rect">
            <a:avLst/>
          </a:prstGeom>
          <a:noFill/>
          <a:ln/>
        </p:spPr>
        <p:txBody>
          <a:bodyPr wrap="square" lIns="0" tIns="0" rIns="0" bIns="0" rtlCol="0" anchor="t"/>
          <a:lstStyle/>
          <a:p>
            <a:pPr marL="0" indent="0">
              <a:spcAft>
                <a:spcPts val="400"/>
              </a:spcAft>
              <a:buNone/>
            </a:pPr>
            <a:r>
              <a:rPr lang="en-US" sz="1600" dirty="0">
                <a:solidFill>
                  <a:schemeClr val="tx1"/>
                </a:solidFill>
                <a:latin typeface="+mj-lt" pitchFamily="34" charset="0"/>
                <a:ea typeface="+mj-lt" pitchFamily="34" charset="-122"/>
                <a:cs typeface="+mj-lt" pitchFamily="34" charset="-120"/>
              </a:rPr>
              <a:t>P = 1.25 × p × SA ÷ T</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Loss ratio = Σ p · SA/10 ÷ Σ P</a:t>
            </a:r>
            <a:endParaRPr lang="en-US" sz="1600" dirty="0"/>
          </a:p>
          <a:p>
            <a:pPr marL="0" indent="0">
              <a:spcAft>
                <a:spcPts val="400"/>
              </a:spcAft>
              <a:buNone/>
            </a:pPr>
            <a:r>
              <a:rPr lang="en-US" sz="1600" dirty="0">
                <a:solidFill>
                  <a:schemeClr val="tx1"/>
                </a:solidFill>
                <a:latin typeface="+mj-lt" pitchFamily="34" charset="0"/>
                <a:ea typeface="+mj-lt" pitchFamily="34" charset="-122"/>
                <a:cs typeface="+mj-lt" pitchFamily="34" charset="-120"/>
              </a:rPr>
              <a:t>Correct book: 1 ÷ 1.25 = 0.80</a:t>
            </a:r>
            <a:endParaRPr lang="en-US" sz="1600" dirty="0"/>
          </a:p>
        </p:txBody>
      </p:sp>
      <p:sp>
        <p:nvSpPr>
          <p:cNvPr id="21" name="Text 18"/>
          <p:cNvSpPr txBox="1"/>
          <p:nvPr/>
        </p:nvSpPr>
        <p:spPr>
          <a:xfrm>
            <a:off x="6473952" y="5742432"/>
            <a:ext cx="4937760" cy="411480"/>
          </a:xfrm>
          <a:prstGeom prst="rect">
            <a:avLst/>
          </a:prstGeom>
          <a:noFill/>
          <a:ln/>
        </p:spPr>
        <p:txBody>
          <a:bodyPr wrap="square" lIns="0" tIns="0" rIns="0" bIns="0" rtlCol="0" anchor="t"/>
          <a:lstStyle/>
          <a:p>
            <a:pPr marL="0" indent="0">
              <a:buNone/>
            </a:pPr>
            <a:r>
              <a:rPr lang="en-US" sz="1200" dirty="0">
                <a:solidFill>
                  <a:schemeClr val="tx2"/>
                </a:solidFill>
              </a:rPr>
              <a:t>15% expense + 10% profit loading (assumed) · SA sum assured · T term</a:t>
            </a:r>
            <a:endParaRPr lang="en-US" sz="12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2 · THE INNOVATION</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The Adversarial Element: The Lying Applicant</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Some applicants shade the truth, and Meridian only ever sees the form.</a:t>
            </a:r>
            <a:endParaRPr lang="en-US" sz="1500" dirty="0"/>
          </a:p>
        </p:txBody>
      </p:sp>
      <p:sp>
        <p:nvSpPr>
          <p:cNvPr id="6" name="Text 3"/>
          <p:cNvSpPr txBox="1"/>
          <p:nvPr/>
        </p:nvSpPr>
        <p:spPr>
          <a:xfrm>
            <a:off x="548640" y="1920240"/>
            <a:ext cx="6400800" cy="274320"/>
          </a:xfrm>
          <a:prstGeom prst="rect">
            <a:avLst/>
          </a:prstGeom>
          <a:noFill/>
          <a:ln/>
        </p:spPr>
        <p:txBody>
          <a:bodyPr wrap="square" lIns="0" tIns="0" rIns="0" bIns="0" rtlCol="0" anchor="t"/>
          <a:lstStyle/>
          <a:p>
            <a:pPr marL="0" indent="0">
              <a:buNone/>
            </a:pPr>
            <a:r>
              <a:rPr lang="en-US" sz="1400" b="1" dirty="0">
                <a:solidFill>
                  <a:schemeClr val="tx2"/>
                </a:solidFill>
              </a:rPr>
              <a:t>Share of applicants (our assumption)</a:t>
            </a:r>
            <a:endParaRPr lang="en-US" sz="1400" dirty="0"/>
          </a:p>
        </p:txBody>
      </p:sp>
      <p:sp>
        <p:nvSpPr>
          <p:cNvPr id="7" name="Honesty segment"/>
          <p:cNvSpPr txBox="1"/>
          <p:nvPr/>
        </p:nvSpPr>
        <p:spPr>
          <a:xfrm>
            <a:off x="548640" y="2286000"/>
            <a:ext cx="4160520" cy="731520"/>
          </a:xfrm>
          <a:prstGeom prst="rect">
            <a:avLst/>
          </a:prstGeom>
          <a:solidFill>
            <a:schemeClr val="accent3"/>
          </a:solidFill>
          <a:ln/>
        </p:spPr>
        <p:txBody>
          <a:bodyPr wrap="square" lIns="0" tIns="0" rIns="0" bIns="0" rtlCol="0" anchor="ctr"/>
          <a:lstStyle/>
          <a:p>
            <a:pPr marL="0" indent="0" algn="ctr">
              <a:buNone/>
            </a:pPr>
            <a:r>
              <a:rPr lang="en-US" sz="1600" b="1" dirty="0">
                <a:solidFill>
                  <a:schemeClr val="bg1"/>
                </a:solidFill>
              </a:rPr>
              <a:t>65%</a:t>
            </a:r>
            <a:endParaRPr lang="en-US" sz="1600" dirty="0"/>
          </a:p>
        </p:txBody>
      </p:sp>
      <p:sp>
        <p:nvSpPr>
          <p:cNvPr id="8" name="Honesty segment"/>
          <p:cNvSpPr txBox="1"/>
          <p:nvPr/>
        </p:nvSpPr>
        <p:spPr>
          <a:xfrm>
            <a:off x="4709160" y="2286000"/>
            <a:ext cx="960120" cy="731520"/>
          </a:xfrm>
          <a:prstGeom prst="rect">
            <a:avLst/>
          </a:prstGeom>
          <a:solidFill>
            <a:schemeClr val="accent1"/>
          </a:solidFill>
          <a:ln/>
        </p:spPr>
        <p:txBody>
          <a:bodyPr wrap="square" lIns="0" tIns="0" rIns="0" bIns="0" rtlCol="0" anchor="ctr"/>
          <a:lstStyle/>
          <a:p>
            <a:pPr marL="0" indent="0" algn="ctr">
              <a:buNone/>
            </a:pPr>
            <a:r>
              <a:rPr lang="en-US" sz="1600" b="1" dirty="0">
                <a:solidFill>
                  <a:schemeClr val="bg1"/>
                </a:solidFill>
              </a:rPr>
              <a:t>15%</a:t>
            </a:r>
            <a:endParaRPr lang="en-US" sz="1600" dirty="0"/>
          </a:p>
        </p:txBody>
      </p:sp>
      <p:sp>
        <p:nvSpPr>
          <p:cNvPr id="9" name="Honesty segment"/>
          <p:cNvSpPr txBox="1"/>
          <p:nvPr/>
        </p:nvSpPr>
        <p:spPr>
          <a:xfrm>
            <a:off x="5669280" y="2286000"/>
            <a:ext cx="768096" cy="731520"/>
          </a:xfrm>
          <a:prstGeom prst="rect">
            <a:avLst/>
          </a:prstGeom>
          <a:solidFill>
            <a:schemeClr val="accent2"/>
          </a:solidFill>
          <a:ln/>
        </p:spPr>
        <p:txBody>
          <a:bodyPr wrap="square" lIns="0" tIns="0" rIns="0" bIns="0" rtlCol="0" anchor="ctr"/>
          <a:lstStyle/>
          <a:p>
            <a:pPr marL="0" indent="0" algn="ctr">
              <a:buNone/>
            </a:pPr>
            <a:r>
              <a:rPr lang="en-US" sz="1600" b="1" dirty="0">
                <a:solidFill>
                  <a:schemeClr val="tx1"/>
                </a:solidFill>
              </a:rPr>
              <a:t>12%</a:t>
            </a:r>
            <a:endParaRPr lang="en-US" sz="1600" dirty="0"/>
          </a:p>
        </p:txBody>
      </p:sp>
      <p:sp>
        <p:nvSpPr>
          <p:cNvPr id="10" name="Honesty segment"/>
          <p:cNvSpPr txBox="1"/>
          <p:nvPr/>
        </p:nvSpPr>
        <p:spPr>
          <a:xfrm>
            <a:off x="6437376" y="2286000"/>
            <a:ext cx="512064" cy="731520"/>
          </a:xfrm>
          <a:prstGeom prst="rect">
            <a:avLst/>
          </a:prstGeom>
          <a:solidFill>
            <a:schemeClr val="accent6"/>
          </a:solidFill>
          <a:ln/>
        </p:spPr>
        <p:txBody>
          <a:bodyPr wrap="square" lIns="0" tIns="0" rIns="0" bIns="0" rtlCol="0" anchor="ctr"/>
          <a:lstStyle/>
          <a:p>
            <a:pPr marL="0" indent="0" algn="ctr">
              <a:buNone/>
            </a:pPr>
            <a:r>
              <a:rPr lang="en-US" sz="1300" b="1" dirty="0">
                <a:solidFill>
                  <a:schemeClr val="bg1"/>
                </a:solidFill>
              </a:rPr>
              <a:t>8%</a:t>
            </a:r>
            <a:endParaRPr lang="en-US" sz="1300" dirty="0"/>
          </a:p>
        </p:txBody>
      </p:sp>
      <p:sp>
        <p:nvSpPr>
          <p:cNvPr id="11" name="Legend dot"/>
          <p:cNvSpPr/>
          <p:nvPr/>
        </p:nvSpPr>
        <p:spPr>
          <a:xfrm>
            <a:off x="548640" y="3255264"/>
            <a:ext cx="182880" cy="182880"/>
          </a:xfrm>
          <a:prstGeom prst="ellipse">
            <a:avLst/>
          </a:prstGeom>
          <a:solidFill>
            <a:schemeClr val="accent3"/>
          </a:solidFill>
          <a:ln/>
        </p:spPr>
      </p:sp>
      <p:sp>
        <p:nvSpPr>
          <p:cNvPr id="12" name="Text 9"/>
          <p:cNvSpPr txBox="1"/>
          <p:nvPr/>
        </p:nvSpPr>
        <p:spPr>
          <a:xfrm>
            <a:off x="822960" y="3200400"/>
            <a:ext cx="2926080" cy="292608"/>
          </a:xfrm>
          <a:prstGeom prst="rect">
            <a:avLst/>
          </a:prstGeom>
          <a:noFill/>
          <a:ln/>
        </p:spPr>
        <p:txBody>
          <a:bodyPr wrap="square" lIns="0" tIns="0" rIns="0" bIns="0" rtlCol="0" anchor="t"/>
          <a:lstStyle/>
          <a:p>
            <a:pPr marL="0" indent="0">
              <a:buNone/>
            </a:pPr>
            <a:r>
              <a:rPr lang="en-US" sz="1400" dirty="0">
                <a:solidFill>
                  <a:schemeClr val="tx1"/>
                </a:solidFill>
              </a:rPr>
              <a:t>Honest · 32,500</a:t>
            </a:r>
            <a:endParaRPr lang="en-US" sz="1400" dirty="0"/>
          </a:p>
        </p:txBody>
      </p:sp>
      <p:sp>
        <p:nvSpPr>
          <p:cNvPr id="13" name="Legend dot"/>
          <p:cNvSpPr/>
          <p:nvPr/>
        </p:nvSpPr>
        <p:spPr>
          <a:xfrm>
            <a:off x="3840480" y="3255264"/>
            <a:ext cx="182880" cy="182880"/>
          </a:xfrm>
          <a:prstGeom prst="ellipse">
            <a:avLst/>
          </a:prstGeom>
          <a:solidFill>
            <a:schemeClr val="accent1"/>
          </a:solidFill>
          <a:ln/>
        </p:spPr>
      </p:sp>
      <p:sp>
        <p:nvSpPr>
          <p:cNvPr id="14" name="Text 11"/>
          <p:cNvSpPr txBox="1"/>
          <p:nvPr/>
        </p:nvSpPr>
        <p:spPr>
          <a:xfrm>
            <a:off x="4114800" y="3200400"/>
            <a:ext cx="2926080" cy="292608"/>
          </a:xfrm>
          <a:prstGeom prst="rect">
            <a:avLst/>
          </a:prstGeom>
          <a:noFill/>
          <a:ln/>
        </p:spPr>
        <p:txBody>
          <a:bodyPr wrap="square" lIns="0" tIns="0" rIns="0" bIns="0" rtlCol="0" anchor="t"/>
          <a:lstStyle/>
          <a:p>
            <a:pPr marL="0" indent="0">
              <a:buNone/>
            </a:pPr>
            <a:r>
              <a:rPr lang="en-US" sz="1400" dirty="0">
                <a:solidFill>
                  <a:schemeClr val="tx1"/>
                </a:solidFill>
              </a:rPr>
              <a:t>Hides smoking · 7,500</a:t>
            </a:r>
            <a:endParaRPr lang="en-US" sz="1400" dirty="0"/>
          </a:p>
        </p:txBody>
      </p:sp>
      <p:sp>
        <p:nvSpPr>
          <p:cNvPr id="15" name="Legend dot"/>
          <p:cNvSpPr/>
          <p:nvPr/>
        </p:nvSpPr>
        <p:spPr>
          <a:xfrm>
            <a:off x="548640" y="3602736"/>
            <a:ext cx="182880" cy="182880"/>
          </a:xfrm>
          <a:prstGeom prst="ellipse">
            <a:avLst/>
          </a:prstGeom>
          <a:solidFill>
            <a:schemeClr val="accent2"/>
          </a:solidFill>
          <a:ln/>
        </p:spPr>
      </p:sp>
      <p:sp>
        <p:nvSpPr>
          <p:cNvPr id="16" name="Text 13"/>
          <p:cNvSpPr txBox="1"/>
          <p:nvPr/>
        </p:nvSpPr>
        <p:spPr>
          <a:xfrm>
            <a:off x="822960" y="3547872"/>
            <a:ext cx="2926080" cy="292608"/>
          </a:xfrm>
          <a:prstGeom prst="rect">
            <a:avLst/>
          </a:prstGeom>
          <a:noFill/>
          <a:ln/>
        </p:spPr>
        <p:txBody>
          <a:bodyPr wrap="square" lIns="0" tIns="0" rIns="0" bIns="0" rtlCol="0" anchor="t"/>
          <a:lstStyle/>
          <a:p>
            <a:pPr marL="0" indent="0">
              <a:buNone/>
            </a:pPr>
            <a:r>
              <a:rPr lang="en-US" sz="1400" dirty="0">
                <a:solidFill>
                  <a:schemeClr val="tx1"/>
                </a:solidFill>
              </a:rPr>
              <a:t>Hides disease · 6,000</a:t>
            </a:r>
            <a:endParaRPr lang="en-US" sz="1400" dirty="0"/>
          </a:p>
        </p:txBody>
      </p:sp>
      <p:sp>
        <p:nvSpPr>
          <p:cNvPr id="17" name="Legend dot"/>
          <p:cNvSpPr/>
          <p:nvPr/>
        </p:nvSpPr>
        <p:spPr>
          <a:xfrm>
            <a:off x="3840480" y="3602736"/>
            <a:ext cx="182880" cy="182880"/>
          </a:xfrm>
          <a:prstGeom prst="ellipse">
            <a:avLst/>
          </a:prstGeom>
          <a:solidFill>
            <a:schemeClr val="accent6"/>
          </a:solidFill>
          <a:ln/>
        </p:spPr>
      </p:sp>
      <p:sp>
        <p:nvSpPr>
          <p:cNvPr id="18" name="Text 15"/>
          <p:cNvSpPr txBox="1"/>
          <p:nvPr/>
        </p:nvSpPr>
        <p:spPr>
          <a:xfrm>
            <a:off x="4114800" y="3547872"/>
            <a:ext cx="2926080" cy="292608"/>
          </a:xfrm>
          <a:prstGeom prst="rect">
            <a:avLst/>
          </a:prstGeom>
          <a:noFill/>
          <a:ln/>
        </p:spPr>
        <p:txBody>
          <a:bodyPr wrap="square" lIns="0" tIns="0" rIns="0" bIns="0" rtlCol="0" anchor="t"/>
          <a:lstStyle/>
          <a:p>
            <a:pPr marL="0" indent="0">
              <a:buNone/>
            </a:pPr>
            <a:r>
              <a:rPr lang="en-US" sz="1400" dirty="0">
                <a:solidFill>
                  <a:schemeClr val="tx1"/>
                </a:solidFill>
              </a:rPr>
              <a:t>Hides both · 4,000</a:t>
            </a:r>
            <a:endParaRPr lang="en-US" sz="1400" dirty="0"/>
          </a:p>
        </p:txBody>
      </p:sp>
      <p:sp>
        <p:nvSpPr>
          <p:cNvPr id="19" name="Rule chip"/>
          <p:cNvSpPr/>
          <p:nvPr/>
        </p:nvSpPr>
        <p:spPr>
          <a:xfrm>
            <a:off x="548640" y="4114800"/>
            <a:ext cx="6492240" cy="603504"/>
          </a:xfrm>
          <a:prstGeom prst="roundRect">
            <a:avLst>
              <a:gd name="adj" fmla="val 15152"/>
            </a:avLst>
          </a:prstGeom>
          <a:solidFill>
            <a:schemeClr val="bg2"/>
          </a:solidFill>
          <a:ln/>
        </p:spPr>
      </p:sp>
      <p:sp>
        <p:nvSpPr>
          <p:cNvPr id="20" name="Icon circle Lock"/>
          <p:cNvSpPr/>
          <p:nvPr/>
        </p:nvSpPr>
        <p:spPr>
          <a:xfrm>
            <a:off x="658368" y="4187952"/>
            <a:ext cx="457200" cy="457200"/>
          </a:xfrm>
          <a:prstGeom prst="ellipse">
            <a:avLst/>
          </a:prstGeom>
          <a:solidFill>
            <a:schemeClr val="tx1"/>
          </a:solidFill>
          <a:ln/>
        </p:spPr>
      </p:sp>
      <p:pic>
        <p:nvPicPr>
          <p:cNvPr id="21" name="Image 0" descr="Lock icon"/>
          <p:cNvPicPr>
            <a:picLocks noChangeAspect="1"/>
          </p:cNvPicPr>
          <p:nvPr/>
        </p:nvPicPr>
        <p:blipFill>
          <a:blip r:embed="rId3"/>
          <a:stretch>
            <a:fillRect/>
          </a:stretch>
        </p:blipFill>
        <p:spPr>
          <a:xfrm>
            <a:off x="772668" y="4302252"/>
            <a:ext cx="228600" cy="228600"/>
          </a:xfrm>
          <a:prstGeom prst="rect">
            <a:avLst/>
          </a:prstGeom>
        </p:spPr>
      </p:pic>
      <p:sp>
        <p:nvSpPr>
          <p:cNvPr id="22" name="Text 18"/>
          <p:cNvSpPr txBox="1"/>
          <p:nvPr/>
        </p:nvSpPr>
        <p:spPr>
          <a:xfrm>
            <a:off x="1280160" y="4114800"/>
            <a:ext cx="5669280" cy="603504"/>
          </a:xfrm>
          <a:prstGeom prst="rect">
            <a:avLst/>
          </a:prstGeom>
          <a:noFill/>
          <a:ln/>
        </p:spPr>
        <p:txBody>
          <a:bodyPr wrap="square" lIns="0" tIns="0" rIns="0" bIns="0" rtlCol="0" anchor="ctr"/>
          <a:lstStyle/>
          <a:p>
            <a:pPr marL="0" indent="0">
              <a:buNone/>
            </a:pPr>
            <a:r>
              <a:rPr lang="en-US" sz="1500" dirty="0">
                <a:solidFill>
                  <a:schemeClr val="tx1"/>
                </a:solidFill>
              </a:rPr>
              <a:t>Lies are false values, never blanks</a:t>
            </a:r>
            <a:endParaRPr lang="en-US" sz="1500" dirty="0"/>
          </a:p>
        </p:txBody>
      </p:sp>
      <p:sp>
        <p:nvSpPr>
          <p:cNvPr id="23" name="Rule chip"/>
          <p:cNvSpPr/>
          <p:nvPr/>
        </p:nvSpPr>
        <p:spPr>
          <a:xfrm>
            <a:off x="548640" y="4828032"/>
            <a:ext cx="6492240" cy="603504"/>
          </a:xfrm>
          <a:prstGeom prst="roundRect">
            <a:avLst>
              <a:gd name="adj" fmla="val 15152"/>
            </a:avLst>
          </a:prstGeom>
          <a:solidFill>
            <a:schemeClr val="bg2"/>
          </a:solidFill>
          <a:ln/>
        </p:spPr>
      </p:sp>
      <p:sp>
        <p:nvSpPr>
          <p:cNvPr id="24" name="Icon circle UserSecret"/>
          <p:cNvSpPr/>
          <p:nvPr/>
        </p:nvSpPr>
        <p:spPr>
          <a:xfrm>
            <a:off x="658368" y="4901184"/>
            <a:ext cx="457200" cy="457200"/>
          </a:xfrm>
          <a:prstGeom prst="ellipse">
            <a:avLst/>
          </a:prstGeom>
          <a:solidFill>
            <a:schemeClr val="tx1"/>
          </a:solidFill>
          <a:ln/>
        </p:spPr>
      </p:sp>
      <p:pic>
        <p:nvPicPr>
          <p:cNvPr id="25" name="Image 1" descr="UserSecret icon"/>
          <p:cNvPicPr>
            <a:picLocks noChangeAspect="1"/>
          </p:cNvPicPr>
          <p:nvPr/>
        </p:nvPicPr>
        <p:blipFill>
          <a:blip r:embed="rId4"/>
          <a:stretch>
            <a:fillRect/>
          </a:stretch>
        </p:blipFill>
        <p:spPr>
          <a:xfrm>
            <a:off x="772668" y="5015484"/>
            <a:ext cx="228600" cy="228600"/>
          </a:xfrm>
          <a:prstGeom prst="rect">
            <a:avLst/>
          </a:prstGeom>
        </p:spPr>
      </p:pic>
      <p:sp>
        <p:nvSpPr>
          <p:cNvPr id="26" name="Text 21"/>
          <p:cNvSpPr txBox="1"/>
          <p:nvPr/>
        </p:nvSpPr>
        <p:spPr>
          <a:xfrm>
            <a:off x="1280160" y="4828032"/>
            <a:ext cx="5669280" cy="603504"/>
          </a:xfrm>
          <a:prstGeom prst="rect">
            <a:avLst/>
          </a:prstGeom>
          <a:noFill/>
          <a:ln/>
        </p:spPr>
        <p:txBody>
          <a:bodyPr wrap="square" lIns="0" tIns="0" rIns="0" bIns="0" rtlCol="0" anchor="ctr"/>
          <a:lstStyle/>
          <a:p>
            <a:pPr marL="0" indent="0">
              <a:buNone/>
            </a:pPr>
            <a:r>
              <a:rPr lang="en-US" sz="1500" dirty="0">
                <a:solidFill>
                  <a:schemeClr val="tx1"/>
                </a:solidFill>
              </a:rPr>
              <a:t>Only a real condition can be hidden</a:t>
            </a:r>
            <a:endParaRPr lang="en-US" sz="1500" dirty="0"/>
          </a:p>
        </p:txBody>
      </p:sp>
      <p:sp>
        <p:nvSpPr>
          <p:cNvPr id="27" name="Rule chip"/>
          <p:cNvSpPr/>
          <p:nvPr/>
        </p:nvSpPr>
        <p:spPr>
          <a:xfrm>
            <a:off x="548640" y="5541264"/>
            <a:ext cx="6492240" cy="603504"/>
          </a:xfrm>
          <a:prstGeom prst="roundRect">
            <a:avLst>
              <a:gd name="adj" fmla="val 15152"/>
            </a:avLst>
          </a:prstGeom>
          <a:solidFill>
            <a:schemeClr val="bg2"/>
          </a:solidFill>
          <a:ln/>
        </p:spPr>
      </p:sp>
      <p:sp>
        <p:nvSpPr>
          <p:cNvPr id="28" name="Icon circle Smoking"/>
          <p:cNvSpPr/>
          <p:nvPr/>
        </p:nvSpPr>
        <p:spPr>
          <a:xfrm>
            <a:off x="658368" y="5614416"/>
            <a:ext cx="457200" cy="457200"/>
          </a:xfrm>
          <a:prstGeom prst="ellipse">
            <a:avLst/>
          </a:prstGeom>
          <a:solidFill>
            <a:schemeClr val="tx1"/>
          </a:solidFill>
          <a:ln/>
        </p:spPr>
      </p:sp>
      <p:pic>
        <p:nvPicPr>
          <p:cNvPr id="29" name="Image 2" descr="Smoking icon"/>
          <p:cNvPicPr>
            <a:picLocks noChangeAspect="1"/>
          </p:cNvPicPr>
          <p:nvPr/>
        </p:nvPicPr>
        <p:blipFill>
          <a:blip r:embed="rId5"/>
          <a:stretch>
            <a:fillRect/>
          </a:stretch>
        </p:blipFill>
        <p:spPr>
          <a:xfrm>
            <a:off x="772668" y="5728716"/>
            <a:ext cx="228600" cy="228600"/>
          </a:xfrm>
          <a:prstGeom prst="rect">
            <a:avLst/>
          </a:prstGeom>
        </p:spPr>
      </p:pic>
      <p:sp>
        <p:nvSpPr>
          <p:cNvPr id="30" name="Text 24"/>
          <p:cNvSpPr txBox="1"/>
          <p:nvPr/>
        </p:nvSpPr>
        <p:spPr>
          <a:xfrm>
            <a:off x="1280160" y="5541264"/>
            <a:ext cx="5669280" cy="603504"/>
          </a:xfrm>
          <a:prstGeom prst="rect">
            <a:avLst/>
          </a:prstGeom>
          <a:noFill/>
          <a:ln/>
        </p:spPr>
        <p:txBody>
          <a:bodyPr wrap="square" lIns="0" tIns="0" rIns="0" bIns="0" rtlCol="0" anchor="ctr"/>
          <a:lstStyle/>
          <a:p>
            <a:pPr marL="0" indent="0">
              <a:buNone/>
            </a:pPr>
            <a:r>
              <a:rPr lang="en-US" sz="1500" dirty="0">
                <a:solidFill>
                  <a:schemeClr val="tx1"/>
                </a:solidFill>
              </a:rPr>
              <a:t>Smokers oversampled to 35%: about 66% of them lie</a:t>
            </a:r>
            <a:endParaRPr lang="en-US" sz="1500" dirty="0"/>
          </a:p>
        </p:txBody>
      </p:sp>
      <p:graphicFrame>
        <p:nvGraphicFramePr>
          <p:cNvPr id="31" name="Chart 0"/>
          <p:cNvGraphicFramePr/>
          <p:nvPr>
            <p:extLst>
              <p:ext uri="{D42A27DB-BD31-4B8C-83A1-F6EECF244321}">
                <p14:modId xmlns:p14="http://schemas.microsoft.com/office/powerpoint/2010/main" val="3101057967"/>
              </p:ext>
            </p:extLst>
          </p:nvPr>
        </p:nvGraphicFramePr>
        <p:xfrm>
          <a:off x="7315200" y="1874520"/>
          <a:ext cx="4325112" cy="3063240"/>
        </p:xfrm>
        <a:graphic>
          <a:graphicData uri="http://schemas.openxmlformats.org/drawingml/2006/chart">
            <c:chart xmlns:c="http://schemas.openxmlformats.org/drawingml/2006/chart" xmlns:r="http://schemas.openxmlformats.org/officeDocument/2006/relationships" r:id="rId6"/>
          </a:graphicData>
        </a:graphic>
      </p:graphicFrame>
      <p:sp>
        <p:nvSpPr>
          <p:cNvPr id="32" name="Footprints note"/>
          <p:cNvSpPr/>
          <p:nvPr/>
        </p:nvSpPr>
        <p:spPr>
          <a:xfrm>
            <a:off x="7315200" y="5074920"/>
            <a:ext cx="4325112" cy="1143000"/>
          </a:xfrm>
          <a:prstGeom prst="roundRect">
            <a:avLst>
              <a:gd name="adj" fmla="val 8000"/>
            </a:avLst>
          </a:prstGeom>
          <a:solidFill>
            <a:schemeClr val="bg2"/>
          </a:solidFill>
          <a:ln/>
        </p:spPr>
      </p:sp>
      <p:sp>
        <p:nvSpPr>
          <p:cNvPr id="33" name="Text 26"/>
          <p:cNvSpPr txBox="1"/>
          <p:nvPr/>
        </p:nvSpPr>
        <p:spPr>
          <a:xfrm>
            <a:off x="7498080" y="5074920"/>
            <a:ext cx="3977640" cy="1143000"/>
          </a:xfrm>
          <a:prstGeom prst="rect">
            <a:avLst/>
          </a:prstGeom>
          <a:noFill/>
          <a:ln/>
        </p:spPr>
        <p:txBody>
          <a:bodyPr wrap="square" lIns="0" tIns="0" rIns="0" bIns="0" rtlCol="0" anchor="ctr"/>
          <a:lstStyle/>
          <a:p>
            <a:pPr marL="0" indent="0">
              <a:buNone/>
            </a:pPr>
            <a:r>
              <a:rPr lang="en-US" sz="1400" b="1" dirty="0">
                <a:solidFill>
                  <a:schemeClr val="tx1"/>
                </a:solidFill>
              </a:rPr>
              <a:t>Footprints. </a:t>
            </a:r>
            <a:r>
              <a:rPr lang="en-US" sz="1400" dirty="0">
                <a:solidFill>
                  <a:schemeClr val="tx1"/>
                </a:solidFill>
              </a:rPr>
              <a:t>Hidden facts leave traces in measured numbers, such as blood sugar. Smoking leaves almost none.</a:t>
            </a:r>
            <a:endParaRPr lang="en-US" sz="1400" dirty="0"/>
          </a:p>
        </p:txBody>
      </p:sp>
      <p:sp>
        <p:nvSpPr>
          <p:cNvPr id="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3 · THE TEST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Honest Applicants: Rule-Based Outcomes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The test begins with honest applicants and the status quo.</a:t>
            </a:r>
            <a:endParaRPr lang="en-US" sz="1500" dirty="0"/>
          </a:p>
        </p:txBody>
      </p:sp>
      <p:graphicFrame>
        <p:nvGraphicFramePr>
          <p:cNvPr id="6" name="Chart 0"/>
          <p:cNvGraphicFramePr/>
          <p:nvPr/>
        </p:nvGraphicFramePr>
        <p:xfrm>
          <a:off x="548640" y="1874520"/>
          <a:ext cx="67665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Stat card"/>
          <p:cNvSpPr/>
          <p:nvPr/>
        </p:nvSpPr>
        <p:spPr>
          <a:xfrm>
            <a:off x="7680960" y="1874520"/>
            <a:ext cx="3959352" cy="1371600"/>
          </a:xfrm>
          <a:prstGeom prst="roundRect">
            <a:avLst>
              <a:gd name="adj" fmla="val 6667"/>
            </a:avLst>
          </a:prstGeom>
          <a:solidFill>
            <a:schemeClr val="bg2"/>
          </a:solidFill>
          <a:ln/>
        </p:spPr>
      </p:sp>
      <p:sp>
        <p:nvSpPr>
          <p:cNvPr id="8" name="Text 4"/>
          <p:cNvSpPr txBox="1"/>
          <p:nvPr/>
        </p:nvSpPr>
        <p:spPr>
          <a:xfrm>
            <a:off x="7909560" y="1965960"/>
            <a:ext cx="3566160" cy="502920"/>
          </a:xfrm>
          <a:prstGeom prst="rect">
            <a:avLst/>
          </a:prstGeom>
          <a:noFill/>
          <a:ln/>
        </p:spPr>
        <p:txBody>
          <a:bodyPr wrap="square" lIns="0" tIns="0" rIns="0" bIns="0" rtlCol="0" anchor="ctr"/>
          <a:lstStyle/>
          <a:p>
            <a:pPr marL="0" indent="0">
              <a:buNone/>
            </a:pPr>
            <a:r>
              <a:rPr lang="en-US" sz="3000" b="1" dirty="0">
                <a:solidFill>
                  <a:schemeClr val="accent1"/>
                </a:solidFill>
                <a:latin typeface="+mj-lt" pitchFamily="34" charset="0"/>
                <a:ea typeface="+mj-lt" pitchFamily="34" charset="-122"/>
                <a:cs typeface="+mj-lt" pitchFamily="34" charset="-120"/>
              </a:rPr>
              <a:t>+70%</a:t>
            </a:r>
            <a:endParaRPr lang="en-US" sz="3000" dirty="0"/>
          </a:p>
        </p:txBody>
      </p:sp>
      <p:sp>
        <p:nvSpPr>
          <p:cNvPr id="9" name="Text 5"/>
          <p:cNvSpPr txBox="1"/>
          <p:nvPr/>
        </p:nvSpPr>
        <p:spPr>
          <a:xfrm>
            <a:off x="7909560" y="2514600"/>
            <a:ext cx="3566160" cy="640080"/>
          </a:xfrm>
          <a:prstGeom prst="rect">
            <a:avLst/>
          </a:prstGeom>
          <a:noFill/>
          <a:ln/>
        </p:spPr>
        <p:txBody>
          <a:bodyPr wrap="square" lIns="0" tIns="0" rIns="0" bIns="0" rtlCol="0" anchor="t"/>
          <a:lstStyle/>
          <a:p>
            <a:pPr marL="0" indent="0">
              <a:buNone/>
            </a:pPr>
            <a:r>
              <a:rPr lang="en-US" sz="1300" dirty="0">
                <a:solidFill>
                  <a:schemeClr val="tx2"/>
                </a:solidFill>
              </a:rPr>
              <a:t>error rise from γ = 0 to γ = 1 (0.0089 → 0.0151)</a:t>
            </a:r>
            <a:endParaRPr lang="en-US" sz="1300" dirty="0"/>
          </a:p>
        </p:txBody>
      </p:sp>
      <p:sp>
        <p:nvSpPr>
          <p:cNvPr id="10" name="Stat card"/>
          <p:cNvSpPr/>
          <p:nvPr/>
        </p:nvSpPr>
        <p:spPr>
          <a:xfrm>
            <a:off x="7680960" y="3383280"/>
            <a:ext cx="3959352" cy="1371600"/>
          </a:xfrm>
          <a:prstGeom prst="roundRect">
            <a:avLst>
              <a:gd name="adj" fmla="val 6667"/>
            </a:avLst>
          </a:prstGeom>
          <a:solidFill>
            <a:schemeClr val="bg2"/>
          </a:solidFill>
          <a:ln/>
        </p:spPr>
      </p:sp>
      <p:sp>
        <p:nvSpPr>
          <p:cNvPr id="11" name="Text 7"/>
          <p:cNvSpPr txBox="1"/>
          <p:nvPr/>
        </p:nvSpPr>
        <p:spPr>
          <a:xfrm>
            <a:off x="7909560" y="3474720"/>
            <a:ext cx="3566160" cy="502920"/>
          </a:xfrm>
          <a:prstGeom prst="rect">
            <a:avLst/>
          </a:prstGeom>
          <a:noFill/>
          <a:ln/>
        </p:spPr>
        <p:txBody>
          <a:bodyPr wrap="square" lIns="0" tIns="0" rIns="0" bIns="0" rtlCol="0" anchor="ctr"/>
          <a:lstStyle/>
          <a:p>
            <a:pPr marL="0" indent="0">
              <a:buNone/>
            </a:pPr>
            <a:r>
              <a:rPr lang="en-US" sz="3000" b="1" dirty="0">
                <a:solidFill>
                  <a:schemeClr val="accent4"/>
                </a:solidFill>
                <a:latin typeface="+mj-lt" pitchFamily="34" charset="0"/>
                <a:ea typeface="+mj-lt" pitchFamily="34" charset="-122"/>
                <a:cs typeface="+mj-lt" pitchFamily="34" charset="-120"/>
              </a:rPr>
              <a:t>Flat</a:t>
            </a:r>
            <a:endParaRPr lang="en-US" sz="3000" dirty="0"/>
          </a:p>
        </p:txBody>
      </p:sp>
      <p:sp>
        <p:nvSpPr>
          <p:cNvPr id="12" name="Text 8"/>
          <p:cNvSpPr txBox="1"/>
          <p:nvPr/>
        </p:nvSpPr>
        <p:spPr>
          <a:xfrm>
            <a:off x="7909560" y="4023360"/>
            <a:ext cx="3566160" cy="640080"/>
          </a:xfrm>
          <a:prstGeom prst="rect">
            <a:avLst/>
          </a:prstGeom>
          <a:noFill/>
          <a:ln/>
        </p:spPr>
        <p:txBody>
          <a:bodyPr wrap="square" lIns="0" tIns="0" rIns="0" bIns="0" rtlCol="0" anchor="t"/>
          <a:lstStyle/>
          <a:p>
            <a:pPr marL="0" indent="0">
              <a:buNone/>
            </a:pPr>
            <a:r>
              <a:rPr lang="en-US" sz="1300" dirty="0">
                <a:solidFill>
                  <a:schemeClr val="tx2"/>
                </a:solidFill>
              </a:rPr>
              <a:t>does not learn: 0.0089 → 0.0088 as training grows to 270,000 (γ = 0)</a:t>
            </a:r>
            <a:endParaRPr lang="en-US" sz="1300" dirty="0"/>
          </a:p>
        </p:txBody>
      </p:sp>
      <p:sp>
        <p:nvSpPr>
          <p:cNvPr id="13" name="Stat card"/>
          <p:cNvSpPr/>
          <p:nvPr/>
        </p:nvSpPr>
        <p:spPr>
          <a:xfrm>
            <a:off x="7680960" y="4892040"/>
            <a:ext cx="3959352" cy="1371600"/>
          </a:xfrm>
          <a:prstGeom prst="roundRect">
            <a:avLst>
              <a:gd name="adj" fmla="val 6667"/>
            </a:avLst>
          </a:prstGeom>
          <a:solidFill>
            <a:schemeClr val="bg2"/>
          </a:solidFill>
          <a:ln/>
        </p:spPr>
      </p:sp>
      <p:sp>
        <p:nvSpPr>
          <p:cNvPr id="14" name="Text 10"/>
          <p:cNvSpPr txBox="1"/>
          <p:nvPr/>
        </p:nvSpPr>
        <p:spPr>
          <a:xfrm>
            <a:off x="7909560" y="4983480"/>
            <a:ext cx="3566160" cy="502920"/>
          </a:xfrm>
          <a:prstGeom prst="rect">
            <a:avLst/>
          </a:prstGeom>
          <a:noFill/>
          <a:ln/>
        </p:spPr>
        <p:txBody>
          <a:bodyPr wrap="square" lIns="0" tIns="0" rIns="0" bIns="0" rtlCol="0" anchor="ctr"/>
          <a:lstStyle/>
          <a:p>
            <a:pPr marL="0" indent="0">
              <a:buNone/>
            </a:pPr>
            <a:r>
              <a:rPr lang="en-US" sz="3000" b="1" dirty="0">
                <a:solidFill>
                  <a:schemeClr val="accent3"/>
                </a:solidFill>
                <a:latin typeface="+mj-lt" pitchFamily="34" charset="0"/>
                <a:ea typeface="+mj-lt" pitchFamily="34" charset="-122"/>
                <a:cs typeface="+mj-lt" pitchFamily="34" charset="-120"/>
              </a:rPr>
              <a:t>k ≈ 0.53</a:t>
            </a:r>
            <a:endParaRPr lang="en-US" sz="3000" dirty="0"/>
          </a:p>
        </p:txBody>
      </p:sp>
      <p:sp>
        <p:nvSpPr>
          <p:cNvPr id="15" name="Text 11"/>
          <p:cNvSpPr txBox="1"/>
          <p:nvPr/>
        </p:nvSpPr>
        <p:spPr>
          <a:xfrm>
            <a:off x="7909560" y="5532120"/>
            <a:ext cx="3566160" cy="640080"/>
          </a:xfrm>
          <a:prstGeom prst="rect">
            <a:avLst/>
          </a:prstGeom>
          <a:noFill/>
          <a:ln/>
        </p:spPr>
        <p:txBody>
          <a:bodyPr wrap="square" lIns="0" tIns="0" rIns="0" bIns="0" rtlCol="0" anchor="t"/>
          <a:lstStyle/>
          <a:p>
            <a:pPr marL="0" indent="0">
              <a:buNone/>
            </a:pPr>
            <a:r>
              <a:rPr lang="en-US" sz="1300" dirty="0">
                <a:solidFill>
                  <a:schemeClr val="tx2"/>
                </a:solidFill>
              </a:rPr>
              <a:t>scaling shows the table fits the general population, not insured lives</a:t>
            </a:r>
            <a:endParaRPr lang="en-US" sz="13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3 · THE TEST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Honest Applicants: ML Model Outcomes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Now the challengers enter, and the story gets more complicated.</a:t>
            </a:r>
            <a:endParaRPr lang="en-US" sz="1500" dirty="0"/>
          </a:p>
        </p:txBody>
      </p:sp>
      <p:graphicFrame>
        <p:nvGraphicFramePr>
          <p:cNvPr id="6" name="Chart 0"/>
          <p:cNvGraphicFramePr/>
          <p:nvPr/>
        </p:nvGraphicFramePr>
        <p:xfrm>
          <a:off x="548640" y="1874520"/>
          <a:ext cx="67665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Finding card"/>
          <p:cNvSpPr/>
          <p:nvPr/>
        </p:nvSpPr>
        <p:spPr>
          <a:xfrm>
            <a:off x="7680960" y="1874520"/>
            <a:ext cx="3959352" cy="1371600"/>
          </a:xfrm>
          <a:prstGeom prst="roundRect">
            <a:avLst>
              <a:gd name="adj" fmla="val 6667"/>
            </a:avLst>
          </a:prstGeom>
          <a:solidFill>
            <a:schemeClr val="bg2"/>
          </a:solidFill>
          <a:ln/>
        </p:spPr>
      </p:sp>
      <p:sp>
        <p:nvSpPr>
          <p:cNvPr id="8" name="Icon circle CheckCircle"/>
          <p:cNvSpPr/>
          <p:nvPr/>
        </p:nvSpPr>
        <p:spPr>
          <a:xfrm>
            <a:off x="7863840" y="2240280"/>
            <a:ext cx="640080" cy="640080"/>
          </a:xfrm>
          <a:prstGeom prst="ellipse">
            <a:avLst/>
          </a:prstGeom>
          <a:solidFill>
            <a:schemeClr val="accent3"/>
          </a:solidFill>
          <a:ln/>
        </p:spPr>
      </p:sp>
      <p:pic>
        <p:nvPicPr>
          <p:cNvPr id="9" name="Image 0" descr="CheckCircle icon"/>
          <p:cNvPicPr>
            <a:picLocks noChangeAspect="1"/>
          </p:cNvPicPr>
          <p:nvPr/>
        </p:nvPicPr>
        <p:blipFill>
          <a:blip r:embed="rId4"/>
          <a:stretch>
            <a:fillRect/>
          </a:stretch>
        </p:blipFill>
        <p:spPr>
          <a:xfrm>
            <a:off x="8023860" y="2400300"/>
            <a:ext cx="320040" cy="320040"/>
          </a:xfrm>
          <a:prstGeom prst="rect">
            <a:avLst/>
          </a:prstGeom>
        </p:spPr>
      </p:pic>
      <p:sp>
        <p:nvSpPr>
          <p:cNvPr id="10" name="Text 5"/>
          <p:cNvSpPr txBox="1"/>
          <p:nvPr/>
        </p:nvSpPr>
        <p:spPr>
          <a:xfrm>
            <a:off x="8686800" y="1874520"/>
            <a:ext cx="2834640" cy="1371600"/>
          </a:xfrm>
          <a:prstGeom prst="rect">
            <a:avLst/>
          </a:prstGeom>
          <a:noFill/>
          <a:ln/>
        </p:spPr>
        <p:txBody>
          <a:bodyPr wrap="square" lIns="0" tIns="0" rIns="0" bIns="0" rtlCol="0" anchor="ctr"/>
          <a:lstStyle/>
          <a:p>
            <a:pPr>
              <a:spcAft>
                <a:spcPts val="300"/>
              </a:spcAft>
            </a:pPr>
            <a:r>
              <a:rPr lang="en-US" sz="1500" b="1" dirty="0">
                <a:solidFill>
                  <a:schemeClr val="tx1"/>
                </a:solidFill>
              </a:rPr>
              <a:t>GLM and Cox slightly better at </a:t>
            </a:r>
            <a:br>
              <a:rPr lang="en-US" sz="1500" b="1" dirty="0">
                <a:solidFill>
                  <a:schemeClr val="tx1"/>
                </a:solidFill>
              </a:rPr>
            </a:br>
            <a:r>
              <a:rPr lang="en-US" sz="1500" b="1" dirty="0"/>
              <a:t>γ ≥ 0.75</a:t>
            </a:r>
            <a:endParaRPr lang="en-US" sz="1400" dirty="0"/>
          </a:p>
          <a:p>
            <a:pPr marL="0" indent="0">
              <a:buNone/>
            </a:pPr>
            <a:r>
              <a:rPr lang="en-US" sz="1300" dirty="0">
                <a:solidFill>
                  <a:schemeClr val="tx2"/>
                </a:solidFill>
              </a:rPr>
              <a:t>All 3 seeds agree at γ = 1; unclear at low γ</a:t>
            </a:r>
            <a:endParaRPr lang="en-US" sz="1400" dirty="0"/>
          </a:p>
        </p:txBody>
      </p:sp>
      <p:sp>
        <p:nvSpPr>
          <p:cNvPr id="11" name="Finding card"/>
          <p:cNvSpPr/>
          <p:nvPr/>
        </p:nvSpPr>
        <p:spPr>
          <a:xfrm>
            <a:off x="7680960" y="3383280"/>
            <a:ext cx="3959352" cy="1371600"/>
          </a:xfrm>
          <a:prstGeom prst="roundRect">
            <a:avLst>
              <a:gd name="adj" fmla="val 6667"/>
            </a:avLst>
          </a:prstGeom>
          <a:solidFill>
            <a:schemeClr val="bg2"/>
          </a:solidFill>
          <a:ln/>
        </p:spPr>
      </p:sp>
      <p:sp>
        <p:nvSpPr>
          <p:cNvPr id="12" name="Icon circle TimesCircle"/>
          <p:cNvSpPr/>
          <p:nvPr/>
        </p:nvSpPr>
        <p:spPr>
          <a:xfrm>
            <a:off x="7863840" y="3749040"/>
            <a:ext cx="640080" cy="640080"/>
          </a:xfrm>
          <a:prstGeom prst="ellipse">
            <a:avLst/>
          </a:prstGeom>
          <a:solidFill>
            <a:schemeClr val="accent1"/>
          </a:solidFill>
          <a:ln/>
        </p:spPr>
      </p:sp>
      <p:pic>
        <p:nvPicPr>
          <p:cNvPr id="13" name="Image 1" descr="TimesCircle icon"/>
          <p:cNvPicPr>
            <a:picLocks noChangeAspect="1"/>
          </p:cNvPicPr>
          <p:nvPr/>
        </p:nvPicPr>
        <p:blipFill>
          <a:blip r:embed="rId5"/>
          <a:stretch>
            <a:fillRect/>
          </a:stretch>
        </p:blipFill>
        <p:spPr>
          <a:xfrm>
            <a:off x="8023860" y="3909060"/>
            <a:ext cx="320040" cy="320040"/>
          </a:xfrm>
          <a:prstGeom prst="rect">
            <a:avLst/>
          </a:prstGeom>
        </p:spPr>
      </p:pic>
      <p:sp>
        <p:nvSpPr>
          <p:cNvPr id="14" name="Text 8"/>
          <p:cNvSpPr txBox="1"/>
          <p:nvPr/>
        </p:nvSpPr>
        <p:spPr>
          <a:xfrm>
            <a:off x="8686800" y="3383280"/>
            <a:ext cx="2834640" cy="1371600"/>
          </a:xfrm>
          <a:prstGeom prst="rect">
            <a:avLst/>
          </a:prstGeom>
          <a:noFill/>
          <a:ln/>
        </p:spPr>
        <p:txBody>
          <a:bodyPr wrap="square" lIns="0" tIns="0" rIns="0" bIns="0" rtlCol="0" anchor="ctr"/>
          <a:lstStyle/>
          <a:p>
            <a:pPr marL="0" indent="0">
              <a:spcAft>
                <a:spcPts val="300"/>
              </a:spcAft>
              <a:buNone/>
            </a:pPr>
            <a:r>
              <a:rPr lang="en-US" sz="1500" b="1" dirty="0">
                <a:solidFill>
                  <a:schemeClr val="tx1"/>
                </a:solidFill>
              </a:rPr>
              <a:t>XGBoost worse when γ ≤ 0.75</a:t>
            </a:r>
            <a:endParaRPr lang="en-US" sz="1400" dirty="0"/>
          </a:p>
          <a:p>
            <a:pPr marL="0" indent="0">
              <a:buNone/>
            </a:pPr>
            <a:r>
              <a:rPr lang="en-US" sz="1300" dirty="0">
                <a:solidFill>
                  <a:schemeClr val="tx2"/>
                </a:solidFill>
              </a:rPr>
              <a:t>About equal at γ = 1 (p = 0.43)</a:t>
            </a:r>
            <a:endParaRPr lang="en-US" sz="1400" dirty="0"/>
          </a:p>
        </p:txBody>
      </p:sp>
      <p:sp>
        <p:nvSpPr>
          <p:cNvPr id="15" name="Finding card"/>
          <p:cNvSpPr/>
          <p:nvPr/>
        </p:nvSpPr>
        <p:spPr>
          <a:xfrm>
            <a:off x="7680960" y="4892040"/>
            <a:ext cx="3959352" cy="1371600"/>
          </a:xfrm>
          <a:prstGeom prst="roundRect">
            <a:avLst>
              <a:gd name="adj" fmla="val 6667"/>
            </a:avLst>
          </a:prstGeom>
          <a:solidFill>
            <a:schemeClr val="bg2"/>
          </a:solidFill>
          <a:ln/>
        </p:spPr>
      </p:sp>
      <p:sp>
        <p:nvSpPr>
          <p:cNvPr id="16" name="Icon circle Dice"/>
          <p:cNvSpPr/>
          <p:nvPr/>
        </p:nvSpPr>
        <p:spPr>
          <a:xfrm>
            <a:off x="7863840" y="5257800"/>
            <a:ext cx="640080" cy="640080"/>
          </a:xfrm>
          <a:prstGeom prst="ellipse">
            <a:avLst/>
          </a:prstGeom>
          <a:solidFill>
            <a:schemeClr val="accent4"/>
          </a:solidFill>
          <a:ln/>
        </p:spPr>
      </p:sp>
      <p:pic>
        <p:nvPicPr>
          <p:cNvPr id="17" name="Image 2" descr="Dice icon"/>
          <p:cNvPicPr>
            <a:picLocks noChangeAspect="1"/>
          </p:cNvPicPr>
          <p:nvPr/>
        </p:nvPicPr>
        <p:blipFill>
          <a:blip r:embed="rId6"/>
          <a:stretch>
            <a:fillRect/>
          </a:stretch>
        </p:blipFill>
        <p:spPr>
          <a:xfrm>
            <a:off x="8023860" y="5417820"/>
            <a:ext cx="320040" cy="320040"/>
          </a:xfrm>
          <a:prstGeom prst="rect">
            <a:avLst/>
          </a:prstGeom>
        </p:spPr>
      </p:pic>
      <p:sp>
        <p:nvSpPr>
          <p:cNvPr id="18" name="Text 11"/>
          <p:cNvSpPr txBox="1"/>
          <p:nvPr/>
        </p:nvSpPr>
        <p:spPr>
          <a:xfrm>
            <a:off x="8686800" y="4892040"/>
            <a:ext cx="2834640" cy="1371600"/>
          </a:xfrm>
          <a:prstGeom prst="rect">
            <a:avLst/>
          </a:prstGeom>
          <a:noFill/>
          <a:ln/>
        </p:spPr>
        <p:txBody>
          <a:bodyPr wrap="square" lIns="0" tIns="0" rIns="0" bIns="0" rtlCol="0" anchor="ctr"/>
          <a:lstStyle/>
          <a:p>
            <a:pPr marL="0" indent="0">
              <a:spcAft>
                <a:spcPts val="300"/>
              </a:spcAft>
              <a:buNone/>
            </a:pPr>
            <a:r>
              <a:rPr lang="en-US" sz="1500" b="1" dirty="0">
                <a:solidFill>
                  <a:schemeClr val="tx1"/>
                </a:solidFill>
              </a:rPr>
              <a:t>AUC cannot separate the methods</a:t>
            </a:r>
            <a:endParaRPr lang="en-US" sz="1400" dirty="0"/>
          </a:p>
          <a:p>
            <a:pPr marL="0" indent="0">
              <a:buNone/>
            </a:pPr>
            <a:r>
              <a:rPr lang="en-US" sz="1300" dirty="0">
                <a:solidFill>
                  <a:schemeClr val="tx2"/>
                </a:solidFill>
              </a:rPr>
              <a:t>Ceiling ≈ 0.71–0.73: 10-year claims are mostly luck</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3 · THE TEST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Comparative Accuracy (Objective 1)</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Meridian’s verdict on honest applicants: it depends on how much data it has.</a:t>
            </a:r>
            <a:endParaRPr lang="en-US" sz="1500" dirty="0"/>
          </a:p>
        </p:txBody>
      </p:sp>
      <p:graphicFrame>
        <p:nvGraphicFramePr>
          <p:cNvPr id="6" name="Chart 0"/>
          <p:cNvGraphicFramePr/>
          <p:nvPr/>
        </p:nvGraphicFramePr>
        <p:xfrm>
          <a:off x="548640" y="1874520"/>
          <a:ext cx="5486400" cy="3611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153912" y="1874520"/>
          <a:ext cx="548640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8" name="Verdict"/>
          <p:cNvSpPr/>
          <p:nvPr/>
        </p:nvSpPr>
        <p:spPr>
          <a:xfrm>
            <a:off x="548640" y="5669280"/>
            <a:ext cx="11091672" cy="594360"/>
          </a:xfrm>
          <a:prstGeom prst="roundRect">
            <a:avLst>
              <a:gd name="adj" fmla="val 15385"/>
            </a:avLst>
          </a:prstGeom>
          <a:solidFill>
            <a:schemeClr val="tx1"/>
          </a:solidFill>
          <a:ln/>
        </p:spPr>
      </p:sp>
      <p:sp>
        <p:nvSpPr>
          <p:cNvPr id="9" name="Text 4"/>
          <p:cNvSpPr txBox="1"/>
          <p:nvPr/>
        </p:nvSpPr>
        <p:spPr>
          <a:xfrm>
            <a:off x="822960" y="5669280"/>
            <a:ext cx="10515600" cy="594360"/>
          </a:xfrm>
          <a:prstGeom prst="rect">
            <a:avLst/>
          </a:prstGeom>
          <a:noFill/>
          <a:ln/>
        </p:spPr>
        <p:txBody>
          <a:bodyPr wrap="square" lIns="0" tIns="0" rIns="0" bIns="0" rtlCol="0" anchor="ctr"/>
          <a:lstStyle/>
          <a:p>
            <a:r>
              <a:rPr lang="en-US" sz="1600" b="1" dirty="0">
                <a:solidFill>
                  <a:schemeClr val="bg1"/>
                </a:solidFill>
              </a:rPr>
              <a:t>ML did not win on honest data at our size: GLM and Cox edge ahead, and XGBoost needs 30k–270k applicants.</a:t>
            </a:r>
            <a:endParaRPr lang="en-US" sz="16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3 · THE TEST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Premium Solvency &amp; Claims Coverage (Objective 2)</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Do Meridian’s premiums actually cover its expected claims?</a:t>
            </a:r>
            <a:endParaRPr lang="en-US" sz="1500" dirty="0"/>
          </a:p>
        </p:txBody>
      </p:sp>
      <p:graphicFrame>
        <p:nvGraphicFramePr>
          <p:cNvPr id="6" name="Chart 0"/>
          <p:cNvGraphicFramePr/>
          <p:nvPr/>
        </p:nvGraphicFramePr>
        <p:xfrm>
          <a:off x="548640" y="1874520"/>
          <a:ext cx="59436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6858000" y="1874520"/>
            <a:ext cx="4754880" cy="320040"/>
          </a:xfrm>
          <a:prstGeom prst="rect">
            <a:avLst/>
          </a:prstGeom>
          <a:noFill/>
          <a:ln/>
        </p:spPr>
        <p:txBody>
          <a:bodyPr wrap="square" lIns="0" tIns="0" rIns="0" bIns="0" rtlCol="0" anchor="t"/>
          <a:lstStyle/>
          <a:p>
            <a:pPr marL="0" indent="0">
              <a:buNone/>
            </a:pPr>
            <a:r>
              <a:rPr lang="en-US" sz="1500" b="1" dirty="0">
                <a:solidFill>
                  <a:schemeClr val="tx1"/>
                </a:solidFill>
              </a:rPr>
              <a:t>Loss ratio = claims ÷ premium (liars at 10%)</a:t>
            </a:r>
            <a:endParaRPr lang="en-US" sz="1500" dirty="0"/>
          </a:p>
        </p:txBody>
      </p:sp>
      <p:sp>
        <p:nvSpPr>
          <p:cNvPr id="8" name="Loss ratio tile"/>
          <p:cNvSpPr/>
          <p:nvPr/>
        </p:nvSpPr>
        <p:spPr>
          <a:xfrm>
            <a:off x="6858000" y="2331720"/>
            <a:ext cx="4782312" cy="1143000"/>
          </a:xfrm>
          <a:prstGeom prst="roundRect">
            <a:avLst>
              <a:gd name="adj" fmla="val 8000"/>
            </a:avLst>
          </a:prstGeom>
          <a:solidFill>
            <a:schemeClr val="accent3"/>
          </a:solidFill>
          <a:ln/>
        </p:spPr>
      </p:sp>
      <p:sp>
        <p:nvSpPr>
          <p:cNvPr id="9" name="Text 5"/>
          <p:cNvSpPr txBox="1"/>
          <p:nvPr/>
        </p:nvSpPr>
        <p:spPr>
          <a:xfrm>
            <a:off x="7086600" y="2331720"/>
            <a:ext cx="1920240" cy="1143000"/>
          </a:xfrm>
          <a:prstGeom prst="rect">
            <a:avLst/>
          </a:prstGeom>
          <a:noFill/>
          <a:ln/>
        </p:spPr>
        <p:txBody>
          <a:bodyPr wrap="square" lIns="0" tIns="0" rIns="0" bIns="0" rtlCol="0" anchor="ctr"/>
          <a:lstStyle/>
          <a:p>
            <a:pPr marL="0" indent="0">
              <a:buNone/>
            </a:pPr>
            <a:r>
              <a:rPr lang="en-US" sz="2600" b="1" dirty="0">
                <a:solidFill>
                  <a:schemeClr val="bg1"/>
                </a:solidFill>
                <a:latin typeface="+mj-lt" pitchFamily="34" charset="0"/>
                <a:ea typeface="+mj-lt" pitchFamily="34" charset="-122"/>
                <a:cs typeface="+mj-lt" pitchFamily="34" charset="-120"/>
              </a:rPr>
              <a:t>0.80</a:t>
            </a:r>
            <a:endParaRPr lang="en-US" sz="2600" dirty="0"/>
          </a:p>
        </p:txBody>
      </p:sp>
      <p:sp>
        <p:nvSpPr>
          <p:cNvPr id="10" name="Text 6"/>
          <p:cNvSpPr txBox="1"/>
          <p:nvPr/>
        </p:nvSpPr>
        <p:spPr>
          <a:xfrm>
            <a:off x="9006840" y="2331720"/>
            <a:ext cx="2514600" cy="1143000"/>
          </a:xfrm>
          <a:prstGeom prst="rect">
            <a:avLst/>
          </a:prstGeom>
          <a:noFill/>
          <a:ln/>
        </p:spPr>
        <p:txBody>
          <a:bodyPr wrap="square" lIns="0" tIns="0" rIns="0" bIns="0" rtlCol="0" anchor="ctr"/>
          <a:lstStyle/>
          <a:p>
            <a:pPr marL="0" indent="0">
              <a:buNone/>
            </a:pPr>
            <a:r>
              <a:rPr lang="en-US" sz="1500" dirty="0">
                <a:solidFill>
                  <a:schemeClr val="bg1"/>
                </a:solidFill>
              </a:rPr>
              <a:t>correct book (1 ÷ 1.25)</a:t>
            </a:r>
            <a:endParaRPr lang="en-US" sz="1500" dirty="0"/>
          </a:p>
        </p:txBody>
      </p:sp>
      <p:sp>
        <p:nvSpPr>
          <p:cNvPr id="11" name="Loss ratio tile"/>
          <p:cNvSpPr/>
          <p:nvPr/>
        </p:nvSpPr>
        <p:spPr>
          <a:xfrm>
            <a:off x="6858000" y="3611880"/>
            <a:ext cx="4782312" cy="1143000"/>
          </a:xfrm>
          <a:prstGeom prst="roundRect">
            <a:avLst>
              <a:gd name="adj" fmla="val 8000"/>
            </a:avLst>
          </a:prstGeom>
          <a:solidFill>
            <a:schemeClr val="accent1"/>
          </a:solidFill>
          <a:ln/>
        </p:spPr>
      </p:sp>
      <p:sp>
        <p:nvSpPr>
          <p:cNvPr id="12" name="Text 8"/>
          <p:cNvSpPr txBox="1"/>
          <p:nvPr/>
        </p:nvSpPr>
        <p:spPr>
          <a:xfrm>
            <a:off x="7086600" y="3611880"/>
            <a:ext cx="1920240" cy="1143000"/>
          </a:xfrm>
          <a:prstGeom prst="rect">
            <a:avLst/>
          </a:prstGeom>
          <a:noFill/>
          <a:ln/>
        </p:spPr>
        <p:txBody>
          <a:bodyPr wrap="square" lIns="0" tIns="0" rIns="0" bIns="0" rtlCol="0" anchor="ctr"/>
          <a:lstStyle/>
          <a:p>
            <a:pPr marL="0" indent="0">
              <a:buNone/>
            </a:pPr>
            <a:r>
              <a:rPr lang="en-US" sz="2600" b="1" dirty="0">
                <a:solidFill>
                  <a:schemeClr val="bg1"/>
                </a:solidFill>
                <a:latin typeface="+mj-lt" pitchFamily="34" charset="0"/>
                <a:ea typeface="+mj-lt" pitchFamily="34" charset="-122"/>
                <a:cs typeface="+mj-lt" pitchFamily="34" charset="-120"/>
              </a:rPr>
              <a:t>0.86–0.91</a:t>
            </a:r>
            <a:endParaRPr lang="en-US" sz="2600" dirty="0"/>
          </a:p>
        </p:txBody>
      </p:sp>
      <p:sp>
        <p:nvSpPr>
          <p:cNvPr id="13" name="Text 9"/>
          <p:cNvSpPr txBox="1"/>
          <p:nvPr/>
        </p:nvSpPr>
        <p:spPr>
          <a:xfrm>
            <a:off x="9006840" y="3611880"/>
            <a:ext cx="2514600" cy="1143000"/>
          </a:xfrm>
          <a:prstGeom prst="rect">
            <a:avLst/>
          </a:prstGeom>
          <a:noFill/>
          <a:ln/>
        </p:spPr>
        <p:txBody>
          <a:bodyPr wrap="square" lIns="0" tIns="0" rIns="0" bIns="0" rtlCol="0" anchor="ctr"/>
          <a:lstStyle/>
          <a:p>
            <a:pPr marL="0" indent="0">
              <a:buNone/>
            </a:pPr>
            <a:r>
              <a:rPr lang="en-US" sz="1500" dirty="0">
                <a:solidFill>
                  <a:schemeClr val="bg1"/>
                </a:solidFill>
              </a:rPr>
              <a:t>trained on honest records: under-charged</a:t>
            </a:r>
            <a:endParaRPr lang="en-US" sz="1500" dirty="0"/>
          </a:p>
        </p:txBody>
      </p:sp>
      <p:sp>
        <p:nvSpPr>
          <p:cNvPr id="14" name="Loss ratio tile"/>
          <p:cNvSpPr/>
          <p:nvPr/>
        </p:nvSpPr>
        <p:spPr>
          <a:xfrm>
            <a:off x="6858000" y="4892040"/>
            <a:ext cx="4782312" cy="1143000"/>
          </a:xfrm>
          <a:prstGeom prst="roundRect">
            <a:avLst>
              <a:gd name="adj" fmla="val 8000"/>
            </a:avLst>
          </a:prstGeom>
          <a:solidFill>
            <a:schemeClr val="accent2"/>
          </a:solidFill>
          <a:ln/>
        </p:spPr>
      </p:sp>
      <p:sp>
        <p:nvSpPr>
          <p:cNvPr id="15" name="Text 11"/>
          <p:cNvSpPr txBox="1"/>
          <p:nvPr/>
        </p:nvSpPr>
        <p:spPr>
          <a:xfrm>
            <a:off x="7086600" y="4892040"/>
            <a:ext cx="1920240" cy="1143000"/>
          </a:xfrm>
          <a:prstGeom prst="rect">
            <a:avLst/>
          </a:prstGeom>
          <a:noFill/>
          <a:ln/>
        </p:spPr>
        <p:txBody>
          <a:bodyPr wrap="square" lIns="0" tIns="0" rIns="0" bIns="0" rtlCol="0" anchor="ctr"/>
          <a:lstStyle/>
          <a:p>
            <a:pPr marL="0" indent="0">
              <a:buNone/>
            </a:pPr>
            <a:r>
              <a:rPr lang="en-US" sz="2600" b="1" dirty="0">
                <a:solidFill>
                  <a:schemeClr val="tx1"/>
                </a:solidFill>
                <a:latin typeface="+mj-lt" pitchFamily="34" charset="0"/>
                <a:ea typeface="+mj-lt" pitchFamily="34" charset="-122"/>
                <a:cs typeface="+mj-lt" pitchFamily="34" charset="-120"/>
              </a:rPr>
              <a:t>0.62–0.65</a:t>
            </a:r>
            <a:endParaRPr lang="en-US" sz="2600" dirty="0"/>
          </a:p>
        </p:txBody>
      </p:sp>
      <p:sp>
        <p:nvSpPr>
          <p:cNvPr id="16" name="Text 12"/>
          <p:cNvSpPr txBox="1"/>
          <p:nvPr/>
        </p:nvSpPr>
        <p:spPr>
          <a:xfrm>
            <a:off x="9006840" y="4892040"/>
            <a:ext cx="2514600" cy="1143000"/>
          </a:xfrm>
          <a:prstGeom prst="rect">
            <a:avLst/>
          </a:prstGeom>
          <a:noFill/>
          <a:ln/>
        </p:spPr>
        <p:txBody>
          <a:bodyPr wrap="square" lIns="0" tIns="0" rIns="0" bIns="0" rtlCol="0" anchor="ctr"/>
          <a:lstStyle/>
          <a:p>
            <a:pPr marL="0" indent="0">
              <a:buNone/>
            </a:pPr>
            <a:r>
              <a:rPr lang="en-US" sz="1500" dirty="0">
                <a:solidFill>
                  <a:schemeClr val="tx1"/>
                </a:solidFill>
              </a:rPr>
              <a:t>trained on declared records: over-charged</a:t>
            </a:r>
            <a:endParaRPr lang="en-US" sz="15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4 · THE CONFLICT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System Vulnerabilities: What Breaks When Applicants Lie?</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The conflict: honest applicants versus strategic liars.</a:t>
            </a:r>
            <a:endParaRPr lang="en-US" sz="1500" dirty="0"/>
          </a:p>
        </p:txBody>
      </p:sp>
      <p:graphicFrame>
        <p:nvGraphicFramePr>
          <p:cNvPr id="6" name="Chart 0"/>
          <p:cNvGraphicFramePr/>
          <p:nvPr/>
        </p:nvGraphicFramePr>
        <p:xfrm>
          <a:off x="548640" y="1874520"/>
          <a:ext cx="548640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153912" y="1874520"/>
          <a:ext cx="548640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8" name="Stat chip"/>
          <p:cNvSpPr/>
          <p:nvPr/>
        </p:nvSpPr>
        <p:spPr>
          <a:xfrm>
            <a:off x="548640" y="5440680"/>
            <a:ext cx="2651760" cy="868680"/>
          </a:xfrm>
          <a:prstGeom prst="roundRect">
            <a:avLst>
              <a:gd name="adj" fmla="val 10526"/>
            </a:avLst>
          </a:prstGeom>
          <a:solidFill>
            <a:schemeClr val="bg2"/>
          </a:solidFill>
          <a:ln/>
        </p:spPr>
      </p:sp>
      <p:sp>
        <p:nvSpPr>
          <p:cNvPr id="9" name="Text 4"/>
          <p:cNvSpPr txBox="1"/>
          <p:nvPr/>
        </p:nvSpPr>
        <p:spPr>
          <a:xfrm>
            <a:off x="685800" y="5468112"/>
            <a:ext cx="2377440" cy="457200"/>
          </a:xfrm>
          <a:prstGeom prst="rect">
            <a:avLst/>
          </a:prstGeom>
          <a:noFill/>
          <a:ln/>
        </p:spPr>
        <p:txBody>
          <a:bodyPr wrap="square" lIns="0" tIns="0" rIns="0" bIns="0" rtlCol="0" anchor="ctr"/>
          <a:lstStyle/>
          <a:p>
            <a:pPr marL="0" indent="0">
              <a:buNone/>
            </a:pPr>
            <a:r>
              <a:rPr lang="en-US" sz="2200" b="1" dirty="0">
                <a:solidFill>
                  <a:schemeClr val="accent1"/>
                </a:solidFill>
                <a:latin typeface="+mj-lt" pitchFamily="34" charset="0"/>
                <a:ea typeface="+mj-lt" pitchFamily="34" charset="-122"/>
                <a:cs typeface="+mj-lt" pitchFamily="34" charset="-120"/>
              </a:rPr>
              <a:t>92.5%</a:t>
            </a:r>
            <a:endParaRPr lang="en-US" sz="2200" dirty="0"/>
          </a:p>
        </p:txBody>
      </p:sp>
      <p:sp>
        <p:nvSpPr>
          <p:cNvPr id="10" name="Text 5"/>
          <p:cNvSpPr txBox="1"/>
          <p:nvPr/>
        </p:nvSpPr>
        <p:spPr>
          <a:xfrm>
            <a:off x="685800" y="5897880"/>
            <a:ext cx="2423160" cy="365760"/>
          </a:xfrm>
          <a:prstGeom prst="rect">
            <a:avLst/>
          </a:prstGeom>
          <a:noFill/>
          <a:ln/>
        </p:spPr>
        <p:txBody>
          <a:bodyPr wrap="square" lIns="0" tIns="0" rIns="0" bIns="0" rtlCol="0" anchor="t"/>
          <a:lstStyle/>
          <a:p>
            <a:pPr marL="0" indent="0">
              <a:buNone/>
            </a:pPr>
            <a:r>
              <a:rPr lang="en-US" sz="1200" dirty="0">
                <a:solidFill>
                  <a:schemeClr val="tx2"/>
                </a:solidFill>
              </a:rPr>
              <a:t>of would-be declines get accepted</a:t>
            </a:r>
            <a:endParaRPr lang="en-US" sz="1200" dirty="0"/>
          </a:p>
        </p:txBody>
      </p:sp>
      <p:sp>
        <p:nvSpPr>
          <p:cNvPr id="11" name="Stat chip"/>
          <p:cNvSpPr/>
          <p:nvPr/>
        </p:nvSpPr>
        <p:spPr>
          <a:xfrm>
            <a:off x="3346704" y="5440680"/>
            <a:ext cx="2651760" cy="868680"/>
          </a:xfrm>
          <a:prstGeom prst="roundRect">
            <a:avLst>
              <a:gd name="adj" fmla="val 10526"/>
            </a:avLst>
          </a:prstGeom>
          <a:solidFill>
            <a:schemeClr val="bg2"/>
          </a:solidFill>
          <a:ln/>
        </p:spPr>
      </p:sp>
      <p:sp>
        <p:nvSpPr>
          <p:cNvPr id="12" name="Text 7"/>
          <p:cNvSpPr txBox="1"/>
          <p:nvPr/>
        </p:nvSpPr>
        <p:spPr>
          <a:xfrm>
            <a:off x="3483864" y="5468112"/>
            <a:ext cx="2377440" cy="457200"/>
          </a:xfrm>
          <a:prstGeom prst="rect">
            <a:avLst/>
          </a:prstGeom>
          <a:noFill/>
          <a:ln/>
        </p:spPr>
        <p:txBody>
          <a:bodyPr wrap="square" lIns="0" tIns="0" rIns="0" bIns="0" rtlCol="0" anchor="ctr"/>
          <a:lstStyle/>
          <a:p>
            <a:pPr marL="0" indent="0">
              <a:buNone/>
            </a:pPr>
            <a:r>
              <a:rPr lang="en-US" sz="2200" b="1" dirty="0">
                <a:solidFill>
                  <a:schemeClr val="accent1"/>
                </a:solidFill>
                <a:latin typeface="+mj-lt" pitchFamily="34" charset="0"/>
                <a:ea typeface="+mj-lt" pitchFamily="34" charset="-122"/>
                <a:cs typeface="+mj-lt" pitchFamily="34" charset="-120"/>
              </a:rPr>
              <a:t>₹37–40k</a:t>
            </a:r>
            <a:endParaRPr lang="en-US" sz="2200" dirty="0"/>
          </a:p>
        </p:txBody>
      </p:sp>
      <p:sp>
        <p:nvSpPr>
          <p:cNvPr id="13" name="Text 8"/>
          <p:cNvSpPr txBox="1"/>
          <p:nvPr/>
        </p:nvSpPr>
        <p:spPr>
          <a:xfrm>
            <a:off x="3483864" y="5897880"/>
            <a:ext cx="2423160" cy="365760"/>
          </a:xfrm>
          <a:prstGeom prst="rect">
            <a:avLst/>
          </a:prstGeom>
          <a:noFill/>
          <a:ln/>
        </p:spPr>
        <p:txBody>
          <a:bodyPr wrap="square" lIns="0" tIns="0" rIns="0" bIns="0" rtlCol="0" anchor="t"/>
          <a:lstStyle/>
          <a:p>
            <a:pPr marL="0" indent="0">
              <a:buNone/>
            </a:pPr>
            <a:r>
              <a:rPr lang="en-US" sz="1200" dirty="0">
                <a:solidFill>
                  <a:schemeClr val="tx2"/>
                </a:solidFill>
              </a:rPr>
              <a:t>saved a year by hiding smoking</a:t>
            </a:r>
            <a:endParaRPr lang="en-US" sz="1200" dirty="0"/>
          </a:p>
        </p:txBody>
      </p:sp>
      <p:sp>
        <p:nvSpPr>
          <p:cNvPr id="14" name="Stat chip"/>
          <p:cNvSpPr/>
          <p:nvPr/>
        </p:nvSpPr>
        <p:spPr>
          <a:xfrm>
            <a:off x="6144768" y="5440680"/>
            <a:ext cx="2651760" cy="868680"/>
          </a:xfrm>
          <a:prstGeom prst="roundRect">
            <a:avLst>
              <a:gd name="adj" fmla="val 10526"/>
            </a:avLst>
          </a:prstGeom>
          <a:solidFill>
            <a:schemeClr val="bg2"/>
          </a:solidFill>
          <a:ln/>
        </p:spPr>
      </p:sp>
      <p:sp>
        <p:nvSpPr>
          <p:cNvPr id="15" name="Text 10"/>
          <p:cNvSpPr txBox="1"/>
          <p:nvPr/>
        </p:nvSpPr>
        <p:spPr>
          <a:xfrm>
            <a:off x="6281928" y="5468112"/>
            <a:ext cx="2377440" cy="45720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−0.003 to −0.009</a:t>
            </a:r>
            <a:endParaRPr lang="en-US" sz="1800" dirty="0"/>
          </a:p>
        </p:txBody>
      </p:sp>
      <p:sp>
        <p:nvSpPr>
          <p:cNvPr id="16" name="Text 11"/>
          <p:cNvSpPr txBox="1"/>
          <p:nvPr/>
        </p:nvSpPr>
        <p:spPr>
          <a:xfrm>
            <a:off x="6281928" y="5897880"/>
            <a:ext cx="2423160" cy="365760"/>
          </a:xfrm>
          <a:prstGeom prst="rect">
            <a:avLst/>
          </a:prstGeom>
          <a:noFill/>
          <a:ln/>
        </p:spPr>
        <p:txBody>
          <a:bodyPr wrap="square" lIns="0" tIns="0" rIns="0" bIns="0" rtlCol="0" anchor="t"/>
          <a:lstStyle/>
          <a:p>
            <a:pPr marL="0" indent="0">
              <a:buNone/>
            </a:pPr>
            <a:r>
              <a:rPr lang="en-US" sz="1200" dirty="0">
                <a:solidFill>
                  <a:schemeClr val="tx2"/>
                </a:solidFill>
              </a:rPr>
              <a:t>error when trained on declared data</a:t>
            </a:r>
            <a:endParaRPr lang="en-US" sz="1200" dirty="0"/>
          </a:p>
        </p:txBody>
      </p:sp>
      <p:sp>
        <p:nvSpPr>
          <p:cNvPr id="17" name="Stat chip"/>
          <p:cNvSpPr/>
          <p:nvPr/>
        </p:nvSpPr>
        <p:spPr>
          <a:xfrm>
            <a:off x="8942832" y="5440680"/>
            <a:ext cx="2651760" cy="868680"/>
          </a:xfrm>
          <a:prstGeom prst="roundRect">
            <a:avLst>
              <a:gd name="adj" fmla="val 10526"/>
            </a:avLst>
          </a:prstGeom>
          <a:solidFill>
            <a:schemeClr val="bg2"/>
          </a:solidFill>
          <a:ln/>
        </p:spPr>
      </p:sp>
      <p:sp>
        <p:nvSpPr>
          <p:cNvPr id="18" name="Text 13"/>
          <p:cNvSpPr txBox="1"/>
          <p:nvPr/>
        </p:nvSpPr>
        <p:spPr>
          <a:xfrm>
            <a:off x="9079992" y="5468112"/>
            <a:ext cx="2377440" cy="457200"/>
          </a:xfrm>
          <a:prstGeom prst="rect">
            <a:avLst/>
          </a:prstGeom>
          <a:noFill/>
          <a:ln/>
        </p:spPr>
        <p:txBody>
          <a:bodyPr wrap="square" lIns="0" tIns="0" rIns="0" bIns="0" rtlCol="0" anchor="ctr"/>
          <a:lstStyle/>
          <a:p>
            <a:pPr marL="0" indent="0">
              <a:buNone/>
            </a:pPr>
            <a:r>
              <a:rPr lang="en-US" sz="2200" b="1" dirty="0">
                <a:solidFill>
                  <a:schemeClr val="accent4"/>
                </a:solidFill>
                <a:latin typeface="+mj-lt" pitchFamily="34" charset="0"/>
                <a:ea typeface="+mj-lt" pitchFamily="34" charset="-122"/>
                <a:cs typeface="+mj-lt" pitchFamily="34" charset="-120"/>
              </a:rPr>
              <a:t>44–57%</a:t>
            </a:r>
            <a:endParaRPr lang="en-US" sz="2200" dirty="0"/>
          </a:p>
        </p:txBody>
      </p:sp>
      <p:sp>
        <p:nvSpPr>
          <p:cNvPr id="19" name="Text 14"/>
          <p:cNvSpPr txBox="1"/>
          <p:nvPr/>
        </p:nvSpPr>
        <p:spPr>
          <a:xfrm>
            <a:off x="9079992" y="5897880"/>
            <a:ext cx="2423160" cy="365760"/>
          </a:xfrm>
          <a:prstGeom prst="rect">
            <a:avLst/>
          </a:prstGeom>
          <a:noFill/>
          <a:ln/>
        </p:spPr>
        <p:txBody>
          <a:bodyPr wrap="square" lIns="0" tIns="0" rIns="0" bIns="0" rtlCol="0" anchor="t"/>
          <a:lstStyle/>
          <a:p>
            <a:pPr marL="0" indent="0">
              <a:buNone/>
            </a:pPr>
            <a:r>
              <a:rPr lang="en-US" sz="1200" dirty="0">
                <a:solidFill>
                  <a:schemeClr val="tx2"/>
                </a:solidFill>
              </a:rPr>
              <a:t>honest non-smokers overcharged</a:t>
            </a:r>
            <a:endParaRPr lang="en-US" sz="12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4 · THE CONFLICT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Fraud Detection: Who Catches the Liars Better?</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 can afford to check only a few applicants. Whom should it pick?</a:t>
            </a:r>
            <a:endParaRPr lang="en-US" sz="1500" dirty="0"/>
          </a:p>
        </p:txBody>
      </p:sp>
      <p:graphicFrame>
        <p:nvGraphicFramePr>
          <p:cNvPr id="6" name="Chart 0"/>
          <p:cNvGraphicFramePr/>
          <p:nvPr/>
        </p:nvGraphicFramePr>
        <p:xfrm>
          <a:off x="548640" y="1874520"/>
          <a:ext cx="576072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rigger card"/>
          <p:cNvSpPr/>
          <p:nvPr/>
        </p:nvSpPr>
        <p:spPr>
          <a:xfrm>
            <a:off x="6583680" y="1874520"/>
            <a:ext cx="5056632" cy="1325880"/>
          </a:xfrm>
          <a:prstGeom prst="roundRect">
            <a:avLst>
              <a:gd name="adj" fmla="val 6897"/>
            </a:avLst>
          </a:prstGeom>
          <a:solidFill>
            <a:schemeClr val="bg2"/>
          </a:solidFill>
          <a:ln/>
        </p:spPr>
      </p:sp>
      <p:sp>
        <p:nvSpPr>
          <p:cNvPr id="8" name="Icon circle Cogs"/>
          <p:cNvSpPr/>
          <p:nvPr/>
        </p:nvSpPr>
        <p:spPr>
          <a:xfrm>
            <a:off x="6766560" y="2240280"/>
            <a:ext cx="594360" cy="594360"/>
          </a:xfrm>
          <a:prstGeom prst="ellipse">
            <a:avLst/>
          </a:prstGeom>
          <a:solidFill>
            <a:schemeClr val="accent4"/>
          </a:solidFill>
          <a:ln/>
        </p:spPr>
      </p:sp>
      <p:pic>
        <p:nvPicPr>
          <p:cNvPr id="9" name="Image 0" descr="Cogs icon"/>
          <p:cNvPicPr>
            <a:picLocks noChangeAspect="1"/>
          </p:cNvPicPr>
          <p:nvPr/>
        </p:nvPicPr>
        <p:blipFill>
          <a:blip r:embed="rId4"/>
          <a:stretch>
            <a:fillRect/>
          </a:stretch>
        </p:blipFill>
        <p:spPr>
          <a:xfrm>
            <a:off x="6915150" y="2388870"/>
            <a:ext cx="297180" cy="297180"/>
          </a:xfrm>
          <a:prstGeom prst="rect">
            <a:avLst/>
          </a:prstGeom>
        </p:spPr>
      </p:pic>
      <p:sp>
        <p:nvSpPr>
          <p:cNvPr id="10" name="Text 5"/>
          <p:cNvSpPr txBox="1"/>
          <p:nvPr/>
        </p:nvSpPr>
        <p:spPr>
          <a:xfrm>
            <a:off x="7543800" y="1874520"/>
            <a:ext cx="3977640" cy="1325880"/>
          </a:xfrm>
          <a:prstGeom prst="rect">
            <a:avLst/>
          </a:prstGeom>
          <a:noFill/>
          <a:ln/>
        </p:spPr>
        <p:txBody>
          <a:bodyPr wrap="square" lIns="0" tIns="0" rIns="0" bIns="0" rtlCol="0" anchor="ctr"/>
          <a:lstStyle/>
          <a:p>
            <a:pPr marL="0" indent="0">
              <a:spcAft>
                <a:spcPts val="300"/>
              </a:spcAft>
              <a:buNone/>
            </a:pPr>
            <a:r>
              <a:rPr lang="en-US" sz="1600" b="1" dirty="0">
                <a:solidFill>
                  <a:schemeClr val="tx1"/>
                </a:solidFill>
              </a:rPr>
              <a:t>Arm A · rule trigger</a:t>
            </a:r>
            <a:endParaRPr lang="en-US" sz="1400" dirty="0"/>
          </a:p>
          <a:p>
            <a:pPr marL="0" indent="0">
              <a:buNone/>
            </a:pPr>
            <a:r>
              <a:rPr lang="en-US" sz="1300" dirty="0">
                <a:solidFill>
                  <a:schemeClr val="tx2"/>
                </a:solidFill>
              </a:rPr>
              <a:t>Declared no high BP but reading ≥ 140; declared no diabetes but HbA1c ≥ 6.5</a:t>
            </a:r>
            <a:endParaRPr lang="en-US" sz="1400" dirty="0"/>
          </a:p>
        </p:txBody>
      </p:sp>
      <p:sp>
        <p:nvSpPr>
          <p:cNvPr id="11" name="Trigger card"/>
          <p:cNvSpPr/>
          <p:nvPr/>
        </p:nvSpPr>
        <p:spPr>
          <a:xfrm>
            <a:off x="6583680" y="3337560"/>
            <a:ext cx="5056632" cy="1325880"/>
          </a:xfrm>
          <a:prstGeom prst="roundRect">
            <a:avLst>
              <a:gd name="adj" fmla="val 6897"/>
            </a:avLst>
          </a:prstGeom>
          <a:solidFill>
            <a:schemeClr val="bg2"/>
          </a:solidFill>
          <a:ln/>
        </p:spPr>
      </p:sp>
      <p:sp>
        <p:nvSpPr>
          <p:cNvPr id="12" name="Icon circle ProjectDiagram"/>
          <p:cNvSpPr/>
          <p:nvPr/>
        </p:nvSpPr>
        <p:spPr>
          <a:xfrm>
            <a:off x="6766560" y="3703320"/>
            <a:ext cx="594360" cy="594360"/>
          </a:xfrm>
          <a:prstGeom prst="ellipse">
            <a:avLst/>
          </a:prstGeom>
          <a:solidFill>
            <a:schemeClr val="accent1"/>
          </a:solidFill>
          <a:ln/>
        </p:spPr>
      </p:sp>
      <p:pic>
        <p:nvPicPr>
          <p:cNvPr id="13" name="Image 1" descr="ProjectDiagram icon"/>
          <p:cNvPicPr>
            <a:picLocks noChangeAspect="1"/>
          </p:cNvPicPr>
          <p:nvPr/>
        </p:nvPicPr>
        <p:blipFill>
          <a:blip r:embed="rId5"/>
          <a:stretch>
            <a:fillRect/>
          </a:stretch>
        </p:blipFill>
        <p:spPr>
          <a:xfrm>
            <a:off x="6915150" y="3851910"/>
            <a:ext cx="297180" cy="297180"/>
          </a:xfrm>
          <a:prstGeom prst="rect">
            <a:avLst/>
          </a:prstGeom>
        </p:spPr>
      </p:pic>
      <p:sp>
        <p:nvSpPr>
          <p:cNvPr id="14" name="Text 8"/>
          <p:cNvSpPr txBox="1"/>
          <p:nvPr/>
        </p:nvSpPr>
        <p:spPr>
          <a:xfrm>
            <a:off x="7543800" y="3337560"/>
            <a:ext cx="3977640" cy="1325880"/>
          </a:xfrm>
          <a:prstGeom prst="rect">
            <a:avLst/>
          </a:prstGeom>
          <a:noFill/>
          <a:ln/>
        </p:spPr>
        <p:txBody>
          <a:bodyPr wrap="square" lIns="0" tIns="0" rIns="0" bIns="0" rtlCol="0" anchor="ctr"/>
          <a:lstStyle/>
          <a:p>
            <a:pPr marL="0" indent="0">
              <a:spcAft>
                <a:spcPts val="300"/>
              </a:spcAft>
              <a:buNone/>
            </a:pPr>
            <a:r>
              <a:rPr lang="en-US" sz="1600" b="1" dirty="0">
                <a:solidFill>
                  <a:schemeClr val="tx1"/>
                </a:solidFill>
              </a:rPr>
              <a:t>Arm B · statistical trigger</a:t>
            </a:r>
            <a:endParaRPr lang="en-US" sz="1400" dirty="0"/>
          </a:p>
          <a:p>
            <a:pPr marL="0" indent="0">
              <a:buNone/>
            </a:pPr>
            <a:r>
              <a:rPr lang="en-US" sz="1300" dirty="0">
                <a:solidFill>
                  <a:schemeClr val="tx2"/>
                </a:solidFill>
              </a:rPr>
              <a:t>Consistency model trained on declared data only; never sees who lied</a:t>
            </a:r>
            <a:endParaRPr lang="en-US" sz="1400" dirty="0"/>
          </a:p>
        </p:txBody>
      </p:sp>
      <p:sp>
        <p:nvSpPr>
          <p:cNvPr id="15" name="Detection stats"/>
          <p:cNvSpPr/>
          <p:nvPr/>
        </p:nvSpPr>
        <p:spPr>
          <a:xfrm>
            <a:off x="6583680" y="4846320"/>
            <a:ext cx="5056632" cy="1371600"/>
          </a:xfrm>
          <a:prstGeom prst="roundRect">
            <a:avLst>
              <a:gd name="adj" fmla="val 6667"/>
            </a:avLst>
          </a:prstGeom>
          <a:solidFill>
            <a:schemeClr val="bg2"/>
          </a:solidFill>
          <a:ln/>
        </p:spPr>
      </p:sp>
      <p:sp>
        <p:nvSpPr>
          <p:cNvPr id="16" name="Text 10"/>
          <p:cNvSpPr txBox="1"/>
          <p:nvPr/>
        </p:nvSpPr>
        <p:spPr>
          <a:xfrm>
            <a:off x="6766560" y="4937760"/>
            <a:ext cx="2286000" cy="457200"/>
          </a:xfrm>
          <a:prstGeom prst="rect">
            <a:avLst/>
          </a:prstGeom>
          <a:noFill/>
          <a:ln/>
        </p:spPr>
        <p:txBody>
          <a:bodyPr wrap="square" lIns="0" tIns="0" rIns="0" bIns="0" rtlCol="0" anchor="ctr"/>
          <a:lstStyle/>
          <a:p>
            <a:pPr marL="0" indent="0">
              <a:buNone/>
            </a:pPr>
            <a:r>
              <a:rPr lang="en-US" sz="2600" b="1" dirty="0">
                <a:solidFill>
                  <a:schemeClr val="accent1"/>
                </a:solidFill>
                <a:latin typeface="+mj-lt" pitchFamily="34" charset="0"/>
                <a:ea typeface="+mj-lt" pitchFamily="34" charset="-122"/>
                <a:cs typeface="+mj-lt" pitchFamily="34" charset="-120"/>
              </a:rPr>
              <a:t>+2.7 pts</a:t>
            </a:r>
            <a:endParaRPr lang="en-US" sz="2600" dirty="0"/>
          </a:p>
        </p:txBody>
      </p:sp>
      <p:sp>
        <p:nvSpPr>
          <p:cNvPr id="17" name="Text 11"/>
          <p:cNvSpPr txBox="1"/>
          <p:nvPr/>
        </p:nvSpPr>
        <p:spPr>
          <a:xfrm>
            <a:off x="6766560" y="5440680"/>
            <a:ext cx="2286000" cy="548640"/>
          </a:xfrm>
          <a:prstGeom prst="rect">
            <a:avLst/>
          </a:prstGeom>
          <a:noFill/>
          <a:ln/>
        </p:spPr>
        <p:txBody>
          <a:bodyPr wrap="square" lIns="0" tIns="0" rIns="0" bIns="0" rtlCol="0" anchor="t"/>
          <a:lstStyle/>
          <a:p>
            <a:pPr marL="0" indent="0">
              <a:buNone/>
            </a:pPr>
            <a:r>
              <a:rPr lang="en-US" sz="1200" dirty="0">
                <a:solidFill>
                  <a:schemeClr val="tx2"/>
                </a:solidFill>
              </a:rPr>
              <a:t>statistical vs rules (95% CI 1.9–3.5)</a:t>
            </a:r>
            <a:endParaRPr lang="en-US" sz="1200" dirty="0"/>
          </a:p>
        </p:txBody>
      </p:sp>
      <p:sp>
        <p:nvSpPr>
          <p:cNvPr id="18" name="Text 12"/>
          <p:cNvSpPr txBox="1"/>
          <p:nvPr/>
        </p:nvSpPr>
        <p:spPr>
          <a:xfrm>
            <a:off x="9235440" y="4937760"/>
            <a:ext cx="2286000" cy="457200"/>
          </a:xfrm>
          <a:prstGeom prst="rect">
            <a:avLst/>
          </a:prstGeom>
          <a:noFill/>
          <a:ln/>
        </p:spPr>
        <p:txBody>
          <a:bodyPr wrap="square" lIns="0" tIns="0" rIns="0" bIns="0" rtlCol="0" anchor="ctr"/>
          <a:lstStyle/>
          <a:p>
            <a:pPr marL="0" indent="0">
              <a:buNone/>
            </a:pPr>
            <a:r>
              <a:rPr lang="en-US" sz="2600" b="1" dirty="0">
                <a:solidFill>
                  <a:schemeClr val="accent1"/>
                </a:solidFill>
                <a:latin typeface="+mj-lt" pitchFamily="34" charset="0"/>
                <a:ea typeface="+mj-lt" pitchFamily="34" charset="-122"/>
                <a:cs typeface="+mj-lt" pitchFamily="34" charset="-120"/>
              </a:rPr>
              <a:t>2–4%</a:t>
            </a:r>
            <a:endParaRPr lang="en-US" sz="2600" dirty="0"/>
          </a:p>
        </p:txBody>
      </p:sp>
      <p:sp>
        <p:nvSpPr>
          <p:cNvPr id="19" name="Text 13"/>
          <p:cNvSpPr txBox="1"/>
          <p:nvPr/>
        </p:nvSpPr>
        <p:spPr>
          <a:xfrm>
            <a:off x="9235440" y="5440680"/>
            <a:ext cx="2286000" cy="548640"/>
          </a:xfrm>
          <a:prstGeom prst="rect">
            <a:avLst/>
          </a:prstGeom>
          <a:noFill/>
          <a:ln/>
        </p:spPr>
        <p:txBody>
          <a:bodyPr wrap="square" lIns="0" tIns="0" rIns="0" bIns="0" rtlCol="0" anchor="t"/>
          <a:lstStyle/>
          <a:p>
            <a:pPr marL="0" indent="0">
              <a:buNone/>
            </a:pPr>
            <a:r>
              <a:rPr lang="en-US" sz="1200" dirty="0">
                <a:solidFill>
                  <a:schemeClr val="tx2"/>
                </a:solidFill>
              </a:rPr>
              <a:t>of hidden smokers found by either tool</a:t>
            </a:r>
            <a:endParaRPr lang="en-US" sz="12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4 · THE CONFLICT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The Economics of Auditing: Cost-Benefit Analysis (Objective 4)</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Checking has a price. When does it pay for Meridian?</a:t>
            </a:r>
            <a:endParaRPr lang="en-US" sz="1500" dirty="0"/>
          </a:p>
        </p:txBody>
      </p:sp>
      <p:graphicFrame>
        <p:nvGraphicFramePr>
          <p:cNvPr id="6" name="Chart 0"/>
          <p:cNvGraphicFramePr/>
          <p:nvPr/>
        </p:nvGraphicFramePr>
        <p:xfrm>
          <a:off x="548640" y="1874520"/>
          <a:ext cx="63093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Rule card"/>
          <p:cNvSpPr/>
          <p:nvPr/>
        </p:nvSpPr>
        <p:spPr>
          <a:xfrm>
            <a:off x="7132320" y="1874520"/>
            <a:ext cx="4507992" cy="1920240"/>
          </a:xfrm>
          <a:prstGeom prst="roundRect">
            <a:avLst>
              <a:gd name="adj" fmla="val 4762"/>
            </a:avLst>
          </a:prstGeom>
          <a:solidFill>
            <a:schemeClr val="bg2"/>
          </a:solidFill>
          <a:ln/>
        </p:spPr>
      </p:sp>
      <p:sp>
        <p:nvSpPr>
          <p:cNvPr id="8" name="Text 4"/>
          <p:cNvSpPr txBox="1"/>
          <p:nvPr/>
        </p:nvSpPr>
        <p:spPr>
          <a:xfrm>
            <a:off x="7360920" y="2011680"/>
            <a:ext cx="4023360" cy="320040"/>
          </a:xfrm>
          <a:prstGeom prst="rect">
            <a:avLst/>
          </a:prstGeom>
          <a:noFill/>
          <a:ln/>
        </p:spPr>
        <p:txBody>
          <a:bodyPr wrap="square" lIns="0" tIns="0" rIns="0" bIns="0" rtlCol="0" anchor="t"/>
          <a:lstStyle/>
          <a:p>
            <a:pPr marL="0" indent="0">
              <a:buNone/>
            </a:pPr>
            <a:r>
              <a:rPr lang="en-US" sz="1500" b="1" dirty="0">
                <a:solidFill>
                  <a:schemeClr val="tx2"/>
                </a:solidFill>
              </a:rPr>
              <a:t>Check a flagged applicant if</a:t>
            </a:r>
            <a:endParaRPr lang="en-US" sz="1500" dirty="0"/>
          </a:p>
        </p:txBody>
      </p:sp>
      <p:sp>
        <p:nvSpPr>
          <p:cNvPr id="9" name="Text 5"/>
          <p:cNvSpPr txBox="1"/>
          <p:nvPr/>
        </p:nvSpPr>
        <p:spPr>
          <a:xfrm>
            <a:off x="7360920" y="2423160"/>
            <a:ext cx="4023360" cy="502920"/>
          </a:xfrm>
          <a:prstGeom prst="rect">
            <a:avLst/>
          </a:prstGeom>
          <a:noFill/>
          <a:ln/>
        </p:spPr>
        <p:txBody>
          <a:bodyPr wrap="square" lIns="0" tIns="0" rIns="0" bIns="0" rtlCol="0" anchor="ctr"/>
          <a:lstStyle/>
          <a:p>
            <a:pPr marL="0" indent="0">
              <a:buNone/>
            </a:pPr>
            <a:r>
              <a:rPr lang="en-US" sz="2000" b="1" dirty="0">
                <a:solidFill>
                  <a:schemeClr val="accent1"/>
                </a:solidFill>
                <a:latin typeface="+mj-lt" pitchFamily="34" charset="0"/>
                <a:ea typeface="+mj-lt" pitchFamily="34" charset="-122"/>
                <a:cs typeface="+mj-lt" pitchFamily="34" charset="-120"/>
              </a:rPr>
              <a:t>c &lt; P(lying | flagged) × v × d</a:t>
            </a:r>
            <a:endParaRPr lang="en-US" sz="2000" dirty="0"/>
          </a:p>
        </p:txBody>
      </p:sp>
      <p:sp>
        <p:nvSpPr>
          <p:cNvPr id="10" name="Text 6"/>
          <p:cNvSpPr txBox="1"/>
          <p:nvPr/>
        </p:nvSpPr>
        <p:spPr>
          <a:xfrm>
            <a:off x="7360920" y="3017520"/>
            <a:ext cx="4023360" cy="640080"/>
          </a:xfrm>
          <a:prstGeom prst="rect">
            <a:avLst/>
          </a:prstGeom>
          <a:noFill/>
          <a:ln/>
        </p:spPr>
        <p:txBody>
          <a:bodyPr wrap="square" lIns="0" tIns="0" rIns="0" bIns="0" rtlCol="0" anchor="t"/>
          <a:lstStyle/>
          <a:p>
            <a:pPr marL="0" indent="0">
              <a:buNone/>
            </a:pPr>
            <a:r>
              <a:rPr lang="en-US" sz="1300" dirty="0">
                <a:solidFill>
                  <a:schemeClr val="tx2"/>
                </a:solidFill>
              </a:rPr>
              <a:t>c exam cost · v exam accuracy · d premium saved by lying</a:t>
            </a:r>
            <a:endParaRPr lang="en-US" sz="1300" dirty="0"/>
          </a:p>
        </p:txBody>
      </p:sp>
      <p:sp>
        <p:nvSpPr>
          <p:cNvPr id="11" name="Policy size card"/>
          <p:cNvSpPr/>
          <p:nvPr/>
        </p:nvSpPr>
        <p:spPr>
          <a:xfrm>
            <a:off x="7132320" y="3977640"/>
            <a:ext cx="4507992" cy="2240280"/>
          </a:xfrm>
          <a:prstGeom prst="roundRect">
            <a:avLst>
              <a:gd name="adj" fmla="val 4082"/>
            </a:avLst>
          </a:prstGeom>
          <a:solidFill>
            <a:schemeClr val="bg2"/>
          </a:solidFill>
          <a:ln/>
        </p:spPr>
      </p:sp>
      <p:sp>
        <p:nvSpPr>
          <p:cNvPr id="12" name="Text 8"/>
          <p:cNvSpPr txBox="1"/>
          <p:nvPr/>
        </p:nvSpPr>
        <p:spPr>
          <a:xfrm>
            <a:off x="7360920" y="4114800"/>
            <a:ext cx="4069080" cy="502920"/>
          </a:xfrm>
          <a:prstGeom prst="rect">
            <a:avLst/>
          </a:prstGeom>
          <a:noFill/>
          <a:ln/>
        </p:spPr>
        <p:txBody>
          <a:bodyPr wrap="square" lIns="0" tIns="0" rIns="0" bIns="0" rtlCol="0" anchor="ctr"/>
          <a:lstStyle/>
          <a:p>
            <a:pPr marL="0" indent="0">
              <a:buNone/>
            </a:pPr>
            <a:r>
              <a:rPr lang="en-US" sz="2600" b="1" dirty="0">
                <a:solidFill>
                  <a:schemeClr val="accent3"/>
                </a:solidFill>
                <a:latin typeface="+mj-lt" pitchFamily="34" charset="0"/>
                <a:ea typeface="+mj-lt" pitchFamily="34" charset="-122"/>
                <a:cs typeface="+mj-lt" pitchFamily="34" charset="-120"/>
              </a:rPr>
              <a:t>₹5.5k → ₹111k</a:t>
            </a:r>
            <a:endParaRPr lang="en-US" sz="2600" dirty="0"/>
          </a:p>
        </p:txBody>
      </p:sp>
      <p:sp>
        <p:nvSpPr>
          <p:cNvPr id="13" name="Text 9"/>
          <p:cNvSpPr txBox="1"/>
          <p:nvPr/>
        </p:nvSpPr>
        <p:spPr>
          <a:xfrm>
            <a:off x="7360920" y="4663440"/>
            <a:ext cx="4069080" cy="640080"/>
          </a:xfrm>
          <a:prstGeom prst="rect">
            <a:avLst/>
          </a:prstGeom>
          <a:noFill/>
          <a:ln/>
        </p:spPr>
        <p:txBody>
          <a:bodyPr wrap="square" lIns="0" tIns="0" rIns="0" bIns="0" rtlCol="0" anchor="t"/>
          <a:lstStyle/>
          <a:p>
            <a:pPr marL="0" indent="0">
              <a:buNone/>
            </a:pPr>
            <a:r>
              <a:rPr lang="en-US" sz="1400" dirty="0">
                <a:solidFill>
                  <a:schemeClr val="tx2"/>
                </a:solidFill>
              </a:rPr>
              <a:t>break-even when checking everyone, for a ₹10 lakh → ₹2 crore policy</a:t>
            </a:r>
            <a:endParaRPr lang="en-US" sz="1400" dirty="0"/>
          </a:p>
        </p:txBody>
      </p:sp>
      <p:sp>
        <p:nvSpPr>
          <p:cNvPr id="14" name="Text 10"/>
          <p:cNvSpPr txBox="1"/>
          <p:nvPr/>
        </p:nvSpPr>
        <p:spPr>
          <a:xfrm>
            <a:off x="7360920" y="5394960"/>
            <a:ext cx="4069080" cy="640080"/>
          </a:xfrm>
          <a:prstGeom prst="rect">
            <a:avLst/>
          </a:prstGeom>
          <a:noFill/>
          <a:ln/>
        </p:spPr>
        <p:txBody>
          <a:bodyPr wrap="square" lIns="0" tIns="0" rIns="0" bIns="0" rtlCol="0" anchor="t"/>
          <a:lstStyle/>
          <a:p>
            <a:pPr marL="0" indent="0">
              <a:buNone/>
            </a:pPr>
            <a:r>
              <a:rPr lang="en-US" sz="1200" dirty="0">
                <a:solidFill>
                  <a:schemeClr val="tx2"/>
                </a:solidFill>
              </a:rPr>
              <a:t>Assumes 10% of applicants lie, a perfect exam (v = 1) and γ = 0.5.</a:t>
            </a:r>
            <a:endParaRPr lang="en-US" sz="12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4 · THE CONFLICT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Strategic Deterrence: Penalty Impact Analysis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What penalty would make lying a bad bet?</a:t>
            </a:r>
            <a:endParaRPr lang="en-US" sz="1500" dirty="0"/>
          </a:p>
        </p:txBody>
      </p:sp>
      <p:sp>
        <p:nvSpPr>
          <p:cNvPr id="6" name="Game step"/>
          <p:cNvSpPr/>
          <p:nvPr/>
        </p:nvSpPr>
        <p:spPr>
          <a:xfrm>
            <a:off x="548640" y="1920240"/>
            <a:ext cx="5486400" cy="1234440"/>
          </a:xfrm>
          <a:prstGeom prst="roundRect">
            <a:avLst>
              <a:gd name="adj" fmla="val 7407"/>
            </a:avLst>
          </a:prstGeom>
          <a:solidFill>
            <a:schemeClr val="bg2"/>
          </a:solidFill>
          <a:ln/>
        </p:spPr>
      </p:sp>
      <p:sp>
        <p:nvSpPr>
          <p:cNvPr id="7" name="Number 1"/>
          <p:cNvSpPr txBox="1"/>
          <p:nvPr/>
        </p:nvSpPr>
        <p:spPr>
          <a:xfrm>
            <a:off x="731520" y="2286000"/>
            <a:ext cx="502920" cy="50292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Text 5"/>
          <p:cNvSpPr txBox="1"/>
          <p:nvPr/>
        </p:nvSpPr>
        <p:spPr>
          <a:xfrm>
            <a:off x="1463040" y="1920240"/>
            <a:ext cx="4434840" cy="1234440"/>
          </a:xfrm>
          <a:prstGeom prst="rect">
            <a:avLst/>
          </a:prstGeom>
          <a:noFill/>
          <a:ln/>
        </p:spPr>
        <p:txBody>
          <a:bodyPr wrap="square" lIns="0" tIns="0" rIns="0" bIns="0" rtlCol="0" anchor="ctr"/>
          <a:lstStyle/>
          <a:p>
            <a:pPr marL="0" indent="0">
              <a:buNone/>
            </a:pPr>
            <a:r>
              <a:rPr lang="en-US" sz="1300" b="1" dirty="0">
                <a:solidFill>
                  <a:schemeClr val="tx2"/>
                </a:solidFill>
              </a:rPr>
              <a:t>Lying pays if</a:t>
            </a:r>
            <a:endParaRPr lang="en-US" sz="1400" dirty="0"/>
          </a:p>
          <a:p>
            <a:pPr marL="0" indent="0">
              <a:buNone/>
            </a:pPr>
            <a:r>
              <a:rPr lang="en-US" sz="1900" b="1" dirty="0">
                <a:solidFill>
                  <a:schemeClr val="tx1"/>
                </a:solidFill>
                <a:latin typeface="+mj-lt" pitchFamily="34" charset="0"/>
                <a:ea typeface="+mj-lt" pitchFamily="34" charset="-122"/>
                <a:cs typeface="+mj-lt" pitchFamily="34" charset="-120"/>
              </a:rPr>
              <a:t>G = d − σ · r · v · L &gt; 0</a:t>
            </a:r>
            <a:endParaRPr lang="en-US" sz="1400" dirty="0"/>
          </a:p>
          <a:p>
            <a:pPr marL="0" indent="0">
              <a:buNone/>
            </a:pPr>
            <a:r>
              <a:rPr lang="en-US" sz="1300" dirty="0">
                <a:solidFill>
                  <a:schemeClr val="tx2"/>
                </a:solidFill>
              </a:rPr>
              <a:t>saving minus chance of being caught × penalty</a:t>
            </a:r>
            <a:endParaRPr lang="en-US" sz="1400" dirty="0"/>
          </a:p>
        </p:txBody>
      </p:sp>
      <p:sp>
        <p:nvSpPr>
          <p:cNvPr id="9" name="Game step"/>
          <p:cNvSpPr/>
          <p:nvPr/>
        </p:nvSpPr>
        <p:spPr>
          <a:xfrm>
            <a:off x="548640" y="3291840"/>
            <a:ext cx="5486400" cy="1234440"/>
          </a:xfrm>
          <a:prstGeom prst="roundRect">
            <a:avLst>
              <a:gd name="adj" fmla="val 7407"/>
            </a:avLst>
          </a:prstGeom>
          <a:solidFill>
            <a:schemeClr val="bg2"/>
          </a:solidFill>
          <a:ln/>
        </p:spPr>
      </p:sp>
      <p:sp>
        <p:nvSpPr>
          <p:cNvPr id="10" name="Number 2"/>
          <p:cNvSpPr txBox="1"/>
          <p:nvPr/>
        </p:nvSpPr>
        <p:spPr>
          <a:xfrm>
            <a:off x="731520" y="3657600"/>
            <a:ext cx="502920" cy="502920"/>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1" name="Text 8"/>
          <p:cNvSpPr txBox="1"/>
          <p:nvPr/>
        </p:nvSpPr>
        <p:spPr>
          <a:xfrm>
            <a:off x="1463040" y="3291840"/>
            <a:ext cx="4434840" cy="1234440"/>
          </a:xfrm>
          <a:prstGeom prst="rect">
            <a:avLst/>
          </a:prstGeom>
          <a:noFill/>
          <a:ln/>
        </p:spPr>
        <p:txBody>
          <a:bodyPr wrap="square" lIns="0" tIns="0" rIns="0" bIns="0" rtlCol="0" anchor="ctr"/>
          <a:lstStyle/>
          <a:p>
            <a:pPr marL="0" indent="0">
              <a:buNone/>
            </a:pPr>
            <a:r>
              <a:rPr lang="en-US" sz="1300" b="1" dirty="0">
                <a:solidFill>
                  <a:schemeClr val="tx2"/>
                </a:solidFill>
              </a:rPr>
              <a:t>Truth is best when</a:t>
            </a:r>
            <a:endParaRPr lang="en-US" sz="1400" dirty="0"/>
          </a:p>
          <a:p>
            <a:pPr marL="0" indent="0">
              <a:buNone/>
            </a:pPr>
            <a:r>
              <a:rPr lang="en-US" sz="1900" b="1" dirty="0">
                <a:solidFill>
                  <a:schemeClr val="tx1"/>
                </a:solidFill>
                <a:latin typeface="+mj-lt" pitchFamily="34" charset="0"/>
                <a:ea typeface="+mj-lt" pitchFamily="34" charset="-122"/>
                <a:cs typeface="+mj-lt" pitchFamily="34" charset="-120"/>
              </a:rPr>
              <a:t>L ≥ d ÷ (r · v)</a:t>
            </a:r>
            <a:endParaRPr lang="en-US" sz="1400" dirty="0"/>
          </a:p>
          <a:p>
            <a:pPr marL="0" indent="0">
              <a:buNone/>
            </a:pPr>
            <a:r>
              <a:rPr lang="en-US" sz="1300" dirty="0">
                <a:solidFill>
                  <a:schemeClr val="tx2"/>
                </a:solidFill>
              </a:rPr>
              <a:t>penalty at least the saving divided by detection chance</a:t>
            </a:r>
            <a:endParaRPr lang="en-US" sz="1400" dirty="0"/>
          </a:p>
        </p:txBody>
      </p:sp>
      <p:sp>
        <p:nvSpPr>
          <p:cNvPr id="12" name="Game step"/>
          <p:cNvSpPr/>
          <p:nvPr/>
        </p:nvSpPr>
        <p:spPr>
          <a:xfrm>
            <a:off x="548640" y="4663440"/>
            <a:ext cx="5486400" cy="1234440"/>
          </a:xfrm>
          <a:prstGeom prst="roundRect">
            <a:avLst>
              <a:gd name="adj" fmla="val 7407"/>
            </a:avLst>
          </a:prstGeom>
          <a:solidFill>
            <a:schemeClr val="bg2"/>
          </a:solidFill>
          <a:ln/>
        </p:spPr>
      </p:sp>
      <p:sp>
        <p:nvSpPr>
          <p:cNvPr id="13" name="Number 3"/>
          <p:cNvSpPr txBox="1"/>
          <p:nvPr/>
        </p:nvSpPr>
        <p:spPr>
          <a:xfrm>
            <a:off x="731520" y="5029200"/>
            <a:ext cx="502920" cy="502920"/>
          </a:xfrm>
          <a:prstGeom prst="ellipse">
            <a:avLst/>
          </a:prstGeom>
          <a:solidFill>
            <a:schemeClr val="accent4"/>
          </a:solidFill>
          <a:ln/>
        </p:spPr>
        <p:txBody>
          <a:bodyPr wrap="square" lIns="0" tIns="0" rIns="0" bIns="0" rtlCol="0" anchor="ctr"/>
          <a:lstStyle/>
          <a:p>
            <a:pPr marL="0" indent="0" algn="ctr">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4" name="Text 11"/>
          <p:cNvSpPr txBox="1"/>
          <p:nvPr/>
        </p:nvSpPr>
        <p:spPr>
          <a:xfrm>
            <a:off x="1463040" y="4663440"/>
            <a:ext cx="4434840" cy="1234440"/>
          </a:xfrm>
          <a:prstGeom prst="rect">
            <a:avLst/>
          </a:prstGeom>
          <a:noFill/>
          <a:ln/>
        </p:spPr>
        <p:txBody>
          <a:bodyPr wrap="square" lIns="0" tIns="0" rIns="0" bIns="0" rtlCol="0" anchor="ctr"/>
          <a:lstStyle/>
          <a:p>
            <a:pPr marL="0" indent="0">
              <a:buNone/>
            </a:pPr>
            <a:r>
              <a:rPr lang="en-US" sz="1300" b="1" dirty="0">
                <a:solidFill>
                  <a:schemeClr val="tx2"/>
                </a:solidFill>
              </a:rPr>
              <a:t>Insurer checks if</a:t>
            </a:r>
            <a:endParaRPr lang="en-US" sz="1400" dirty="0"/>
          </a:p>
          <a:p>
            <a:pPr marL="0" indent="0">
              <a:buNone/>
            </a:pPr>
            <a:r>
              <a:rPr lang="en-US" sz="1900" b="1" dirty="0">
                <a:solidFill>
                  <a:schemeClr val="tx1"/>
                </a:solidFill>
                <a:latin typeface="+mj-lt" pitchFamily="34" charset="0"/>
                <a:ea typeface="+mj-lt" pitchFamily="34" charset="-122"/>
                <a:cs typeface="+mj-lt" pitchFamily="34" charset="-120"/>
              </a:rPr>
              <a:t>c &lt; P(lying | flagged) · v · d</a:t>
            </a:r>
            <a:endParaRPr lang="en-US" sz="1400" dirty="0"/>
          </a:p>
          <a:p>
            <a:pPr marL="0" indent="0">
              <a:buNone/>
            </a:pPr>
            <a:r>
              <a:rPr lang="en-US" sz="1300" dirty="0">
                <a:solidFill>
                  <a:schemeClr val="tx2"/>
                </a:solidFill>
              </a:rPr>
              <a:t>exam cost below the expected recovery</a:t>
            </a:r>
            <a:endParaRPr lang="en-US" sz="1400" dirty="0"/>
          </a:p>
        </p:txBody>
      </p:sp>
      <p:sp>
        <p:nvSpPr>
          <p:cNvPr id="15" name="Penalty card"/>
          <p:cNvSpPr/>
          <p:nvPr/>
        </p:nvSpPr>
        <p:spPr>
          <a:xfrm>
            <a:off x="6309360" y="1920240"/>
            <a:ext cx="5330952" cy="1874520"/>
          </a:xfrm>
          <a:prstGeom prst="roundRect">
            <a:avLst>
              <a:gd name="adj" fmla="val 4878"/>
            </a:avLst>
          </a:prstGeom>
          <a:solidFill>
            <a:schemeClr val="bg2"/>
          </a:solidFill>
          <a:ln/>
        </p:spPr>
      </p:sp>
      <p:sp>
        <p:nvSpPr>
          <p:cNvPr id="16" name="Text 13"/>
          <p:cNvSpPr txBox="1"/>
          <p:nvPr/>
        </p:nvSpPr>
        <p:spPr>
          <a:xfrm>
            <a:off x="6583680" y="2057400"/>
            <a:ext cx="4754880" cy="731520"/>
          </a:xfrm>
          <a:prstGeom prst="rect">
            <a:avLst/>
          </a:prstGeom>
          <a:noFill/>
          <a:ln/>
        </p:spPr>
        <p:txBody>
          <a:bodyPr wrap="square" lIns="0" tIns="0" rIns="0" bIns="0" rtlCol="0" anchor="ctr"/>
          <a:lstStyle/>
          <a:p>
            <a:pPr marL="0" indent="0">
              <a:buNone/>
            </a:pPr>
            <a:r>
              <a:rPr lang="en-US" sz="4400" b="1" dirty="0">
                <a:solidFill>
                  <a:schemeClr val="accent3"/>
                </a:solidFill>
                <a:latin typeface="+mj-lt" pitchFamily="34" charset="0"/>
                <a:ea typeface="+mj-lt" pitchFamily="34" charset="-122"/>
                <a:cs typeface="+mj-lt" pitchFamily="34" charset="-120"/>
              </a:rPr>
              <a:t>2.5–3×</a:t>
            </a:r>
            <a:endParaRPr lang="en-US" sz="4400" dirty="0"/>
          </a:p>
        </p:txBody>
      </p:sp>
      <p:sp>
        <p:nvSpPr>
          <p:cNvPr id="17" name="Text 14"/>
          <p:cNvSpPr txBox="1"/>
          <p:nvPr/>
        </p:nvSpPr>
        <p:spPr>
          <a:xfrm>
            <a:off x="6583680" y="2834640"/>
            <a:ext cx="4754880" cy="868680"/>
          </a:xfrm>
          <a:prstGeom prst="rect">
            <a:avLst/>
          </a:prstGeom>
          <a:noFill/>
          <a:ln/>
        </p:spPr>
        <p:txBody>
          <a:bodyPr wrap="square" lIns="0" tIns="0" rIns="0" bIns="0" rtlCol="0" anchor="t"/>
          <a:lstStyle/>
          <a:p>
            <a:pPr marL="0" indent="0">
              <a:spcAft>
                <a:spcPts val="300"/>
              </a:spcAft>
              <a:buNone/>
            </a:pPr>
            <a:r>
              <a:rPr lang="en-US" sz="1500" dirty="0">
                <a:solidFill>
                  <a:schemeClr val="tx1"/>
                </a:solidFill>
              </a:rPr>
              <a:t>the premium saved: penalty needed for hidden diseases or several hidden facts</a:t>
            </a:r>
            <a:endParaRPr lang="en-US" sz="1400" dirty="0"/>
          </a:p>
          <a:p>
            <a:pPr marL="0" indent="0">
              <a:buNone/>
            </a:pPr>
            <a:r>
              <a:rPr lang="en-US" sz="1500" b="1" dirty="0">
                <a:solidFill>
                  <a:schemeClr val="accent3"/>
                </a:solidFill>
              </a:rPr>
              <a:t>Realistic</a:t>
            </a:r>
            <a:endParaRPr lang="en-US" sz="1400" dirty="0"/>
          </a:p>
        </p:txBody>
      </p:sp>
      <p:sp>
        <p:nvSpPr>
          <p:cNvPr id="18" name="Penalty card"/>
          <p:cNvSpPr/>
          <p:nvPr/>
        </p:nvSpPr>
        <p:spPr>
          <a:xfrm>
            <a:off x="6309360" y="3931920"/>
            <a:ext cx="5330952" cy="1874520"/>
          </a:xfrm>
          <a:prstGeom prst="roundRect">
            <a:avLst>
              <a:gd name="adj" fmla="val 4878"/>
            </a:avLst>
          </a:prstGeom>
          <a:solidFill>
            <a:schemeClr val="bg2"/>
          </a:solidFill>
          <a:ln/>
        </p:spPr>
      </p:sp>
      <p:sp>
        <p:nvSpPr>
          <p:cNvPr id="19" name="Text 16"/>
          <p:cNvSpPr txBox="1"/>
          <p:nvPr/>
        </p:nvSpPr>
        <p:spPr>
          <a:xfrm>
            <a:off x="6583680" y="4069080"/>
            <a:ext cx="4754880" cy="731520"/>
          </a:xfrm>
          <a:prstGeom prst="rect">
            <a:avLst/>
          </a:prstGeom>
          <a:noFill/>
          <a:ln/>
        </p:spPr>
        <p:txBody>
          <a:bodyPr wrap="square" lIns="0" tIns="0" rIns="0" bIns="0" rtlCol="0" anchor="ctr"/>
          <a:lstStyle/>
          <a:p>
            <a:pPr marL="0" indent="0">
              <a:buNone/>
            </a:pPr>
            <a:r>
              <a:rPr lang="en-US" sz="4400" b="1" dirty="0">
                <a:solidFill>
                  <a:schemeClr val="accent1"/>
                </a:solidFill>
                <a:latin typeface="+mj-lt" pitchFamily="34" charset="0"/>
                <a:ea typeface="+mj-lt" pitchFamily="34" charset="-122"/>
                <a:cs typeface="+mj-lt" pitchFamily="34" charset="-120"/>
              </a:rPr>
              <a:t>27–54×</a:t>
            </a:r>
            <a:endParaRPr lang="en-US" sz="4400" dirty="0"/>
          </a:p>
        </p:txBody>
      </p:sp>
      <p:sp>
        <p:nvSpPr>
          <p:cNvPr id="20" name="Text 17"/>
          <p:cNvSpPr txBox="1"/>
          <p:nvPr/>
        </p:nvSpPr>
        <p:spPr>
          <a:xfrm>
            <a:off x="6583680" y="4846320"/>
            <a:ext cx="4754880" cy="868680"/>
          </a:xfrm>
          <a:prstGeom prst="rect">
            <a:avLst/>
          </a:prstGeom>
          <a:noFill/>
          <a:ln/>
        </p:spPr>
        <p:txBody>
          <a:bodyPr wrap="square" lIns="0" tIns="0" rIns="0" bIns="0" rtlCol="0" anchor="t"/>
          <a:lstStyle/>
          <a:p>
            <a:pPr marL="0" indent="0">
              <a:spcAft>
                <a:spcPts val="300"/>
              </a:spcAft>
              <a:buNone/>
            </a:pPr>
            <a:r>
              <a:rPr lang="en-US" sz="1500" dirty="0">
                <a:solidFill>
                  <a:schemeClr val="tx1"/>
                </a:solidFill>
              </a:rPr>
              <a:t>the premium saved: penalty needed for hidden smoking</a:t>
            </a:r>
            <a:endParaRPr lang="en-US" sz="1400" dirty="0"/>
          </a:p>
          <a:p>
            <a:pPr marL="0" indent="0">
              <a:buNone/>
            </a:pPr>
            <a:r>
              <a:rPr lang="en-US" sz="1500" b="1" dirty="0">
                <a:solidFill>
                  <a:schemeClr val="accent1"/>
                </a:solidFill>
              </a:rPr>
              <a:t>Not realistic without a better test</a:t>
            </a:r>
            <a:endParaRPr lang="en-US" sz="1400" dirty="0"/>
          </a:p>
        </p:txBody>
      </p:sp>
      <p:sp>
        <p:nvSpPr>
          <p:cNvPr id="21" name="Text 18"/>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200" dirty="0">
                <a:solidFill>
                  <a:schemeClr val="tx2"/>
                </a:solidFill>
              </a:rPr>
              <a:t>d premium saved · L total loss when caught · r share of liars flagged · v exam accuracy · c exam cost · σ chance of checking</a:t>
            </a:r>
            <a:endParaRPr lang="en-US" sz="12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Trade-off Matrix: Rules vs Machine Learning</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No method wins on every measure. Meridian must choose what it values.</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383280"/>
        </p:xfrm>
        <a:graphic>
          <a:graphicData uri="http://schemas.openxmlformats.org/drawingml/2006/table">
            <a:tbl>
              <a:tblPr/>
              <a:tblGrid>
                <a:gridCol w="2926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FFFFFF"/>
                          </a:solidFill>
                          <a:latin typeface="+mn-lt" pitchFamily="34" charset="0"/>
                          <a:ea typeface="+mn-lt" pitchFamily="34" charset="-122"/>
                          <a:cs typeface="+mn-lt" pitchFamily="34" charset="-120"/>
                        </a:rPr>
                        <a:t>Criterion</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mn-lt" pitchFamily="34" charset="0"/>
                          <a:ea typeface="+mn-lt" pitchFamily="34" charset="-122"/>
                          <a:cs typeface="+mn-lt" pitchFamily="34" charset="-120"/>
                        </a:rPr>
                        <a:t>Arm A (rules)</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mn-lt" pitchFamily="34" charset="0"/>
                          <a:ea typeface="+mn-lt" pitchFamily="34" charset="-122"/>
                          <a:cs typeface="+mn-lt" pitchFamily="34" charset="-120"/>
                        </a:rPr>
                        <a:t>GLM / Cox</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mn-lt" pitchFamily="34" charset="0"/>
                          <a:ea typeface="+mn-lt" pitchFamily="34" charset="-122"/>
                          <a:cs typeface="+mn-lt" pitchFamily="34" charset="-120"/>
                        </a:rPr>
                        <a:t>XGBoost</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rgbClr val="1B2A41"/>
                          </a:solidFill>
                          <a:latin typeface="+mn-lt" pitchFamily="34" charset="0"/>
                          <a:ea typeface="+mn-lt" pitchFamily="34" charset="-122"/>
                          <a:cs typeface="+mn-lt" pitchFamily="34" charset="-120"/>
                        </a:rPr>
                        <a:t>Honest accuracy vs Arm A</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Reference</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Slightly better at every γ</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Worse at γ ≤ 0.75; about equal at γ = 1</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1B2A41"/>
                          </a:solidFill>
                          <a:latin typeface="+mn-lt" pitchFamily="34" charset="0"/>
                          <a:ea typeface="+mn-lt" pitchFamily="34" charset="-122"/>
                          <a:cs typeface="+mn-lt" pitchFamily="34" charset="-120"/>
                        </a:rPr>
                        <a:t>Applicants needed to pass Arm A</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Never learns</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15,000–30,000</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30,000–90,000 (γ = 1); 90,000–270,000 (γ = 0)</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1B2A41"/>
                          </a:solidFill>
                          <a:latin typeface="+mn-lt" pitchFamily="34" charset="0"/>
                          <a:ea typeface="+mn-lt" pitchFamily="34" charset="-122"/>
                          <a:cs typeface="+mn-lt" pitchFamily="34" charset="-120"/>
                        </a:rPr>
                        <a:t>Premium error vs Arm A (γ = 0.5)</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Reference</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−₹605 a year</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+₹2,014 a year</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400" b="1" dirty="0">
                          <a:solidFill>
                            <a:srgbClr val="1B2A41"/>
                          </a:solidFill>
                          <a:latin typeface="+mn-lt" pitchFamily="34" charset="0"/>
                          <a:ea typeface="+mn-lt" pitchFamily="34" charset="-122"/>
                          <a:cs typeface="+mn-lt" pitchFamily="34" charset="-120"/>
                        </a:rPr>
                        <a:t>Liars underpriced, γ = 0.5 (disease / smoking / both)</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19% / 56% / 67%</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33% / 59% / 73% (GLM)</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22% / 54% / 69%</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640080">
                <a:tc>
                  <a:txBody>
                    <a:bodyPr/>
                    <a:lstStyle/>
                    <a:p>
                      <a:pPr marL="0" indent="0">
                        <a:buNone/>
                      </a:pPr>
                      <a:r>
                        <a:rPr lang="en-US" sz="1400" b="1" dirty="0">
                          <a:solidFill>
                            <a:srgbClr val="1B2A41"/>
                          </a:solidFill>
                          <a:latin typeface="+mn-lt" pitchFamily="34" charset="0"/>
                          <a:ea typeface="+mn-lt" pitchFamily="34" charset="-122"/>
                          <a:cs typeface="+mn-lt" pitchFamily="34" charset="-120"/>
                        </a:rPr>
                        <a:t>Trained on declared records, γ = 1</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Improves 0.0036; Arm A+ is the fair reference</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Improves 0.0089; about equal to Arm A+</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400" dirty="0">
                          <a:solidFill>
                            <a:srgbClr val="1B2A41"/>
                          </a:solidFill>
                          <a:latin typeface="+mn-lt" pitchFamily="34" charset="0"/>
                          <a:ea typeface="+mn-lt" pitchFamily="34" charset="-122"/>
                          <a:cs typeface="+mn-lt" pitchFamily="34" charset="-120"/>
                        </a:rPr>
                        <a:t>Improves 0.0076; worse than Arm A+</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Matrix verdict"/>
          <p:cNvSpPr/>
          <p:nvPr/>
        </p:nvSpPr>
        <p:spPr>
          <a:xfrm>
            <a:off x="548640" y="5577840"/>
            <a:ext cx="11091672" cy="685800"/>
          </a:xfrm>
          <a:prstGeom prst="roundRect">
            <a:avLst>
              <a:gd name="adj" fmla="val 13333"/>
            </a:avLst>
          </a:prstGeom>
          <a:solidFill>
            <a:schemeClr val="tx1"/>
          </a:solidFill>
          <a:ln/>
        </p:spPr>
      </p:sp>
      <p:sp>
        <p:nvSpPr>
          <p:cNvPr id="8" name="Text 4"/>
          <p:cNvSpPr txBox="1"/>
          <p:nvPr/>
        </p:nvSpPr>
        <p:spPr>
          <a:xfrm>
            <a:off x="822960" y="5577840"/>
            <a:ext cx="10515600" cy="685800"/>
          </a:xfrm>
          <a:prstGeom prst="rect">
            <a:avLst/>
          </a:prstGeom>
          <a:noFill/>
          <a:ln/>
        </p:spPr>
        <p:txBody>
          <a:bodyPr wrap="square" lIns="0" tIns="0" rIns="0" bIns="0" rtlCol="0" anchor="ctr"/>
          <a:lstStyle/>
          <a:p>
            <a:pPr marL="0" indent="0">
              <a:buNone/>
            </a:pPr>
            <a:r>
              <a:rPr lang="en-US" sz="1500" b="1" dirty="0">
                <a:solidFill>
                  <a:schemeClr val="bg1"/>
                </a:solidFill>
              </a:rPr>
              <a:t>A GLM is the simplest method that beats fixed rules; XGBoost needs far more data; with honest-trained models and liars, rules are hardest to beat.</a:t>
            </a:r>
            <a:endParaRPr lang="en-US" sz="15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Interactive Tool Overview: The Streamlit Calculator</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Meridian’s underwriters can try it on one applicant at a time.</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949440" cy="2286000"/>
        </p:xfrm>
        <a:graphic>
          <a:graphicData uri="http://schemas.openxmlformats.org/drawingml/2006/table">
            <a:tbl>
              <a:tblPr/>
              <a:tblGrid>
                <a:gridCol w="24688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FFFFFF"/>
                          </a:solidFill>
                          <a:latin typeface="+mn-lt" pitchFamily="34" charset="0"/>
                          <a:ea typeface="+mn-lt" pitchFamily="34" charset="-122"/>
                          <a:cs typeface="+mn-lt" pitchFamily="34" charset="-120"/>
                        </a:rPr>
                        <a:t>Model</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mn-lt" pitchFamily="34" charset="0"/>
                          <a:ea typeface="+mn-lt" pitchFamily="34" charset="-122"/>
                          <a:cs typeface="+mn-lt" pitchFamily="34" charset="-120"/>
                        </a:rPr>
                        <a:t>Declared record</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mn-lt" pitchFamily="34" charset="0"/>
                          <a:ea typeface="+mn-lt" pitchFamily="34" charset="-122"/>
                          <a:cs typeface="+mn-lt" pitchFamily="34" charset="-120"/>
                        </a:rPr>
                        <a:t>Gap to fair</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mn-lt" pitchFamily="34" charset="0"/>
                          <a:ea typeface="+mn-lt" pitchFamily="34" charset="-122"/>
                          <a:cs typeface="+mn-lt" pitchFamily="34" charset="-120"/>
                        </a:rPr>
                        <a:t>True record</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1B2A41"/>
                          </a:solidFill>
                          <a:latin typeface="+mn-lt" pitchFamily="34" charset="0"/>
                          <a:ea typeface="+mn-lt" pitchFamily="34" charset="-122"/>
                          <a:cs typeface="+mn-lt" pitchFamily="34" charset="-120"/>
                        </a:rPr>
                        <a:t>Traditional (Arm A)</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₹20,699</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−50%</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₹50,470</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1B2A41"/>
                          </a:solidFill>
                          <a:latin typeface="+mn-lt" pitchFamily="34" charset="0"/>
                          <a:ea typeface="+mn-lt" pitchFamily="34" charset="-122"/>
                          <a:cs typeface="+mn-lt" pitchFamily="34" charset="-120"/>
                        </a:rPr>
                        <a:t>GLM</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₹17,769</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−58%</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₹43,503</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1B2A41"/>
                          </a:solidFill>
                          <a:latin typeface="+mn-lt" pitchFamily="34" charset="0"/>
                          <a:ea typeface="+mn-lt" pitchFamily="34" charset="-122"/>
                          <a:cs typeface="+mn-lt" pitchFamily="34" charset="-120"/>
                        </a:rPr>
                        <a:t>XGBoost</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₹28,063</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−33%</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mn-lt" pitchFamily="34" charset="0"/>
                          <a:ea typeface="+mn-lt" pitchFamily="34" charset="-122"/>
                          <a:cs typeface="+mn-lt" pitchFamily="34" charset="-120"/>
                        </a:rPr>
                        <a:t>₹52,285</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400" b="1" dirty="0">
                          <a:solidFill>
                            <a:srgbClr val="C8553D"/>
                          </a:solidFill>
                          <a:latin typeface="+mn-lt" pitchFamily="34" charset="0"/>
                          <a:ea typeface="+mn-lt" pitchFamily="34" charset="-122"/>
                          <a:cs typeface="+mn-lt" pitchFamily="34" charset="-120"/>
                        </a:rPr>
                        <a:t>Fair price (truth)</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r>
                        <a:rPr lang="en-US" sz="1400" b="1" dirty="0">
                          <a:solidFill>
                            <a:srgbClr val="C8553D"/>
                          </a:solidFill>
                          <a:latin typeface="+mn-lt" pitchFamily="34" charset="0"/>
                          <a:ea typeface="+mn-lt" pitchFamily="34" charset="-122"/>
                          <a:cs typeface="+mn-lt" pitchFamily="34" charset="-120"/>
                        </a:rPr>
                        <a:t>₹41,774</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marL="0" indent="0" algn="ctr">
                        <a:buNone/>
                      </a:pPr>
                      <a:r>
                        <a:rPr lang="en-US" sz="1400" b="1" dirty="0">
                          <a:solidFill>
                            <a:srgbClr val="C8553D"/>
                          </a:solidFill>
                          <a:latin typeface="+mn-lt" pitchFamily="34" charset="0"/>
                          <a:ea typeface="+mn-lt" pitchFamily="34" charset="-122"/>
                          <a:cs typeface="+mn-lt" pitchFamily="34" charset="-120"/>
                        </a:rPr>
                        <a:t>₹41,774</a:t>
                      </a:r>
                      <a:endParaRPr lang="en-US" sz="1400" dirty="0">
                        <a:latin typeface="+mn-lt" charset="0"/>
                        <a:ea typeface="+mn-lt" charset="0"/>
                        <a:cs typeface="+mn-lt" charset="0"/>
                      </a:endParaRPr>
                    </a:p>
                  </a:txBody>
                  <a:tcPr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7" name="Shortcut card"/>
          <p:cNvSpPr/>
          <p:nvPr/>
        </p:nvSpPr>
        <p:spPr>
          <a:xfrm>
            <a:off x="548640" y="4526280"/>
            <a:ext cx="6949440" cy="1691640"/>
          </a:xfrm>
          <a:prstGeom prst="roundRect">
            <a:avLst>
              <a:gd name="adj" fmla="val 5405"/>
            </a:avLst>
          </a:prstGeom>
          <a:solidFill>
            <a:schemeClr val="bg2"/>
          </a:solidFill>
          <a:ln/>
        </p:spPr>
      </p:sp>
      <p:sp>
        <p:nvSpPr>
          <p:cNvPr id="8" name="Text 4"/>
          <p:cNvSpPr txBox="1"/>
          <p:nvPr/>
        </p:nvSpPr>
        <p:spPr>
          <a:xfrm>
            <a:off x="777240" y="4617720"/>
            <a:ext cx="2926080" cy="548640"/>
          </a:xfrm>
          <a:prstGeom prst="rect">
            <a:avLst/>
          </a:prstGeom>
          <a:noFill/>
          <a:ln/>
        </p:spPr>
        <p:txBody>
          <a:bodyPr wrap="square" lIns="0" tIns="0" rIns="0" bIns="0" rtlCol="0" anchor="ctr"/>
          <a:lstStyle/>
          <a:p>
            <a:pPr marL="0" indent="0">
              <a:buNone/>
            </a:pPr>
            <a:r>
              <a:rPr lang="en-US" sz="2800" b="1" dirty="0">
                <a:solidFill>
                  <a:schemeClr val="accent1"/>
                </a:solidFill>
                <a:latin typeface="+mj-lt" pitchFamily="34" charset="0"/>
                <a:ea typeface="+mj-lt" pitchFamily="34" charset="-122"/>
                <a:cs typeface="+mj-lt" pitchFamily="34" charset="-120"/>
              </a:rPr>
              <a:t>28% too low</a:t>
            </a:r>
            <a:endParaRPr lang="en-US" sz="2800" dirty="0"/>
          </a:p>
        </p:txBody>
      </p:sp>
      <p:sp>
        <p:nvSpPr>
          <p:cNvPr id="9" name="Text 5"/>
          <p:cNvSpPr txBox="1"/>
          <p:nvPr/>
        </p:nvSpPr>
        <p:spPr>
          <a:xfrm>
            <a:off x="777240" y="5212080"/>
            <a:ext cx="2926080" cy="365760"/>
          </a:xfrm>
          <a:prstGeom prst="rect">
            <a:avLst/>
          </a:prstGeom>
          <a:noFill/>
          <a:ln/>
        </p:spPr>
        <p:txBody>
          <a:bodyPr wrap="square" lIns="0" tIns="0" rIns="0" bIns="0" rtlCol="0" anchor="t"/>
          <a:lstStyle/>
          <a:p>
            <a:pPr marL="0" indent="0">
              <a:buNone/>
            </a:pPr>
            <a:r>
              <a:rPr lang="en-US" sz="1400" dirty="0">
                <a:solidFill>
                  <a:schemeClr val="tx2"/>
                </a:solidFill>
              </a:rPr>
              <a:t>the 20-year quote</a:t>
            </a:r>
            <a:endParaRPr lang="en-US" sz="1400" dirty="0"/>
          </a:p>
        </p:txBody>
      </p:sp>
      <p:sp>
        <p:nvSpPr>
          <p:cNvPr id="10" name="Text 6"/>
          <p:cNvSpPr txBox="1"/>
          <p:nvPr/>
        </p:nvSpPr>
        <p:spPr>
          <a:xfrm>
            <a:off x="3840480" y="4617720"/>
            <a:ext cx="3520440" cy="1508760"/>
          </a:xfrm>
          <a:prstGeom prst="rect">
            <a:avLst/>
          </a:prstGeom>
          <a:noFill/>
          <a:ln/>
        </p:spPr>
        <p:txBody>
          <a:bodyPr wrap="square" lIns="0" tIns="0" rIns="0" bIns="0" rtlCol="0" anchor="ctr"/>
          <a:lstStyle/>
          <a:p>
            <a:pPr marL="0" indent="0">
              <a:buNone/>
            </a:pPr>
            <a:r>
              <a:rPr lang="en-US" sz="1400" dirty="0">
                <a:solidFill>
                  <a:schemeClr val="tx1"/>
                </a:solidFill>
              </a:rPr>
              <a:t>The shortcut assumes constant yearly risk. True claim probability is 17.8%; the shortcut gives 12.9%.</a:t>
            </a:r>
            <a:endParaRPr lang="en-US" sz="1400" dirty="0"/>
          </a:p>
        </p:txBody>
      </p:sp>
      <p:sp>
        <p:nvSpPr>
          <p:cNvPr id="11" name="Try it card"/>
          <p:cNvSpPr/>
          <p:nvPr/>
        </p:nvSpPr>
        <p:spPr>
          <a:xfrm>
            <a:off x="7772400" y="1920240"/>
            <a:ext cx="3867912" cy="4297680"/>
          </a:xfrm>
          <a:prstGeom prst="roundRect">
            <a:avLst>
              <a:gd name="adj" fmla="val 2364"/>
            </a:avLst>
          </a:prstGeom>
          <a:solidFill>
            <a:schemeClr val="bg2"/>
          </a:solidFill>
          <a:ln/>
        </p:spPr>
      </p:sp>
      <p:sp>
        <p:nvSpPr>
          <p:cNvPr id="12" name="Icon circle Calculator"/>
          <p:cNvSpPr/>
          <p:nvPr/>
        </p:nvSpPr>
        <p:spPr>
          <a:xfrm>
            <a:off x="8001000" y="2103120"/>
            <a:ext cx="640080" cy="640080"/>
          </a:xfrm>
          <a:prstGeom prst="ellipse">
            <a:avLst/>
          </a:prstGeom>
          <a:solidFill>
            <a:schemeClr val="accent1"/>
          </a:solidFill>
          <a:ln/>
        </p:spPr>
      </p:sp>
      <p:pic>
        <p:nvPicPr>
          <p:cNvPr id="13" name="Image 0" descr="Calculator icon"/>
          <p:cNvPicPr>
            <a:picLocks noChangeAspect="1"/>
          </p:cNvPicPr>
          <p:nvPr/>
        </p:nvPicPr>
        <p:blipFill>
          <a:blip r:embed="rId3"/>
          <a:stretch>
            <a:fillRect/>
          </a:stretch>
        </p:blipFill>
        <p:spPr>
          <a:xfrm>
            <a:off x="8161020" y="2263140"/>
            <a:ext cx="320040" cy="320040"/>
          </a:xfrm>
          <a:prstGeom prst="rect">
            <a:avLst/>
          </a:prstGeom>
        </p:spPr>
      </p:pic>
      <p:sp>
        <p:nvSpPr>
          <p:cNvPr id="14" name="Text 9"/>
          <p:cNvSpPr txBox="1"/>
          <p:nvPr/>
        </p:nvSpPr>
        <p:spPr>
          <a:xfrm>
            <a:off x="8778240" y="2103120"/>
            <a:ext cx="2651760" cy="640080"/>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Try it live</a:t>
            </a:r>
            <a:endParaRPr lang="en-US" sz="2200" dirty="0"/>
          </a:p>
        </p:txBody>
      </p:sp>
      <p:sp>
        <p:nvSpPr>
          <p:cNvPr id="15" name="Text 10"/>
          <p:cNvSpPr txBox="1"/>
          <p:nvPr/>
        </p:nvSpPr>
        <p:spPr>
          <a:xfrm>
            <a:off x="8001000" y="2926080"/>
            <a:ext cx="3474720" cy="548640"/>
          </a:xfrm>
          <a:prstGeom prst="rect">
            <a:avLst/>
          </a:prstGeom>
          <a:noFill/>
          <a:ln/>
        </p:spPr>
        <p:txBody>
          <a:bodyPr wrap="square" lIns="0" tIns="0" rIns="0" bIns="0" rtlCol="0" anchor="t"/>
          <a:lstStyle/>
          <a:p>
            <a:pPr marL="0" indent="0">
              <a:buNone/>
            </a:pPr>
            <a:r>
              <a:rPr lang="en-US" sz="1400" b="1" u="sng" dirty="0">
                <a:solidFill>
                  <a:srgbClr val="1F6FB2"/>
                </a:solidFill>
                <a:hlinkClick r:id="rId4">
                  <a:extLst>
                    <a:ext uri="{A12FA001-AC4F-418D-AE19-62706E023703}">
                      <ahyp:hlinkClr xmlns:ahyp="http://schemas.microsoft.com/office/drawing/2018/hyperlinkcolor" val="tx"/>
                    </a:ext>
                  </a:extLst>
                </a:hlinkClick>
              </a:rPr>
              <a:t>rdproject-calculator-rd.streamlit.app</a:t>
            </a:r>
            <a:endParaRPr lang="en-US" sz="1400" dirty="0"/>
          </a:p>
        </p:txBody>
      </p:sp>
      <p:sp>
        <p:nvSpPr>
          <p:cNvPr id="16" name="Screenshot placeholder"/>
          <p:cNvSpPr/>
          <p:nvPr/>
        </p:nvSpPr>
        <p:spPr>
          <a:xfrm>
            <a:off x="8001000" y="3611880"/>
            <a:ext cx="3410712" cy="2331720"/>
          </a:xfrm>
          <a:prstGeom prst="rect">
            <a:avLst/>
          </a:prstGeom>
          <a:solidFill>
            <a:schemeClr val="bg1"/>
          </a:solidFill>
          <a:ln w="19050">
            <a:solidFill>
              <a:schemeClr val="accent5"/>
            </a:solidFill>
            <a:prstDash val="dash"/>
          </a:ln>
        </p:spPr>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21</a:t>
            </a:fld>
            <a:endParaRPr lang="en-US"/>
          </a:p>
        </p:txBody>
      </p:sp>
      <p:pic>
        <p:nvPicPr>
          <p:cNvPr id="20" name="Picture 19">
            <a:extLst>
              <a:ext uri="{FF2B5EF4-FFF2-40B4-BE49-F238E27FC236}">
                <a16:creationId xmlns:a16="http://schemas.microsoft.com/office/drawing/2014/main" id="{DEE99C43-74EF-9291-A613-35FE4E736DB7}"/>
              </a:ext>
            </a:extLst>
          </p:cNvPr>
          <p:cNvPicPr>
            <a:picLocks noChangeAspect="1"/>
          </p:cNvPicPr>
          <p:nvPr/>
        </p:nvPicPr>
        <p:blipFill>
          <a:blip r:embed="rId5"/>
          <a:stretch>
            <a:fillRect/>
          </a:stretch>
        </p:blipFill>
        <p:spPr>
          <a:xfrm>
            <a:off x="7827609" y="3520440"/>
            <a:ext cx="3757493" cy="2468880"/>
          </a:xfrm>
          <a:prstGeom prst="rect">
            <a:avLst/>
          </a:prstGeom>
        </p:spPr>
      </p:pic>
      <p:sp>
        <p:nvSpPr>
          <p:cNvPr id="5" name="TextBox 4">
            <a:extLst>
              <a:ext uri="{FF2B5EF4-FFF2-40B4-BE49-F238E27FC236}">
                <a16:creationId xmlns:a16="http://schemas.microsoft.com/office/drawing/2014/main" id="{D52F1878-F7C3-7201-615E-BCE86BC7B4BF}"/>
              </a:ext>
            </a:extLst>
          </p:cNvPr>
          <p:cNvSpPr txBox="1"/>
          <p:nvPr/>
        </p:nvSpPr>
        <p:spPr>
          <a:xfrm>
            <a:off x="548640" y="4222951"/>
            <a:ext cx="6836229" cy="261610"/>
          </a:xfrm>
          <a:prstGeom prst="rect">
            <a:avLst/>
          </a:prstGeom>
          <a:noFill/>
        </p:spPr>
        <p:txBody>
          <a:bodyPr wrap="square" rtlCol="0">
            <a:spAutoFit/>
          </a:bodyPr>
          <a:lstStyle/>
          <a:p>
            <a:r>
              <a:rPr lang="en-US" sz="1100" b="1" dirty="0"/>
              <a:t>represent different pricing calculations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Comprehensive Evaluation Metrics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How we measure, and how we know a difference is real.</a:t>
            </a:r>
            <a:endParaRPr lang="en-US" sz="1500" dirty="0"/>
          </a:p>
        </p:txBody>
      </p:sp>
      <p:sp>
        <p:nvSpPr>
          <p:cNvPr id="6" name="Metric card"/>
          <p:cNvSpPr/>
          <p:nvPr/>
        </p:nvSpPr>
        <p:spPr>
          <a:xfrm>
            <a:off x="548640" y="1920240"/>
            <a:ext cx="3520440" cy="1280160"/>
          </a:xfrm>
          <a:prstGeom prst="roundRect">
            <a:avLst>
              <a:gd name="adj" fmla="val 7143"/>
            </a:avLst>
          </a:prstGeom>
          <a:solidFill>
            <a:schemeClr val="bg2"/>
          </a:solidFill>
          <a:ln/>
        </p:spPr>
      </p:sp>
      <p:sp>
        <p:nvSpPr>
          <p:cNvPr id="7" name="Text 4"/>
          <p:cNvSpPr txBox="1"/>
          <p:nvPr/>
        </p:nvSpPr>
        <p:spPr>
          <a:xfrm>
            <a:off x="731520" y="192024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1"/>
                </a:solidFill>
              </a:rPr>
              <a:t>RMSE (primary)</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 mean (predicted − true p)²</a:t>
            </a:r>
            <a:endParaRPr lang="en-US" sz="1400" dirty="0"/>
          </a:p>
          <a:p>
            <a:pPr marL="0" indent="0">
              <a:buNone/>
            </a:pPr>
            <a:r>
              <a:rPr lang="en-US" sz="1200" dirty="0">
                <a:solidFill>
                  <a:schemeClr val="tx2"/>
                </a:solidFill>
              </a:rPr>
              <a:t>Average error vs true risk; lower is better</a:t>
            </a:r>
            <a:endParaRPr lang="en-US" sz="1400" dirty="0"/>
          </a:p>
        </p:txBody>
      </p:sp>
      <p:sp>
        <p:nvSpPr>
          <p:cNvPr id="8" name="Metric card"/>
          <p:cNvSpPr/>
          <p:nvPr/>
        </p:nvSpPr>
        <p:spPr>
          <a:xfrm>
            <a:off x="4334256" y="1920240"/>
            <a:ext cx="3520440" cy="1280160"/>
          </a:xfrm>
          <a:prstGeom prst="roundRect">
            <a:avLst>
              <a:gd name="adj" fmla="val 7143"/>
            </a:avLst>
          </a:prstGeom>
          <a:solidFill>
            <a:schemeClr val="bg2"/>
          </a:solidFill>
          <a:ln/>
        </p:spPr>
      </p:sp>
      <p:sp>
        <p:nvSpPr>
          <p:cNvPr id="9" name="Text 6"/>
          <p:cNvSpPr txBox="1"/>
          <p:nvPr/>
        </p:nvSpPr>
        <p:spPr>
          <a:xfrm>
            <a:off x="4517136" y="192024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4"/>
                </a:solidFill>
              </a:rPr>
              <a:t>Premium error</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mean | predicted − true premium |</a:t>
            </a:r>
            <a:endParaRPr lang="en-US" sz="1400" dirty="0"/>
          </a:p>
          <a:p>
            <a:pPr marL="0" indent="0">
              <a:buNone/>
            </a:pPr>
            <a:r>
              <a:rPr lang="en-US" sz="1200" dirty="0">
                <a:solidFill>
                  <a:schemeClr val="tx2"/>
                </a:solidFill>
              </a:rPr>
              <a:t>In ₹ per year</a:t>
            </a:r>
            <a:endParaRPr lang="en-US" sz="1400" dirty="0"/>
          </a:p>
        </p:txBody>
      </p:sp>
      <p:sp>
        <p:nvSpPr>
          <p:cNvPr id="10" name="Metric card"/>
          <p:cNvSpPr/>
          <p:nvPr/>
        </p:nvSpPr>
        <p:spPr>
          <a:xfrm>
            <a:off x="8119872" y="1920240"/>
            <a:ext cx="3520440" cy="1280160"/>
          </a:xfrm>
          <a:prstGeom prst="roundRect">
            <a:avLst>
              <a:gd name="adj" fmla="val 7143"/>
            </a:avLst>
          </a:prstGeom>
          <a:solidFill>
            <a:schemeClr val="bg2"/>
          </a:solidFill>
          <a:ln/>
        </p:spPr>
      </p:sp>
      <p:sp>
        <p:nvSpPr>
          <p:cNvPr id="11" name="Text 8"/>
          <p:cNvSpPr txBox="1"/>
          <p:nvPr/>
        </p:nvSpPr>
        <p:spPr>
          <a:xfrm>
            <a:off x="8302752" y="192024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3"/>
                </a:solidFill>
              </a:rPr>
              <a:t>Underpricing %</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mean 100 × (p − predicted) ÷ p</a:t>
            </a:r>
            <a:endParaRPr lang="en-US" sz="1400" dirty="0"/>
          </a:p>
          <a:p>
            <a:pPr marL="0" indent="0">
              <a:buNone/>
            </a:pPr>
            <a:r>
              <a:rPr lang="en-US" sz="1200" dirty="0">
                <a:solidFill>
                  <a:schemeClr val="tx2"/>
                </a:solidFill>
              </a:rPr>
              <a:t>Positive = liar charged too little</a:t>
            </a:r>
            <a:endParaRPr lang="en-US" sz="1400" dirty="0"/>
          </a:p>
        </p:txBody>
      </p:sp>
      <p:sp>
        <p:nvSpPr>
          <p:cNvPr id="12" name="Metric card"/>
          <p:cNvSpPr/>
          <p:nvPr/>
        </p:nvSpPr>
        <p:spPr>
          <a:xfrm>
            <a:off x="548640" y="3337560"/>
            <a:ext cx="3520440" cy="1280160"/>
          </a:xfrm>
          <a:prstGeom prst="roundRect">
            <a:avLst>
              <a:gd name="adj" fmla="val 7143"/>
            </a:avLst>
          </a:prstGeom>
          <a:solidFill>
            <a:schemeClr val="bg2"/>
          </a:solidFill>
          <a:ln/>
        </p:spPr>
      </p:sp>
      <p:sp>
        <p:nvSpPr>
          <p:cNvPr id="13" name="Text 10"/>
          <p:cNvSpPr txBox="1"/>
          <p:nvPr/>
        </p:nvSpPr>
        <p:spPr>
          <a:xfrm>
            <a:off x="731520" y="333756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6"/>
                </a:solidFill>
              </a:rPr>
              <a:t>Loss ratio</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Σ p · SA/10 ÷ Σ premium</a:t>
            </a:r>
            <a:endParaRPr lang="en-US" sz="1400" dirty="0"/>
          </a:p>
          <a:p>
            <a:pPr marL="0" indent="0">
              <a:buNone/>
            </a:pPr>
            <a:r>
              <a:rPr lang="en-US" sz="1200" dirty="0">
                <a:solidFill>
                  <a:schemeClr val="tx2"/>
                </a:solidFill>
              </a:rPr>
              <a:t>Correct book = 0.80</a:t>
            </a:r>
            <a:endParaRPr lang="en-US" sz="1400" dirty="0"/>
          </a:p>
        </p:txBody>
      </p:sp>
      <p:sp>
        <p:nvSpPr>
          <p:cNvPr id="14" name="Metric card"/>
          <p:cNvSpPr/>
          <p:nvPr/>
        </p:nvSpPr>
        <p:spPr>
          <a:xfrm>
            <a:off x="4334256" y="3337560"/>
            <a:ext cx="3520440" cy="1280160"/>
          </a:xfrm>
          <a:prstGeom prst="roundRect">
            <a:avLst>
              <a:gd name="adj" fmla="val 7143"/>
            </a:avLst>
          </a:prstGeom>
          <a:solidFill>
            <a:schemeClr val="bg2"/>
          </a:solidFill>
          <a:ln/>
        </p:spPr>
      </p:sp>
      <p:sp>
        <p:nvSpPr>
          <p:cNvPr id="15" name="Text 12"/>
          <p:cNvSpPr txBox="1"/>
          <p:nvPr/>
        </p:nvSpPr>
        <p:spPr>
          <a:xfrm>
            <a:off x="4517136" y="333756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1"/>
                </a:solidFill>
              </a:rPr>
              <a:t>AUC</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Pr(claimant ranked above non-claimant)</a:t>
            </a:r>
            <a:endParaRPr lang="en-US" sz="1400" dirty="0"/>
          </a:p>
          <a:p>
            <a:pPr marL="0" indent="0">
              <a:buNone/>
            </a:pPr>
            <a:r>
              <a:rPr lang="en-US" sz="1200" dirty="0">
                <a:solidFill>
                  <a:schemeClr val="tx2"/>
                </a:solidFill>
              </a:rPr>
              <a:t>Ranking power; ceiling ≈ 0.71–0.73</a:t>
            </a:r>
            <a:endParaRPr lang="en-US" sz="1400" dirty="0"/>
          </a:p>
        </p:txBody>
      </p:sp>
      <p:sp>
        <p:nvSpPr>
          <p:cNvPr id="16" name="Metric card"/>
          <p:cNvSpPr/>
          <p:nvPr/>
        </p:nvSpPr>
        <p:spPr>
          <a:xfrm>
            <a:off x="8119872" y="3337560"/>
            <a:ext cx="3520440" cy="1280160"/>
          </a:xfrm>
          <a:prstGeom prst="roundRect">
            <a:avLst>
              <a:gd name="adj" fmla="val 7143"/>
            </a:avLst>
          </a:prstGeom>
          <a:solidFill>
            <a:schemeClr val="bg2"/>
          </a:solidFill>
          <a:ln/>
        </p:spPr>
      </p:sp>
      <p:sp>
        <p:nvSpPr>
          <p:cNvPr id="17" name="Text 14"/>
          <p:cNvSpPr txBox="1"/>
          <p:nvPr/>
        </p:nvSpPr>
        <p:spPr>
          <a:xfrm>
            <a:off x="8302752" y="333756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4"/>
                </a:solidFill>
              </a:rPr>
              <a:t>Difference-in-differences</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gap on declared − gap on true</a:t>
            </a:r>
            <a:endParaRPr lang="en-US" sz="1400" dirty="0"/>
          </a:p>
          <a:p>
            <a:pPr marL="0" indent="0">
              <a:buNone/>
            </a:pPr>
            <a:r>
              <a:rPr lang="en-US" sz="1200" dirty="0">
                <a:solidFill>
                  <a:schemeClr val="tx2"/>
                </a:solidFill>
              </a:rPr>
              <a:t>Positive = ML edge grows when applicants lie</a:t>
            </a:r>
            <a:endParaRPr lang="en-US" sz="1400" dirty="0"/>
          </a:p>
        </p:txBody>
      </p:sp>
      <p:sp>
        <p:nvSpPr>
          <p:cNvPr id="18" name="Metric card"/>
          <p:cNvSpPr/>
          <p:nvPr/>
        </p:nvSpPr>
        <p:spPr>
          <a:xfrm>
            <a:off x="548640" y="4754880"/>
            <a:ext cx="3520440" cy="1280160"/>
          </a:xfrm>
          <a:prstGeom prst="roundRect">
            <a:avLst>
              <a:gd name="adj" fmla="val 7143"/>
            </a:avLst>
          </a:prstGeom>
          <a:solidFill>
            <a:schemeClr val="bg2"/>
          </a:solidFill>
          <a:ln/>
        </p:spPr>
      </p:sp>
      <p:sp>
        <p:nvSpPr>
          <p:cNvPr id="19" name="Text 16"/>
          <p:cNvSpPr txBox="1"/>
          <p:nvPr/>
        </p:nvSpPr>
        <p:spPr>
          <a:xfrm>
            <a:off x="731520" y="475488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3"/>
                </a:solidFill>
              </a:rPr>
              <a:t>Bootstrap interval</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1,000 resamples by applicant</a:t>
            </a:r>
            <a:endParaRPr lang="en-US" sz="1400" dirty="0"/>
          </a:p>
          <a:p>
            <a:pPr marL="0" indent="0">
              <a:buNone/>
            </a:pPr>
            <a:r>
              <a:rPr lang="en-US" sz="1200" dirty="0">
                <a:solidFill>
                  <a:schemeClr val="tx2"/>
                </a:solidFill>
              </a:rPr>
              <a:t>95% interval = middle 95%; paired design</a:t>
            </a:r>
            <a:endParaRPr lang="en-US" sz="1400" dirty="0"/>
          </a:p>
        </p:txBody>
      </p:sp>
      <p:sp>
        <p:nvSpPr>
          <p:cNvPr id="20" name="Metric card"/>
          <p:cNvSpPr/>
          <p:nvPr/>
        </p:nvSpPr>
        <p:spPr>
          <a:xfrm>
            <a:off x="4334256" y="4754880"/>
            <a:ext cx="3520440" cy="1280160"/>
          </a:xfrm>
          <a:prstGeom prst="roundRect">
            <a:avLst>
              <a:gd name="adj" fmla="val 7143"/>
            </a:avLst>
          </a:prstGeom>
          <a:solidFill>
            <a:schemeClr val="bg2"/>
          </a:solidFill>
          <a:ln/>
        </p:spPr>
      </p:sp>
      <p:sp>
        <p:nvSpPr>
          <p:cNvPr id="21" name="Text 18"/>
          <p:cNvSpPr txBox="1"/>
          <p:nvPr/>
        </p:nvSpPr>
        <p:spPr>
          <a:xfrm>
            <a:off x="4517136" y="475488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6"/>
                </a:solidFill>
              </a:rPr>
              <a:t>Holm correction</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adjusts p across many tests</a:t>
            </a:r>
            <a:endParaRPr lang="en-US" sz="1400" dirty="0"/>
          </a:p>
          <a:p>
            <a:pPr marL="0" indent="0">
              <a:buNone/>
            </a:pPr>
            <a:r>
              <a:rPr lang="en-US" sz="1200" dirty="0">
                <a:solidFill>
                  <a:schemeClr val="tx2"/>
                </a:solidFill>
              </a:rPr>
              <a:t>Prevents false discoveries</a:t>
            </a:r>
            <a:endParaRPr lang="en-US" sz="1400" dirty="0"/>
          </a:p>
        </p:txBody>
      </p:sp>
      <p:sp>
        <p:nvSpPr>
          <p:cNvPr id="22" name="Metric card"/>
          <p:cNvSpPr/>
          <p:nvPr/>
        </p:nvSpPr>
        <p:spPr>
          <a:xfrm>
            <a:off x="8119872" y="4754880"/>
            <a:ext cx="3520440" cy="1280160"/>
          </a:xfrm>
          <a:prstGeom prst="roundRect">
            <a:avLst>
              <a:gd name="adj" fmla="val 7143"/>
            </a:avLst>
          </a:prstGeom>
          <a:solidFill>
            <a:schemeClr val="bg2"/>
          </a:solidFill>
          <a:ln/>
        </p:spPr>
      </p:sp>
      <p:sp>
        <p:nvSpPr>
          <p:cNvPr id="23" name="Text 20"/>
          <p:cNvSpPr txBox="1"/>
          <p:nvPr/>
        </p:nvSpPr>
        <p:spPr>
          <a:xfrm>
            <a:off x="8302752" y="4754880"/>
            <a:ext cx="3200400" cy="1280160"/>
          </a:xfrm>
          <a:prstGeom prst="rect">
            <a:avLst/>
          </a:prstGeom>
          <a:noFill/>
          <a:ln/>
        </p:spPr>
        <p:txBody>
          <a:bodyPr wrap="square" lIns="0" tIns="0" rIns="0" bIns="0" rtlCol="0" anchor="ctr"/>
          <a:lstStyle/>
          <a:p>
            <a:pPr marL="0" indent="0">
              <a:spcAft>
                <a:spcPts val="200"/>
              </a:spcAft>
              <a:buNone/>
            </a:pPr>
            <a:r>
              <a:rPr lang="en-US" sz="1500" b="1" dirty="0">
                <a:solidFill>
                  <a:schemeClr val="accent1"/>
                </a:solidFill>
              </a:rPr>
              <a:t>DeLong test</a:t>
            </a:r>
            <a:endParaRPr lang="en-US" sz="1400" dirty="0"/>
          </a:p>
          <a:p>
            <a:pPr marL="0" indent="0">
              <a:spcAft>
                <a:spcPts val="200"/>
              </a:spcAft>
              <a:buNone/>
            </a:pPr>
            <a:r>
              <a:rPr lang="en-US" sz="1300" dirty="0">
                <a:solidFill>
                  <a:schemeClr val="tx1"/>
                </a:solidFill>
                <a:latin typeface="+mj-lt" pitchFamily="34" charset="0"/>
                <a:ea typeface="+mj-lt" pitchFamily="34" charset="-122"/>
                <a:cs typeface="+mj-lt" pitchFamily="34" charset="-120"/>
              </a:rPr>
              <a:t>z = ΔAUC ÷ SE</a:t>
            </a:r>
            <a:endParaRPr lang="en-US" sz="1400" dirty="0"/>
          </a:p>
          <a:p>
            <a:pPr marL="0" indent="0">
              <a:buNone/>
            </a:pPr>
            <a:r>
              <a:rPr lang="en-US" sz="1200" dirty="0">
                <a:solidFill>
                  <a:schemeClr val="tx2"/>
                </a:solidFill>
              </a:rPr>
              <a:t>Compares two AUCs on the same applicants</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Deep Dive into Metric Discrepancies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Why the numbers seem to disagree, and what Meridian should read into them.</a:t>
            </a:r>
            <a:endParaRPr lang="en-US" sz="1500" dirty="0"/>
          </a:p>
        </p:txBody>
      </p:sp>
      <p:sp>
        <p:nvSpPr>
          <p:cNvPr id="6" name="Discrepancy card"/>
          <p:cNvSpPr/>
          <p:nvPr/>
        </p:nvSpPr>
        <p:spPr>
          <a:xfrm>
            <a:off x="548640" y="1920240"/>
            <a:ext cx="5440680" cy="2011680"/>
          </a:xfrm>
          <a:prstGeom prst="roundRect">
            <a:avLst>
              <a:gd name="adj" fmla="val 4545"/>
            </a:avLst>
          </a:prstGeom>
          <a:solidFill>
            <a:schemeClr val="bg2"/>
          </a:solidFill>
          <a:ln/>
        </p:spPr>
      </p:sp>
      <p:sp>
        <p:nvSpPr>
          <p:cNvPr id="7" name="Text 4"/>
          <p:cNvSpPr txBox="1"/>
          <p:nvPr/>
        </p:nvSpPr>
        <p:spPr>
          <a:xfrm>
            <a:off x="777240" y="2148840"/>
            <a:ext cx="2194560" cy="640080"/>
          </a:xfrm>
          <a:prstGeom prst="rect">
            <a:avLst/>
          </a:prstGeom>
          <a:noFill/>
          <a:ln/>
        </p:spPr>
        <p:txBody>
          <a:bodyPr wrap="square" lIns="0" tIns="0" rIns="0" bIns="0" rtlCol="0" anchor="ctr"/>
          <a:lstStyle/>
          <a:p>
            <a:pPr marL="0" indent="0">
              <a:buNone/>
            </a:pPr>
            <a:r>
              <a:rPr lang="en-US" sz="2600" b="1" dirty="0">
                <a:solidFill>
                  <a:schemeClr val="accent4"/>
                </a:solidFill>
                <a:latin typeface="+mj-lt" pitchFamily="34" charset="0"/>
                <a:ea typeface="+mj-lt" pitchFamily="34" charset="-122"/>
                <a:cs typeface="+mj-lt" pitchFamily="34" charset="-120"/>
              </a:rPr>
              <a:t>0.71–0.73</a:t>
            </a:r>
            <a:endParaRPr lang="en-US" sz="2600" dirty="0"/>
          </a:p>
        </p:txBody>
      </p:sp>
      <p:sp>
        <p:nvSpPr>
          <p:cNvPr id="8" name="Text 5"/>
          <p:cNvSpPr txBox="1"/>
          <p:nvPr/>
        </p:nvSpPr>
        <p:spPr>
          <a:xfrm>
            <a:off x="777240" y="2788920"/>
            <a:ext cx="2194560" cy="365760"/>
          </a:xfrm>
          <a:prstGeom prst="rect">
            <a:avLst/>
          </a:prstGeom>
          <a:noFill/>
          <a:ln/>
        </p:spPr>
        <p:txBody>
          <a:bodyPr wrap="square" lIns="0" tIns="0" rIns="0" bIns="0" rtlCol="0" anchor="t"/>
          <a:lstStyle/>
          <a:p>
            <a:pPr marL="0" indent="0">
              <a:buNone/>
            </a:pPr>
            <a:r>
              <a:rPr lang="en-US" sz="1400" b="1" dirty="0">
                <a:solidFill>
                  <a:schemeClr val="tx2"/>
                </a:solidFill>
              </a:rPr>
              <a:t>AUC ceiling</a:t>
            </a:r>
            <a:endParaRPr lang="en-US" sz="1400" dirty="0"/>
          </a:p>
        </p:txBody>
      </p:sp>
      <p:sp>
        <p:nvSpPr>
          <p:cNvPr id="9" name="Text 6"/>
          <p:cNvSpPr txBox="1"/>
          <p:nvPr/>
        </p:nvSpPr>
        <p:spPr>
          <a:xfrm>
            <a:off x="3063240" y="2103120"/>
            <a:ext cx="2743200" cy="1645920"/>
          </a:xfrm>
          <a:prstGeom prst="rect">
            <a:avLst/>
          </a:prstGeom>
          <a:noFill/>
          <a:ln/>
        </p:spPr>
        <p:txBody>
          <a:bodyPr wrap="square" lIns="0" tIns="0" rIns="0" bIns="0" rtlCol="0" anchor="ctr"/>
          <a:lstStyle/>
          <a:p>
            <a:pPr marL="0" indent="0">
              <a:buNone/>
            </a:pPr>
            <a:r>
              <a:rPr lang="en-US" sz="1400" dirty="0">
                <a:solidFill>
                  <a:schemeClr val="tx1"/>
                </a:solidFill>
              </a:rPr>
              <a:t>AUC cannot separate methods: only ~5.5% claim in 10 years, so outcomes are mostly luck. RMSE vs true risk is primary.</a:t>
            </a:r>
            <a:endParaRPr lang="en-US" sz="1400" dirty="0"/>
          </a:p>
        </p:txBody>
      </p:sp>
      <p:sp>
        <p:nvSpPr>
          <p:cNvPr id="10" name="Discrepancy card"/>
          <p:cNvSpPr/>
          <p:nvPr/>
        </p:nvSpPr>
        <p:spPr>
          <a:xfrm>
            <a:off x="6199632" y="1920240"/>
            <a:ext cx="5440680" cy="2011680"/>
          </a:xfrm>
          <a:prstGeom prst="roundRect">
            <a:avLst>
              <a:gd name="adj" fmla="val 4545"/>
            </a:avLst>
          </a:prstGeom>
          <a:solidFill>
            <a:schemeClr val="bg2"/>
          </a:solidFill>
          <a:ln/>
        </p:spPr>
      </p:sp>
      <p:sp>
        <p:nvSpPr>
          <p:cNvPr id="11" name="Text 8"/>
          <p:cNvSpPr txBox="1"/>
          <p:nvPr/>
        </p:nvSpPr>
        <p:spPr>
          <a:xfrm>
            <a:off x="6428232" y="2148840"/>
            <a:ext cx="2194560" cy="640080"/>
          </a:xfrm>
          <a:prstGeom prst="rect">
            <a:avLst/>
          </a:prstGeom>
          <a:noFill/>
          <a:ln/>
        </p:spPr>
        <p:txBody>
          <a:bodyPr wrap="square" lIns="0" tIns="0" rIns="0" bIns="0" rtlCol="0" anchor="ctr"/>
          <a:lstStyle/>
          <a:p>
            <a:pPr marL="0" indent="0">
              <a:buNone/>
            </a:pPr>
            <a:r>
              <a:rPr lang="en-US" sz="2600" b="1" dirty="0">
                <a:solidFill>
                  <a:schemeClr val="accent1"/>
                </a:solidFill>
                <a:latin typeface="+mj-lt" pitchFamily="34" charset="0"/>
                <a:ea typeface="+mj-lt" pitchFamily="34" charset="-122"/>
                <a:cs typeface="+mj-lt" pitchFamily="34" charset="-120"/>
              </a:rPr>
              <a:t>35% vs 10%</a:t>
            </a:r>
            <a:endParaRPr lang="en-US" sz="2600" dirty="0"/>
          </a:p>
        </p:txBody>
      </p:sp>
      <p:sp>
        <p:nvSpPr>
          <p:cNvPr id="12" name="Text 9"/>
          <p:cNvSpPr txBox="1"/>
          <p:nvPr/>
        </p:nvSpPr>
        <p:spPr>
          <a:xfrm>
            <a:off x="6428232" y="2788920"/>
            <a:ext cx="2194560" cy="365760"/>
          </a:xfrm>
          <a:prstGeom prst="rect">
            <a:avLst/>
          </a:prstGeom>
          <a:noFill/>
          <a:ln/>
        </p:spPr>
        <p:txBody>
          <a:bodyPr wrap="square" lIns="0" tIns="0" rIns="0" bIns="0" rtlCol="0" anchor="t"/>
          <a:lstStyle/>
          <a:p>
            <a:pPr marL="0" indent="0">
              <a:buNone/>
            </a:pPr>
            <a:r>
              <a:rPr lang="en-US" sz="1400" b="1" dirty="0">
                <a:solidFill>
                  <a:schemeClr val="tx2"/>
                </a:solidFill>
              </a:rPr>
              <a:t>Liar share</a:t>
            </a:r>
            <a:endParaRPr lang="en-US" sz="1400" dirty="0"/>
          </a:p>
        </p:txBody>
      </p:sp>
      <p:sp>
        <p:nvSpPr>
          <p:cNvPr id="13" name="Text 10"/>
          <p:cNvSpPr txBox="1"/>
          <p:nvPr/>
        </p:nvSpPr>
        <p:spPr>
          <a:xfrm>
            <a:off x="8714232" y="2103120"/>
            <a:ext cx="2743200" cy="1645920"/>
          </a:xfrm>
          <a:prstGeom prst="rect">
            <a:avLst/>
          </a:prstGeom>
          <a:noFill/>
          <a:ln/>
        </p:spPr>
        <p:txBody>
          <a:bodyPr wrap="square" lIns="0" tIns="0" rIns="0" bIns="0" rtlCol="0" anchor="ctr"/>
          <a:lstStyle/>
          <a:p>
            <a:pPr marL="0" indent="0">
              <a:buNone/>
            </a:pPr>
            <a:r>
              <a:rPr lang="en-US" sz="1400" dirty="0">
                <a:solidFill>
                  <a:schemeClr val="tx1"/>
                </a:solidFill>
              </a:rPr>
              <a:t>44–57% overcharge in our cohort; at a realistic 10% liars the loss ratio is 0.62–0.65 vs a correct 0.80.</a:t>
            </a:r>
            <a:endParaRPr lang="en-US" sz="1400" dirty="0"/>
          </a:p>
        </p:txBody>
      </p:sp>
      <p:sp>
        <p:nvSpPr>
          <p:cNvPr id="14" name="Discrepancy card"/>
          <p:cNvSpPr/>
          <p:nvPr/>
        </p:nvSpPr>
        <p:spPr>
          <a:xfrm>
            <a:off x="548640" y="4114800"/>
            <a:ext cx="5440680" cy="2011680"/>
          </a:xfrm>
          <a:prstGeom prst="roundRect">
            <a:avLst>
              <a:gd name="adj" fmla="val 4545"/>
            </a:avLst>
          </a:prstGeom>
          <a:solidFill>
            <a:schemeClr val="bg2"/>
          </a:solidFill>
          <a:ln/>
        </p:spPr>
      </p:sp>
      <p:sp>
        <p:nvSpPr>
          <p:cNvPr id="15" name="Text 12"/>
          <p:cNvSpPr txBox="1"/>
          <p:nvPr/>
        </p:nvSpPr>
        <p:spPr>
          <a:xfrm>
            <a:off x="777240" y="4343400"/>
            <a:ext cx="2194560" cy="640080"/>
          </a:xfrm>
          <a:prstGeom prst="rect">
            <a:avLst/>
          </a:prstGeom>
          <a:noFill/>
          <a:ln/>
        </p:spPr>
        <p:txBody>
          <a:bodyPr wrap="square" lIns="0" tIns="0" rIns="0" bIns="0" rtlCol="0" anchor="ctr"/>
          <a:lstStyle/>
          <a:p>
            <a:pPr marL="0" indent="0">
              <a:buNone/>
            </a:pPr>
            <a:r>
              <a:rPr lang="en-US" sz="2600" b="1" dirty="0">
                <a:solidFill>
                  <a:schemeClr val="accent3"/>
                </a:solidFill>
                <a:latin typeface="+mj-lt" pitchFamily="34" charset="0"/>
                <a:ea typeface="+mj-lt" pitchFamily="34" charset="-122"/>
                <a:cs typeface="+mj-lt" pitchFamily="34" charset="-120"/>
              </a:rPr>
              <a:t>1 → 3 of 3</a:t>
            </a:r>
            <a:endParaRPr lang="en-US" sz="2600" dirty="0"/>
          </a:p>
        </p:txBody>
      </p:sp>
      <p:sp>
        <p:nvSpPr>
          <p:cNvPr id="16" name="Text 13"/>
          <p:cNvSpPr txBox="1"/>
          <p:nvPr/>
        </p:nvSpPr>
        <p:spPr>
          <a:xfrm>
            <a:off x="777240" y="4983480"/>
            <a:ext cx="2194560" cy="365760"/>
          </a:xfrm>
          <a:prstGeom prst="rect">
            <a:avLst/>
          </a:prstGeom>
          <a:noFill/>
          <a:ln/>
        </p:spPr>
        <p:txBody>
          <a:bodyPr wrap="square" lIns="0" tIns="0" rIns="0" bIns="0" rtlCol="0" anchor="t"/>
          <a:lstStyle/>
          <a:p>
            <a:pPr marL="0" indent="0">
              <a:buNone/>
            </a:pPr>
            <a:r>
              <a:rPr lang="en-US" sz="1400" b="1" dirty="0">
                <a:solidFill>
                  <a:schemeClr val="tx2"/>
                </a:solidFill>
              </a:rPr>
              <a:t>Seeds agreeing</a:t>
            </a:r>
            <a:endParaRPr lang="en-US" sz="1400" dirty="0"/>
          </a:p>
        </p:txBody>
      </p:sp>
      <p:sp>
        <p:nvSpPr>
          <p:cNvPr id="17" name="Text 14"/>
          <p:cNvSpPr txBox="1"/>
          <p:nvPr/>
        </p:nvSpPr>
        <p:spPr>
          <a:xfrm>
            <a:off x="3063240" y="4297680"/>
            <a:ext cx="2743200" cy="1645920"/>
          </a:xfrm>
          <a:prstGeom prst="rect">
            <a:avLst/>
          </a:prstGeom>
          <a:noFill/>
          <a:ln/>
        </p:spPr>
        <p:txBody>
          <a:bodyPr wrap="square" lIns="0" tIns="0" rIns="0" bIns="0" rtlCol="0" anchor="ctr"/>
          <a:lstStyle/>
          <a:p>
            <a:pPr marL="0" indent="0">
              <a:buNone/>
            </a:pPr>
            <a:r>
              <a:rPr lang="en-US" sz="1400" dirty="0">
                <a:solidFill>
                  <a:schemeClr val="tx1"/>
                </a:solidFill>
              </a:rPr>
              <a:t>GLM beats Arm A in 1, 2 and 3 of 3 seeds at γ = 0, 0.5, 1. Where seeds disagree we say unclear.</a:t>
            </a:r>
            <a:endParaRPr lang="en-US" sz="1400" dirty="0"/>
          </a:p>
        </p:txBody>
      </p:sp>
      <p:sp>
        <p:nvSpPr>
          <p:cNvPr id="18" name="Discrepancy card"/>
          <p:cNvSpPr/>
          <p:nvPr/>
        </p:nvSpPr>
        <p:spPr>
          <a:xfrm>
            <a:off x="6199632" y="4114800"/>
            <a:ext cx="5440680" cy="2011680"/>
          </a:xfrm>
          <a:prstGeom prst="roundRect">
            <a:avLst>
              <a:gd name="adj" fmla="val 4545"/>
            </a:avLst>
          </a:prstGeom>
          <a:solidFill>
            <a:schemeClr val="bg2"/>
          </a:solidFill>
          <a:ln/>
        </p:spPr>
      </p:sp>
      <p:sp>
        <p:nvSpPr>
          <p:cNvPr id="19" name="Text 16"/>
          <p:cNvSpPr txBox="1"/>
          <p:nvPr/>
        </p:nvSpPr>
        <p:spPr>
          <a:xfrm>
            <a:off x="6428232" y="4343400"/>
            <a:ext cx="2194560" cy="640080"/>
          </a:xfrm>
          <a:prstGeom prst="rect">
            <a:avLst/>
          </a:prstGeom>
          <a:noFill/>
          <a:ln/>
        </p:spPr>
        <p:txBody>
          <a:bodyPr wrap="square" lIns="0" tIns="0" rIns="0" bIns="0" rtlCol="0" anchor="ctr"/>
          <a:lstStyle/>
          <a:p>
            <a:pPr marL="0" indent="0">
              <a:buNone/>
            </a:pPr>
            <a:r>
              <a:rPr lang="en-US" sz="2600" b="1" dirty="0">
                <a:solidFill>
                  <a:schemeClr val="accent6"/>
                </a:solidFill>
                <a:latin typeface="+mj-lt" pitchFamily="34" charset="0"/>
                <a:ea typeface="+mj-lt" pitchFamily="34" charset="-122"/>
                <a:cs typeface="+mj-lt" pitchFamily="34" charset="-120"/>
              </a:rPr>
              <a:t>3 seeds</a:t>
            </a:r>
            <a:endParaRPr lang="en-US" sz="2600" dirty="0"/>
          </a:p>
        </p:txBody>
      </p:sp>
      <p:sp>
        <p:nvSpPr>
          <p:cNvPr id="20" name="Text 17"/>
          <p:cNvSpPr txBox="1"/>
          <p:nvPr/>
        </p:nvSpPr>
        <p:spPr>
          <a:xfrm>
            <a:off x="6428232" y="4983480"/>
            <a:ext cx="2194560" cy="365760"/>
          </a:xfrm>
          <a:prstGeom prst="rect">
            <a:avLst/>
          </a:prstGeom>
          <a:noFill/>
          <a:ln/>
        </p:spPr>
        <p:txBody>
          <a:bodyPr wrap="square" lIns="0" tIns="0" rIns="0" bIns="0" rtlCol="0" anchor="t"/>
          <a:lstStyle/>
          <a:p>
            <a:pPr marL="0" indent="0">
              <a:buNone/>
            </a:pPr>
            <a:r>
              <a:rPr lang="en-US" sz="1400" b="1" dirty="0">
                <a:solidFill>
                  <a:schemeClr val="tx2"/>
                </a:solidFill>
              </a:rPr>
              <a:t>Narrow intervals</a:t>
            </a:r>
            <a:endParaRPr lang="en-US" sz="1400" dirty="0"/>
          </a:p>
        </p:txBody>
      </p:sp>
      <p:sp>
        <p:nvSpPr>
          <p:cNvPr id="21" name="Text 18"/>
          <p:cNvSpPr txBox="1"/>
          <p:nvPr/>
        </p:nvSpPr>
        <p:spPr>
          <a:xfrm>
            <a:off x="8714232" y="4297680"/>
            <a:ext cx="2743200" cy="1645920"/>
          </a:xfrm>
          <a:prstGeom prst="rect">
            <a:avLst/>
          </a:prstGeom>
          <a:noFill/>
          <a:ln/>
        </p:spPr>
        <p:txBody>
          <a:bodyPr wrap="square" lIns="0" tIns="0" rIns="0" bIns="0" rtlCol="0" anchor="ctr"/>
          <a:lstStyle/>
          <a:p>
            <a:pPr marL="0" indent="0">
              <a:buNone/>
            </a:pPr>
            <a:r>
              <a:rPr lang="en-US" sz="1400" dirty="0">
                <a:solidFill>
                  <a:schemeClr val="tx1"/>
                </a:solidFill>
              </a:rPr>
              <a:t>Intervals treat trained models as fixed, so true uncertainty is larger than shown.</a:t>
            </a:r>
            <a:endParaRPr lang="en-US" sz="14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Research Limitations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Every honest study states what it cannot claim.</a:t>
            </a:r>
            <a:endParaRPr lang="en-US" sz="1500" dirty="0"/>
          </a:p>
        </p:txBody>
      </p:sp>
      <p:sp>
        <p:nvSpPr>
          <p:cNvPr id="6" name="Limit card"/>
          <p:cNvSpPr/>
          <p:nvPr/>
        </p:nvSpPr>
        <p:spPr>
          <a:xfrm>
            <a:off x="548640" y="1920240"/>
            <a:ext cx="3520440" cy="2057400"/>
          </a:xfrm>
          <a:prstGeom prst="roundRect">
            <a:avLst>
              <a:gd name="adj" fmla="val 4444"/>
            </a:avLst>
          </a:prstGeom>
          <a:solidFill>
            <a:schemeClr val="bg2"/>
          </a:solidFill>
          <a:ln/>
        </p:spPr>
      </p:sp>
      <p:sp>
        <p:nvSpPr>
          <p:cNvPr id="7" name="Icon circle Globe"/>
          <p:cNvSpPr/>
          <p:nvPr/>
        </p:nvSpPr>
        <p:spPr>
          <a:xfrm>
            <a:off x="777240" y="2148840"/>
            <a:ext cx="594360" cy="594360"/>
          </a:xfrm>
          <a:prstGeom prst="ellipse">
            <a:avLst/>
          </a:prstGeom>
          <a:solidFill>
            <a:schemeClr val="accent1"/>
          </a:solidFill>
          <a:ln/>
        </p:spPr>
      </p:sp>
      <p:pic>
        <p:nvPicPr>
          <p:cNvPr id="8" name="Image 0" descr="Globe icon"/>
          <p:cNvPicPr>
            <a:picLocks noChangeAspect="1"/>
          </p:cNvPicPr>
          <p:nvPr/>
        </p:nvPicPr>
        <p:blipFill>
          <a:blip r:embed="rId3"/>
          <a:stretch>
            <a:fillRect/>
          </a:stretch>
        </p:blipFill>
        <p:spPr>
          <a:xfrm>
            <a:off x="925830" y="2297430"/>
            <a:ext cx="297180" cy="297180"/>
          </a:xfrm>
          <a:prstGeom prst="rect">
            <a:avLst/>
          </a:prstGeom>
        </p:spPr>
      </p:pic>
      <p:sp>
        <p:nvSpPr>
          <p:cNvPr id="9" name="Text 5"/>
          <p:cNvSpPr txBox="1"/>
          <p:nvPr/>
        </p:nvSpPr>
        <p:spPr>
          <a:xfrm>
            <a:off x="1554480" y="2148840"/>
            <a:ext cx="2377440" cy="5943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Simulated world</a:t>
            </a:r>
            <a:endParaRPr lang="en-US" sz="1600" dirty="0"/>
          </a:p>
        </p:txBody>
      </p:sp>
      <p:sp>
        <p:nvSpPr>
          <p:cNvPr id="10" name="Text 6"/>
          <p:cNvSpPr txBox="1"/>
          <p:nvPr/>
        </p:nvSpPr>
        <p:spPr>
          <a:xfrm>
            <a:off x="777240" y="2880360"/>
            <a:ext cx="3108960" cy="1005840"/>
          </a:xfrm>
          <a:prstGeom prst="rect">
            <a:avLst/>
          </a:prstGeom>
          <a:noFill/>
          <a:ln/>
        </p:spPr>
        <p:txBody>
          <a:bodyPr wrap="square" lIns="0" tIns="0" rIns="0" bIns="0" rtlCol="0" anchor="t"/>
          <a:lstStyle/>
          <a:p>
            <a:pPr marL="0" indent="0">
              <a:buNone/>
            </a:pPr>
            <a:r>
              <a:rPr lang="en-US" sz="1400" dirty="0">
                <a:solidFill>
                  <a:schemeClr val="tx1"/>
                </a:solidFill>
              </a:rPr>
              <a:t>Not real insurers. Interaction sizes and liar shares are assumptions.</a:t>
            </a:r>
            <a:endParaRPr lang="en-US" sz="1400" dirty="0"/>
          </a:p>
        </p:txBody>
      </p:sp>
      <p:sp>
        <p:nvSpPr>
          <p:cNvPr id="11" name="Limit card"/>
          <p:cNvSpPr/>
          <p:nvPr/>
        </p:nvSpPr>
        <p:spPr>
          <a:xfrm>
            <a:off x="4334256" y="1920240"/>
            <a:ext cx="3520440" cy="2057400"/>
          </a:xfrm>
          <a:prstGeom prst="roundRect">
            <a:avLst>
              <a:gd name="adj" fmla="val 4444"/>
            </a:avLst>
          </a:prstGeom>
          <a:solidFill>
            <a:schemeClr val="bg2"/>
          </a:solidFill>
          <a:ln/>
        </p:spPr>
      </p:sp>
      <p:sp>
        <p:nvSpPr>
          <p:cNvPr id="12" name="Icon circle Tools"/>
          <p:cNvSpPr/>
          <p:nvPr/>
        </p:nvSpPr>
        <p:spPr>
          <a:xfrm>
            <a:off x="4562856" y="2148840"/>
            <a:ext cx="594360" cy="594360"/>
          </a:xfrm>
          <a:prstGeom prst="ellipse">
            <a:avLst/>
          </a:prstGeom>
          <a:solidFill>
            <a:schemeClr val="accent4"/>
          </a:solidFill>
          <a:ln/>
        </p:spPr>
      </p:sp>
      <p:pic>
        <p:nvPicPr>
          <p:cNvPr id="13" name="Image 1" descr="Tools icon"/>
          <p:cNvPicPr>
            <a:picLocks noChangeAspect="1"/>
          </p:cNvPicPr>
          <p:nvPr/>
        </p:nvPicPr>
        <p:blipFill>
          <a:blip r:embed="rId4"/>
          <a:stretch>
            <a:fillRect/>
          </a:stretch>
        </p:blipFill>
        <p:spPr>
          <a:xfrm>
            <a:off x="4711446" y="2297430"/>
            <a:ext cx="297180" cy="297180"/>
          </a:xfrm>
          <a:prstGeom prst="rect">
            <a:avLst/>
          </a:prstGeom>
        </p:spPr>
      </p:pic>
      <p:sp>
        <p:nvSpPr>
          <p:cNvPr id="14" name="Text 9"/>
          <p:cNvSpPr txBox="1"/>
          <p:nvPr/>
        </p:nvSpPr>
        <p:spPr>
          <a:xfrm>
            <a:off x="5340096" y="2148840"/>
            <a:ext cx="2377440" cy="5943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Simplified traditional engine</a:t>
            </a:r>
            <a:endParaRPr lang="en-US" sz="1600" dirty="0"/>
          </a:p>
        </p:txBody>
      </p:sp>
      <p:sp>
        <p:nvSpPr>
          <p:cNvPr id="15" name="Text 10"/>
          <p:cNvSpPr txBox="1"/>
          <p:nvPr/>
        </p:nvSpPr>
        <p:spPr>
          <a:xfrm>
            <a:off x="4562856" y="2880360"/>
            <a:ext cx="3108960" cy="1005840"/>
          </a:xfrm>
          <a:prstGeom prst="rect">
            <a:avLst/>
          </a:prstGeom>
          <a:noFill/>
          <a:ln/>
        </p:spPr>
        <p:txBody>
          <a:bodyPr wrap="square" lIns="0" tIns="0" rIns="0" bIns="0" rtlCol="0" anchor="t"/>
          <a:lstStyle/>
          <a:p>
            <a:pPr marL="0" indent="0">
              <a:buNone/>
            </a:pPr>
            <a:r>
              <a:rPr lang="en-US" sz="1400" dirty="0">
                <a:solidFill>
                  <a:schemeClr val="tx1"/>
                </a:solidFill>
              </a:rPr>
              <a:t>Simple loadings on a general-population table; no SOA insured-lives table.</a:t>
            </a:r>
            <a:endParaRPr lang="en-US" sz="1400" dirty="0"/>
          </a:p>
        </p:txBody>
      </p:sp>
      <p:sp>
        <p:nvSpPr>
          <p:cNvPr id="16" name="Limit card"/>
          <p:cNvSpPr/>
          <p:nvPr/>
        </p:nvSpPr>
        <p:spPr>
          <a:xfrm>
            <a:off x="8119872" y="1920240"/>
            <a:ext cx="3520440" cy="2057400"/>
          </a:xfrm>
          <a:prstGeom prst="roundRect">
            <a:avLst>
              <a:gd name="adj" fmla="val 4444"/>
            </a:avLst>
          </a:prstGeom>
          <a:solidFill>
            <a:schemeClr val="bg2"/>
          </a:solidFill>
          <a:ln/>
        </p:spPr>
      </p:sp>
      <p:sp>
        <p:nvSpPr>
          <p:cNvPr id="17" name="Icon circle Smoking"/>
          <p:cNvSpPr/>
          <p:nvPr/>
        </p:nvSpPr>
        <p:spPr>
          <a:xfrm>
            <a:off x="8348472" y="2148840"/>
            <a:ext cx="594360" cy="594360"/>
          </a:xfrm>
          <a:prstGeom prst="ellipse">
            <a:avLst/>
          </a:prstGeom>
          <a:solidFill>
            <a:schemeClr val="accent3"/>
          </a:solidFill>
          <a:ln/>
        </p:spPr>
      </p:sp>
      <p:pic>
        <p:nvPicPr>
          <p:cNvPr id="18" name="Image 2" descr="Smoking icon"/>
          <p:cNvPicPr>
            <a:picLocks noChangeAspect="1"/>
          </p:cNvPicPr>
          <p:nvPr/>
        </p:nvPicPr>
        <p:blipFill>
          <a:blip r:embed="rId5"/>
          <a:stretch>
            <a:fillRect/>
          </a:stretch>
        </p:blipFill>
        <p:spPr>
          <a:xfrm>
            <a:off x="8497062" y="2297430"/>
            <a:ext cx="297180" cy="297180"/>
          </a:xfrm>
          <a:prstGeom prst="rect">
            <a:avLst/>
          </a:prstGeom>
        </p:spPr>
      </p:pic>
      <p:sp>
        <p:nvSpPr>
          <p:cNvPr id="19" name="Text 13"/>
          <p:cNvSpPr txBox="1"/>
          <p:nvPr/>
        </p:nvSpPr>
        <p:spPr>
          <a:xfrm>
            <a:off x="9125712" y="2148840"/>
            <a:ext cx="2377440" cy="5943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Smoker oversampling</a:t>
            </a:r>
            <a:endParaRPr lang="en-US" sz="1600" dirty="0"/>
          </a:p>
        </p:txBody>
      </p:sp>
      <p:sp>
        <p:nvSpPr>
          <p:cNvPr id="20" name="Text 14"/>
          <p:cNvSpPr txBox="1"/>
          <p:nvPr/>
        </p:nvSpPr>
        <p:spPr>
          <a:xfrm>
            <a:off x="8348472" y="2880360"/>
            <a:ext cx="3108960" cy="1005840"/>
          </a:xfrm>
          <a:prstGeom prst="rect">
            <a:avLst/>
          </a:prstGeom>
          <a:noFill/>
          <a:ln/>
        </p:spPr>
        <p:txBody>
          <a:bodyPr wrap="square" lIns="0" tIns="0" rIns="0" bIns="0" rtlCol="0" anchor="t"/>
          <a:lstStyle/>
          <a:p>
            <a:pPr marL="0" indent="0">
              <a:buNone/>
            </a:pPr>
            <a:r>
              <a:rPr lang="en-US" sz="1400" dirty="0">
                <a:solidFill>
                  <a:schemeClr val="tx1"/>
                </a:solidFill>
              </a:rPr>
              <a:t>35% smokers vs ~11–14% in reality; re-weighting fixes only the liar share.</a:t>
            </a:r>
            <a:endParaRPr lang="en-US" sz="1400" dirty="0"/>
          </a:p>
        </p:txBody>
      </p:sp>
      <p:sp>
        <p:nvSpPr>
          <p:cNvPr id="21" name="Limit card"/>
          <p:cNvSpPr/>
          <p:nvPr/>
        </p:nvSpPr>
        <p:spPr>
          <a:xfrm>
            <a:off x="548640" y="4160520"/>
            <a:ext cx="3520440" cy="2057400"/>
          </a:xfrm>
          <a:prstGeom prst="roundRect">
            <a:avLst>
              <a:gd name="adj" fmla="val 4444"/>
            </a:avLst>
          </a:prstGeom>
          <a:solidFill>
            <a:schemeClr val="bg2"/>
          </a:solidFill>
          <a:ln/>
        </p:spPr>
      </p:sp>
      <p:sp>
        <p:nvSpPr>
          <p:cNvPr id="22" name="Icon circle Dice"/>
          <p:cNvSpPr/>
          <p:nvPr/>
        </p:nvSpPr>
        <p:spPr>
          <a:xfrm>
            <a:off x="777240" y="4389120"/>
            <a:ext cx="594360" cy="594360"/>
          </a:xfrm>
          <a:prstGeom prst="ellipse">
            <a:avLst/>
          </a:prstGeom>
          <a:solidFill>
            <a:schemeClr val="accent6"/>
          </a:solidFill>
          <a:ln/>
        </p:spPr>
      </p:sp>
      <p:pic>
        <p:nvPicPr>
          <p:cNvPr id="23" name="Image 3" descr="Dice icon"/>
          <p:cNvPicPr>
            <a:picLocks noChangeAspect="1"/>
          </p:cNvPicPr>
          <p:nvPr/>
        </p:nvPicPr>
        <p:blipFill>
          <a:blip r:embed="rId6"/>
          <a:stretch>
            <a:fillRect/>
          </a:stretch>
        </p:blipFill>
        <p:spPr>
          <a:xfrm>
            <a:off x="925830" y="4537710"/>
            <a:ext cx="297180" cy="297180"/>
          </a:xfrm>
          <a:prstGeom prst="rect">
            <a:avLst/>
          </a:prstGeom>
        </p:spPr>
      </p:pic>
      <p:sp>
        <p:nvSpPr>
          <p:cNvPr id="24" name="Text 17"/>
          <p:cNvSpPr txBox="1"/>
          <p:nvPr/>
        </p:nvSpPr>
        <p:spPr>
          <a:xfrm>
            <a:off x="1554480" y="4389120"/>
            <a:ext cx="2377440" cy="5943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Only 3 seeds</a:t>
            </a:r>
            <a:endParaRPr lang="en-US" sz="1600" dirty="0"/>
          </a:p>
        </p:txBody>
      </p:sp>
      <p:sp>
        <p:nvSpPr>
          <p:cNvPr id="25" name="Text 18"/>
          <p:cNvSpPr txBox="1"/>
          <p:nvPr/>
        </p:nvSpPr>
        <p:spPr>
          <a:xfrm>
            <a:off x="777240" y="5120640"/>
            <a:ext cx="3108960" cy="1005840"/>
          </a:xfrm>
          <a:prstGeom prst="rect">
            <a:avLst/>
          </a:prstGeom>
          <a:noFill/>
          <a:ln/>
        </p:spPr>
        <p:txBody>
          <a:bodyPr wrap="square" lIns="0" tIns="0" rIns="0" bIns="0" rtlCol="0" anchor="t"/>
          <a:lstStyle/>
          <a:p>
            <a:pPr marL="0" indent="0">
              <a:buNone/>
            </a:pPr>
            <a:r>
              <a:rPr lang="en-US" sz="1400" dirty="0">
                <a:solidFill>
                  <a:schemeClr val="tx1"/>
                </a:solidFill>
              </a:rPr>
              <a:t>Intervals ignore training uncertainty, so they are too narrow.</a:t>
            </a:r>
            <a:endParaRPr lang="en-US" sz="1400" dirty="0"/>
          </a:p>
        </p:txBody>
      </p:sp>
      <p:sp>
        <p:nvSpPr>
          <p:cNvPr id="26" name="Limit card"/>
          <p:cNvSpPr/>
          <p:nvPr/>
        </p:nvSpPr>
        <p:spPr>
          <a:xfrm>
            <a:off x="4334256" y="4160520"/>
            <a:ext cx="3520440" cy="2057400"/>
          </a:xfrm>
          <a:prstGeom prst="roundRect">
            <a:avLst>
              <a:gd name="adj" fmla="val 4444"/>
            </a:avLst>
          </a:prstGeom>
          <a:solidFill>
            <a:schemeClr val="bg2"/>
          </a:solidFill>
          <a:ln/>
        </p:spPr>
      </p:sp>
      <p:sp>
        <p:nvSpPr>
          <p:cNvPr id="27" name="Icon circle Coins"/>
          <p:cNvSpPr/>
          <p:nvPr/>
        </p:nvSpPr>
        <p:spPr>
          <a:xfrm>
            <a:off x="4562856" y="4389120"/>
            <a:ext cx="594360" cy="594360"/>
          </a:xfrm>
          <a:prstGeom prst="ellipse">
            <a:avLst/>
          </a:prstGeom>
          <a:solidFill>
            <a:schemeClr val="accent4"/>
          </a:solidFill>
          <a:ln/>
        </p:spPr>
      </p:sp>
      <p:pic>
        <p:nvPicPr>
          <p:cNvPr id="28" name="Image 4" descr="Coins icon"/>
          <p:cNvPicPr>
            <a:picLocks noChangeAspect="1"/>
          </p:cNvPicPr>
          <p:nvPr/>
        </p:nvPicPr>
        <p:blipFill>
          <a:blip r:embed="rId7"/>
          <a:stretch>
            <a:fillRect/>
          </a:stretch>
        </p:blipFill>
        <p:spPr>
          <a:xfrm>
            <a:off x="4711446" y="4537710"/>
            <a:ext cx="297180" cy="297180"/>
          </a:xfrm>
          <a:prstGeom prst="rect">
            <a:avLst/>
          </a:prstGeom>
        </p:spPr>
      </p:pic>
      <p:sp>
        <p:nvSpPr>
          <p:cNvPr id="29" name="Text 21"/>
          <p:cNvSpPr txBox="1"/>
          <p:nvPr/>
        </p:nvSpPr>
        <p:spPr>
          <a:xfrm>
            <a:off x="5340096" y="4389120"/>
            <a:ext cx="2377440" cy="5943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Missing dynamics</a:t>
            </a:r>
            <a:endParaRPr lang="en-US" sz="1600" dirty="0"/>
          </a:p>
        </p:txBody>
      </p:sp>
      <p:sp>
        <p:nvSpPr>
          <p:cNvPr id="30" name="Text 22"/>
          <p:cNvSpPr txBox="1"/>
          <p:nvPr/>
        </p:nvSpPr>
        <p:spPr>
          <a:xfrm>
            <a:off x="4562856" y="5120640"/>
            <a:ext cx="3108960" cy="1005840"/>
          </a:xfrm>
          <a:prstGeom prst="rect">
            <a:avLst/>
          </a:prstGeom>
          <a:noFill/>
          <a:ln/>
        </p:spPr>
        <p:txBody>
          <a:bodyPr wrap="square" lIns="0" tIns="0" rIns="0" bIns="0" rtlCol="0" anchor="t"/>
          <a:lstStyle/>
          <a:p>
            <a:pPr marL="0" indent="0">
              <a:buNone/>
            </a:pPr>
            <a:r>
              <a:rPr lang="en-US" sz="1400" dirty="0">
                <a:solidFill>
                  <a:schemeClr val="tx1"/>
                </a:solidFill>
              </a:rPr>
              <a:t>No lapses, discounting, repeated play or insurer reaction.</a:t>
            </a:r>
            <a:endParaRPr lang="en-US" sz="1400" dirty="0"/>
          </a:p>
        </p:txBody>
      </p:sp>
      <p:sp>
        <p:nvSpPr>
          <p:cNvPr id="31" name="Limit card"/>
          <p:cNvSpPr/>
          <p:nvPr/>
        </p:nvSpPr>
        <p:spPr>
          <a:xfrm>
            <a:off x="8119872" y="4160520"/>
            <a:ext cx="3520440" cy="2057400"/>
          </a:xfrm>
          <a:prstGeom prst="roundRect">
            <a:avLst>
              <a:gd name="adj" fmla="val 4444"/>
            </a:avLst>
          </a:prstGeom>
          <a:solidFill>
            <a:schemeClr val="bg2"/>
          </a:solidFill>
          <a:ln/>
        </p:spPr>
      </p:sp>
      <p:sp>
        <p:nvSpPr>
          <p:cNvPr id="32" name="Icon circle ExclamationTriangle"/>
          <p:cNvSpPr/>
          <p:nvPr/>
        </p:nvSpPr>
        <p:spPr>
          <a:xfrm>
            <a:off x="8348472" y="4389120"/>
            <a:ext cx="594360" cy="594360"/>
          </a:xfrm>
          <a:prstGeom prst="ellipse">
            <a:avLst/>
          </a:prstGeom>
          <a:solidFill>
            <a:schemeClr val="accent1"/>
          </a:solidFill>
          <a:ln/>
        </p:spPr>
      </p:sp>
      <p:pic>
        <p:nvPicPr>
          <p:cNvPr id="33" name="Image 5" descr="ExclamationTriangle icon"/>
          <p:cNvPicPr>
            <a:picLocks noChangeAspect="1"/>
          </p:cNvPicPr>
          <p:nvPr/>
        </p:nvPicPr>
        <p:blipFill>
          <a:blip r:embed="rId8"/>
          <a:stretch>
            <a:fillRect/>
          </a:stretch>
        </p:blipFill>
        <p:spPr>
          <a:xfrm>
            <a:off x="8497062" y="4537710"/>
            <a:ext cx="297180" cy="297180"/>
          </a:xfrm>
          <a:prstGeom prst="rect">
            <a:avLst/>
          </a:prstGeom>
        </p:spPr>
      </p:pic>
      <p:sp>
        <p:nvSpPr>
          <p:cNvPr id="34" name="Text 25"/>
          <p:cNvSpPr txBox="1"/>
          <p:nvPr/>
        </p:nvSpPr>
        <p:spPr>
          <a:xfrm>
            <a:off x="9125712" y="4389120"/>
            <a:ext cx="2377440" cy="59436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Scope limits</a:t>
            </a:r>
            <a:endParaRPr lang="en-US" sz="1600" dirty="0"/>
          </a:p>
        </p:txBody>
      </p:sp>
      <p:sp>
        <p:nvSpPr>
          <p:cNvPr id="35" name="Text 26"/>
          <p:cNvSpPr txBox="1"/>
          <p:nvPr/>
        </p:nvSpPr>
        <p:spPr>
          <a:xfrm>
            <a:off x="8348472" y="5120640"/>
            <a:ext cx="3108960" cy="1005840"/>
          </a:xfrm>
          <a:prstGeom prst="rect">
            <a:avLst/>
          </a:prstGeom>
          <a:noFill/>
          <a:ln/>
        </p:spPr>
        <p:txBody>
          <a:bodyPr wrap="square" lIns="0" tIns="0" rIns="0" bIns="0" rtlCol="0" anchor="t"/>
          <a:lstStyle/>
          <a:p>
            <a:pPr marL="0" indent="0">
              <a:buNone/>
            </a:pPr>
            <a:r>
              <a:rPr lang="en-US" sz="1400" dirty="0">
                <a:solidFill>
                  <a:schemeClr val="tx1"/>
                </a:solidFill>
              </a:rPr>
              <a:t>No fairness test beyond age, sex, risk band; no ML running cost; 20–30-year quotes carry large error.</a:t>
            </a:r>
            <a:endParaRPr lang="en-US" sz="1400" dirty="0"/>
          </a:p>
        </p:txBody>
      </p:sp>
      <p:sp>
        <p:nvSpPr>
          <p:cNvPr id="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Future Scope &amp; Roadmap</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What Meridian’s next study should do.</a:t>
            </a:r>
            <a:endParaRPr lang="en-US" sz="1500" dirty="0"/>
          </a:p>
        </p:txBody>
      </p:sp>
      <p:sp>
        <p:nvSpPr>
          <p:cNvPr id="6" name="Chevron"/>
          <p:cNvSpPr txBox="1"/>
          <p:nvPr/>
        </p:nvSpPr>
        <p:spPr>
          <a:xfrm>
            <a:off x="548640" y="1920240"/>
            <a:ext cx="2743200" cy="731520"/>
          </a:xfrm>
          <a:prstGeom prst="chevron">
            <a:avLst/>
          </a:prstGeom>
          <a:solidFill>
            <a:schemeClr val="accent4"/>
          </a:solidFill>
          <a:ln/>
        </p:spPr>
        <p:txBody>
          <a:bodyPr wrap="square" lIns="0" tIns="3810" rIns="3810" bIns="0" rtlCol="0" anchor="ctr"/>
          <a:lstStyle/>
          <a:p>
            <a:pPr marL="0" indent="0" algn="ctr">
              <a:buNone/>
            </a:pPr>
            <a:r>
              <a:rPr lang="en-US" sz="1400" b="1" dirty="0">
                <a:solidFill>
                  <a:schemeClr val="bg1"/>
                </a:solidFill>
              </a:rPr>
              <a:t>1 Real data</a:t>
            </a:r>
            <a:endParaRPr lang="en-US" sz="1400" dirty="0"/>
          </a:p>
        </p:txBody>
      </p:sp>
      <p:sp>
        <p:nvSpPr>
          <p:cNvPr id="7" name="Roadmap card"/>
          <p:cNvSpPr/>
          <p:nvPr/>
        </p:nvSpPr>
        <p:spPr>
          <a:xfrm>
            <a:off x="548640" y="2834640"/>
            <a:ext cx="2606040" cy="2514600"/>
          </a:xfrm>
          <a:prstGeom prst="roundRect">
            <a:avLst>
              <a:gd name="adj" fmla="val 3636"/>
            </a:avLst>
          </a:prstGeom>
          <a:solidFill>
            <a:schemeClr val="bg2"/>
          </a:solidFill>
          <a:ln/>
        </p:spPr>
      </p:sp>
      <p:sp>
        <p:nvSpPr>
          <p:cNvPr id="8" name="Text 5"/>
          <p:cNvSpPr txBox="1"/>
          <p:nvPr/>
        </p:nvSpPr>
        <p:spPr>
          <a:xfrm>
            <a:off x="731520" y="301752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Real insured-lives tables (SOA VBT, Indian assured-lives)</a:t>
            </a:r>
            <a:endParaRPr lang="en-US" sz="1500" dirty="0"/>
          </a:p>
          <a:p>
            <a:pPr marL="342900" indent="-342900">
              <a:spcAft>
                <a:spcPts val="500"/>
              </a:spcAft>
              <a:buSzPct val="100000"/>
              <a:buChar char="•"/>
            </a:pPr>
            <a:r>
              <a:rPr lang="en-US" sz="1500" dirty="0">
                <a:solidFill>
                  <a:schemeClr val="tx1"/>
                </a:solidFill>
              </a:rPr>
              <a:t>Real applicant data</a:t>
            </a:r>
            <a:endParaRPr lang="en-US" sz="1500" dirty="0"/>
          </a:p>
          <a:p>
            <a:pPr marL="342900" indent="-342900">
              <a:spcAft>
                <a:spcPts val="500"/>
              </a:spcAft>
              <a:buSzPct val="100000"/>
              <a:buChar char="•"/>
            </a:pPr>
            <a:r>
              <a:rPr lang="en-US" sz="1500" dirty="0">
                <a:solidFill>
                  <a:schemeClr val="tx1"/>
                </a:solidFill>
              </a:rPr>
              <a:t>Nonlinear risk generator as a sensitivity check</a:t>
            </a:r>
            <a:endParaRPr lang="en-US" sz="1500" dirty="0"/>
          </a:p>
        </p:txBody>
      </p:sp>
      <p:sp>
        <p:nvSpPr>
          <p:cNvPr id="9" name="Chevron"/>
          <p:cNvSpPr txBox="1"/>
          <p:nvPr/>
        </p:nvSpPr>
        <p:spPr>
          <a:xfrm>
            <a:off x="3383280" y="1920240"/>
            <a:ext cx="2743200" cy="731520"/>
          </a:xfrm>
          <a:prstGeom prst="chevron">
            <a:avLst/>
          </a:prstGeom>
          <a:solidFill>
            <a:schemeClr val="accent3"/>
          </a:solidFill>
          <a:ln/>
        </p:spPr>
        <p:txBody>
          <a:bodyPr wrap="square" lIns="0" tIns="3810" rIns="3810" bIns="0" rtlCol="0" anchor="ctr"/>
          <a:lstStyle/>
          <a:p>
            <a:pPr marL="0" indent="0" algn="ctr">
              <a:buNone/>
            </a:pPr>
            <a:r>
              <a:rPr lang="en-US" sz="1400" b="1" dirty="0">
                <a:solidFill>
                  <a:schemeClr val="bg1"/>
                </a:solidFill>
              </a:rPr>
              <a:t>2 Stronger statistics</a:t>
            </a:r>
            <a:endParaRPr lang="en-US" sz="1400" dirty="0"/>
          </a:p>
        </p:txBody>
      </p:sp>
      <p:sp>
        <p:nvSpPr>
          <p:cNvPr id="10" name="Roadmap card"/>
          <p:cNvSpPr/>
          <p:nvPr/>
        </p:nvSpPr>
        <p:spPr>
          <a:xfrm>
            <a:off x="3383280" y="2834640"/>
            <a:ext cx="2606040" cy="2514600"/>
          </a:xfrm>
          <a:prstGeom prst="roundRect">
            <a:avLst>
              <a:gd name="adj" fmla="val 3636"/>
            </a:avLst>
          </a:prstGeom>
          <a:solidFill>
            <a:schemeClr val="bg2"/>
          </a:solidFill>
          <a:ln/>
        </p:spPr>
      </p:sp>
      <p:sp>
        <p:nvSpPr>
          <p:cNvPr id="11" name="Text 8"/>
          <p:cNvSpPr txBox="1"/>
          <p:nvPr/>
        </p:nvSpPr>
        <p:spPr>
          <a:xfrm>
            <a:off x="3566160" y="301752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More seeds</a:t>
            </a:r>
            <a:endParaRPr lang="en-US" sz="1500" dirty="0"/>
          </a:p>
          <a:p>
            <a:pPr marL="342900" indent="-342900">
              <a:spcAft>
                <a:spcPts val="500"/>
              </a:spcAft>
              <a:buSzPct val="100000"/>
              <a:buChar char="•"/>
            </a:pPr>
            <a:r>
              <a:rPr lang="en-US" sz="1500" dirty="0">
                <a:solidFill>
                  <a:schemeClr val="tx1"/>
                </a:solidFill>
              </a:rPr>
              <a:t>Training uncertainty inside the intervals</a:t>
            </a:r>
            <a:endParaRPr lang="en-US" sz="1500" dirty="0"/>
          </a:p>
        </p:txBody>
      </p:sp>
      <p:sp>
        <p:nvSpPr>
          <p:cNvPr id="12" name="Chevron"/>
          <p:cNvSpPr txBox="1"/>
          <p:nvPr/>
        </p:nvSpPr>
        <p:spPr>
          <a:xfrm>
            <a:off x="6217920" y="1920240"/>
            <a:ext cx="2743200" cy="731520"/>
          </a:xfrm>
          <a:prstGeom prst="chevron">
            <a:avLst/>
          </a:prstGeom>
          <a:solidFill>
            <a:schemeClr val="accent6"/>
          </a:solidFill>
          <a:ln/>
        </p:spPr>
        <p:txBody>
          <a:bodyPr wrap="square" lIns="0" tIns="3810" rIns="3810" bIns="0" rtlCol="0" anchor="ctr"/>
          <a:lstStyle/>
          <a:p>
            <a:pPr marL="0" indent="0" algn="ctr">
              <a:buNone/>
            </a:pPr>
            <a:r>
              <a:rPr lang="en-US" sz="1400" b="1" dirty="0">
                <a:solidFill>
                  <a:schemeClr val="bg1"/>
                </a:solidFill>
              </a:rPr>
              <a:t>3 Wider scope</a:t>
            </a:r>
            <a:endParaRPr lang="en-US" sz="1400" dirty="0"/>
          </a:p>
        </p:txBody>
      </p:sp>
      <p:sp>
        <p:nvSpPr>
          <p:cNvPr id="13" name="Roadmap card"/>
          <p:cNvSpPr/>
          <p:nvPr/>
        </p:nvSpPr>
        <p:spPr>
          <a:xfrm>
            <a:off x="6217920" y="2834640"/>
            <a:ext cx="2606040" cy="2514600"/>
          </a:xfrm>
          <a:prstGeom prst="roundRect">
            <a:avLst>
              <a:gd name="adj" fmla="val 3636"/>
            </a:avLst>
          </a:prstGeom>
          <a:solidFill>
            <a:schemeClr val="bg2"/>
          </a:solidFill>
          <a:ln/>
        </p:spPr>
      </p:sp>
      <p:sp>
        <p:nvSpPr>
          <p:cNvPr id="14" name="Text 11"/>
          <p:cNvSpPr txBox="1"/>
          <p:nvPr/>
        </p:nvSpPr>
        <p:spPr>
          <a:xfrm>
            <a:off x="6400800" y="301752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Fairness across protected groups</a:t>
            </a:r>
            <a:endParaRPr lang="en-US" sz="1500" dirty="0"/>
          </a:p>
          <a:p>
            <a:pPr marL="342900" indent="-342900">
              <a:spcAft>
                <a:spcPts val="500"/>
              </a:spcAft>
              <a:buSzPct val="100000"/>
              <a:buChar char="•"/>
            </a:pPr>
            <a:r>
              <a:rPr lang="en-US" sz="1500" dirty="0">
                <a:solidFill>
                  <a:schemeClr val="tx1"/>
                </a:solidFill>
              </a:rPr>
              <a:t>Running and compliance cost of ML</a:t>
            </a:r>
            <a:endParaRPr lang="en-US" sz="1500" dirty="0"/>
          </a:p>
          <a:p>
            <a:pPr marL="342900" indent="-342900">
              <a:spcAft>
                <a:spcPts val="500"/>
              </a:spcAft>
              <a:buSzPct val="100000"/>
              <a:buChar char="•"/>
            </a:pPr>
            <a:r>
              <a:rPr lang="en-US" sz="1500" dirty="0">
                <a:solidFill>
                  <a:schemeClr val="tx1"/>
                </a:solidFill>
              </a:rPr>
              <a:t>Lapses, discounting, repeated play</a:t>
            </a:r>
            <a:endParaRPr lang="en-US" sz="1500" dirty="0"/>
          </a:p>
        </p:txBody>
      </p:sp>
      <p:sp>
        <p:nvSpPr>
          <p:cNvPr id="15" name="Chevron"/>
          <p:cNvSpPr txBox="1"/>
          <p:nvPr/>
        </p:nvSpPr>
        <p:spPr>
          <a:xfrm>
            <a:off x="9052560" y="1920240"/>
            <a:ext cx="2743200" cy="731520"/>
          </a:xfrm>
          <a:prstGeom prst="chevron">
            <a:avLst/>
          </a:prstGeom>
          <a:solidFill>
            <a:schemeClr val="accent1"/>
          </a:solidFill>
          <a:ln/>
        </p:spPr>
        <p:txBody>
          <a:bodyPr wrap="square" lIns="0" tIns="3810" rIns="3810" bIns="0" rtlCol="0" anchor="ctr"/>
          <a:lstStyle/>
          <a:p>
            <a:pPr marL="0" indent="0" algn="ctr">
              <a:buNone/>
            </a:pPr>
            <a:r>
              <a:rPr lang="en-US" sz="1400" b="1" dirty="0">
                <a:solidFill>
                  <a:schemeClr val="bg1"/>
                </a:solidFill>
              </a:rPr>
              <a:t>4 Detection &amp; product</a:t>
            </a:r>
            <a:endParaRPr lang="en-US" sz="1400" dirty="0"/>
          </a:p>
        </p:txBody>
      </p:sp>
      <p:sp>
        <p:nvSpPr>
          <p:cNvPr id="16" name="Roadmap card"/>
          <p:cNvSpPr/>
          <p:nvPr/>
        </p:nvSpPr>
        <p:spPr>
          <a:xfrm>
            <a:off x="9052560" y="2834640"/>
            <a:ext cx="2606040" cy="2514600"/>
          </a:xfrm>
          <a:prstGeom prst="roundRect">
            <a:avLst>
              <a:gd name="adj" fmla="val 3636"/>
            </a:avLst>
          </a:prstGeom>
          <a:solidFill>
            <a:schemeClr val="bg2"/>
          </a:solidFill>
          <a:ln/>
        </p:spPr>
      </p:sp>
      <p:sp>
        <p:nvSpPr>
          <p:cNvPr id="17" name="Text 14"/>
          <p:cNvSpPr txBox="1"/>
          <p:nvPr/>
        </p:nvSpPr>
        <p:spPr>
          <a:xfrm>
            <a:off x="9235440" y="301752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Nicotine or biomarker test for hidden smoking</a:t>
            </a:r>
            <a:endParaRPr lang="en-US" sz="1500" dirty="0"/>
          </a:p>
          <a:p>
            <a:pPr marL="342900" indent="-342900">
              <a:spcAft>
                <a:spcPts val="500"/>
              </a:spcAft>
              <a:buSzPct val="100000"/>
              <a:buChar char="•"/>
            </a:pPr>
            <a:r>
              <a:rPr lang="en-US" sz="1500" dirty="0">
                <a:solidFill>
                  <a:schemeClr val="tx1"/>
                </a:solidFill>
              </a:rPr>
              <a:t>Term-aware calculator with a time-varying hazard</a:t>
            </a:r>
            <a:endParaRPr lang="en-US" sz="1500" dirty="0"/>
          </a:p>
        </p:txBody>
      </p:sp>
      <p:sp>
        <p:nvSpPr>
          <p:cNvPr id="18" name="Roadmap callout"/>
          <p:cNvSpPr/>
          <p:nvPr/>
        </p:nvSpPr>
        <p:spPr>
          <a:xfrm>
            <a:off x="548640" y="5532120"/>
            <a:ext cx="11091672" cy="685800"/>
          </a:xfrm>
          <a:prstGeom prst="roundRect">
            <a:avLst>
              <a:gd name="adj" fmla="val 13333"/>
            </a:avLst>
          </a:prstGeom>
          <a:solidFill>
            <a:schemeClr val="bg2"/>
          </a:solidFill>
          <a:ln/>
        </p:spPr>
      </p:sp>
      <p:sp>
        <p:nvSpPr>
          <p:cNvPr id="19" name="Icon circle Seedling"/>
          <p:cNvSpPr/>
          <p:nvPr/>
        </p:nvSpPr>
        <p:spPr>
          <a:xfrm>
            <a:off x="731520" y="5596128"/>
            <a:ext cx="548640" cy="548640"/>
          </a:xfrm>
          <a:prstGeom prst="ellipse">
            <a:avLst/>
          </a:prstGeom>
          <a:solidFill>
            <a:schemeClr val="accent3"/>
          </a:solidFill>
          <a:ln/>
        </p:spPr>
      </p:sp>
      <p:pic>
        <p:nvPicPr>
          <p:cNvPr id="20" name="Image 0" descr="Seedling icon"/>
          <p:cNvPicPr>
            <a:picLocks noChangeAspect="1"/>
          </p:cNvPicPr>
          <p:nvPr/>
        </p:nvPicPr>
        <p:blipFill>
          <a:blip r:embed="rId3"/>
          <a:stretch>
            <a:fillRect/>
          </a:stretch>
        </p:blipFill>
        <p:spPr>
          <a:xfrm>
            <a:off x="868680" y="5733288"/>
            <a:ext cx="274320" cy="274320"/>
          </a:xfrm>
          <a:prstGeom prst="rect">
            <a:avLst/>
          </a:prstGeom>
        </p:spPr>
      </p:pic>
      <p:sp>
        <p:nvSpPr>
          <p:cNvPr id="21" name="Text 17"/>
          <p:cNvSpPr txBox="1"/>
          <p:nvPr/>
        </p:nvSpPr>
        <p:spPr>
          <a:xfrm>
            <a:off x="1463040" y="5532120"/>
            <a:ext cx="9966960" cy="685800"/>
          </a:xfrm>
          <a:prstGeom prst="rect">
            <a:avLst/>
          </a:prstGeom>
          <a:noFill/>
          <a:ln/>
        </p:spPr>
        <p:txBody>
          <a:bodyPr wrap="square" lIns="0" tIns="0" rIns="0" bIns="0" rtlCol="0" anchor="ctr"/>
          <a:lstStyle/>
          <a:p>
            <a:pPr marL="0" indent="0">
              <a:buNone/>
            </a:pPr>
            <a:r>
              <a:rPr lang="en-US" sz="1500" b="1" dirty="0">
                <a:solidFill>
                  <a:schemeClr val="tx1"/>
                </a:solidFill>
              </a:rPr>
              <a:t>Biggest open gap: hidden smoking, found in only 2–4% of cases by either tool.</a:t>
            </a:r>
            <a:endParaRPr lang="en-US" sz="15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Strategic Recommendations for the Insurance Industry</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What Meridian Life should do on Monday morning.</a:t>
            </a:r>
            <a:endParaRPr lang="en-US" sz="1500" dirty="0"/>
          </a:p>
        </p:txBody>
      </p:sp>
      <p:sp>
        <p:nvSpPr>
          <p:cNvPr id="6" name="Recommendation row"/>
          <p:cNvSpPr/>
          <p:nvPr/>
        </p:nvSpPr>
        <p:spPr>
          <a:xfrm>
            <a:off x="548640" y="1874520"/>
            <a:ext cx="11091672" cy="777240"/>
          </a:xfrm>
          <a:prstGeom prst="roundRect">
            <a:avLst>
              <a:gd name="adj" fmla="val 11765"/>
            </a:avLst>
          </a:prstGeom>
          <a:solidFill>
            <a:schemeClr val="bg2"/>
          </a:solidFill>
          <a:ln/>
        </p:spPr>
      </p:sp>
      <p:sp>
        <p:nvSpPr>
          <p:cNvPr id="7" name="Number 1"/>
          <p:cNvSpPr txBox="1"/>
          <p:nvPr/>
        </p:nvSpPr>
        <p:spPr>
          <a:xfrm>
            <a:off x="731520" y="1984248"/>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Text 5"/>
          <p:cNvSpPr txBox="1"/>
          <p:nvPr/>
        </p:nvSpPr>
        <p:spPr>
          <a:xfrm>
            <a:off x="1508760" y="1874520"/>
            <a:ext cx="3566160" cy="777240"/>
          </a:xfrm>
          <a:prstGeom prst="rect">
            <a:avLst/>
          </a:prstGeom>
          <a:noFill/>
          <a:ln/>
        </p:spPr>
        <p:txBody>
          <a:bodyPr wrap="square" lIns="0" tIns="0" rIns="0" bIns="0" rtlCol="0" anchor="ctr"/>
          <a:lstStyle/>
          <a:p>
            <a:pPr marL="0" indent="0">
              <a:buNone/>
            </a:pPr>
            <a:r>
              <a:rPr lang="en-US" sz="1600" b="1" dirty="0">
                <a:solidFill>
                  <a:schemeClr val="tx1"/>
                </a:solidFill>
              </a:rPr>
              <a:t>Start with a GLM, not a complex model</a:t>
            </a:r>
            <a:endParaRPr lang="en-US" sz="1600" dirty="0"/>
          </a:p>
        </p:txBody>
      </p:sp>
      <p:sp>
        <p:nvSpPr>
          <p:cNvPr id="9" name="Text 6"/>
          <p:cNvSpPr txBox="1"/>
          <p:nvPr/>
        </p:nvSpPr>
        <p:spPr>
          <a:xfrm>
            <a:off x="5212080" y="1874520"/>
            <a:ext cx="6263640" cy="777240"/>
          </a:xfrm>
          <a:prstGeom prst="rect">
            <a:avLst/>
          </a:prstGeom>
          <a:noFill/>
          <a:ln/>
        </p:spPr>
        <p:txBody>
          <a:bodyPr wrap="square" lIns="0" tIns="0" rIns="0" bIns="0" rtlCol="0" anchor="ctr"/>
          <a:lstStyle/>
          <a:p>
            <a:pPr marL="0" indent="0">
              <a:buNone/>
            </a:pPr>
            <a:r>
              <a:rPr lang="en-US" sz="1400" dirty="0">
                <a:solidFill>
                  <a:schemeClr val="tx1"/>
                </a:solidFill>
              </a:rPr>
              <a:t>At ~30,000 training applicants the GLM beat fixed rules; XGBoost needed 90,000+ to catch up.</a:t>
            </a:r>
            <a:endParaRPr lang="en-US" sz="1400" dirty="0"/>
          </a:p>
        </p:txBody>
      </p:sp>
      <p:sp>
        <p:nvSpPr>
          <p:cNvPr id="10" name="Recommendation row"/>
          <p:cNvSpPr/>
          <p:nvPr/>
        </p:nvSpPr>
        <p:spPr>
          <a:xfrm>
            <a:off x="548640" y="2743200"/>
            <a:ext cx="11091672" cy="777240"/>
          </a:xfrm>
          <a:prstGeom prst="roundRect">
            <a:avLst>
              <a:gd name="adj" fmla="val 11765"/>
            </a:avLst>
          </a:prstGeom>
          <a:solidFill>
            <a:schemeClr val="bg2"/>
          </a:solidFill>
          <a:ln/>
        </p:spPr>
      </p:sp>
      <p:sp>
        <p:nvSpPr>
          <p:cNvPr id="11" name="Number 2"/>
          <p:cNvSpPr txBox="1"/>
          <p:nvPr/>
        </p:nvSpPr>
        <p:spPr>
          <a:xfrm>
            <a:off x="731520" y="2852928"/>
            <a:ext cx="548640" cy="548640"/>
          </a:xfrm>
          <a:prstGeom prst="ellipse">
            <a:avLst/>
          </a:prstGeom>
          <a:solidFill>
            <a:schemeClr val="accent4"/>
          </a:solid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2" name="Text 9"/>
          <p:cNvSpPr txBox="1"/>
          <p:nvPr/>
        </p:nvSpPr>
        <p:spPr>
          <a:xfrm>
            <a:off x="1508760" y="2743200"/>
            <a:ext cx="3566160" cy="777240"/>
          </a:xfrm>
          <a:prstGeom prst="rect">
            <a:avLst/>
          </a:prstGeom>
          <a:noFill/>
          <a:ln/>
        </p:spPr>
        <p:txBody>
          <a:bodyPr wrap="square" lIns="0" tIns="0" rIns="0" bIns="0" rtlCol="0" anchor="ctr"/>
          <a:lstStyle/>
          <a:p>
            <a:pPr marL="0" indent="0">
              <a:buNone/>
            </a:pPr>
            <a:r>
              <a:rPr lang="en-US" sz="1600" b="1" dirty="0">
                <a:solidFill>
                  <a:schemeClr val="tx1"/>
                </a:solidFill>
              </a:rPr>
              <a:t>Train on declared data, then audit for overcharging</a:t>
            </a:r>
            <a:endParaRPr lang="en-US" sz="1600" dirty="0"/>
          </a:p>
        </p:txBody>
      </p:sp>
      <p:sp>
        <p:nvSpPr>
          <p:cNvPr id="13" name="Text 10"/>
          <p:cNvSpPr txBox="1"/>
          <p:nvPr/>
        </p:nvSpPr>
        <p:spPr>
          <a:xfrm>
            <a:off x="5212080" y="2743200"/>
            <a:ext cx="6263640" cy="777240"/>
          </a:xfrm>
          <a:prstGeom prst="rect">
            <a:avLst/>
          </a:prstGeom>
          <a:noFill/>
          <a:ln/>
        </p:spPr>
        <p:txBody>
          <a:bodyPr wrap="square" lIns="0" tIns="0" rIns="0" bIns="0" rtlCol="0" anchor="ctr"/>
          <a:lstStyle/>
          <a:p>
            <a:pPr marL="0" indent="0">
              <a:buNone/>
            </a:pPr>
            <a:r>
              <a:rPr lang="en-US" sz="1400" dirty="0">
                <a:solidFill>
                  <a:schemeClr val="tx1"/>
                </a:solidFill>
              </a:rPr>
              <a:t>Error falls 0.003–0.009, but honest non-smokers pay 44–57% more (at 35% liars). Benchmark against Arm A+.</a:t>
            </a:r>
            <a:endParaRPr lang="en-US" sz="1400" dirty="0"/>
          </a:p>
        </p:txBody>
      </p:sp>
      <p:sp>
        <p:nvSpPr>
          <p:cNvPr id="14" name="Recommendation row"/>
          <p:cNvSpPr/>
          <p:nvPr/>
        </p:nvSpPr>
        <p:spPr>
          <a:xfrm>
            <a:off x="548640" y="3611880"/>
            <a:ext cx="11091672" cy="777240"/>
          </a:xfrm>
          <a:prstGeom prst="roundRect">
            <a:avLst>
              <a:gd name="adj" fmla="val 11765"/>
            </a:avLst>
          </a:prstGeom>
          <a:solidFill>
            <a:schemeClr val="bg2"/>
          </a:solidFill>
          <a:ln/>
        </p:spPr>
      </p:sp>
      <p:sp>
        <p:nvSpPr>
          <p:cNvPr id="15" name="Number 3"/>
          <p:cNvSpPr txBox="1"/>
          <p:nvPr/>
        </p:nvSpPr>
        <p:spPr>
          <a:xfrm>
            <a:off x="731520" y="3721608"/>
            <a:ext cx="548640" cy="548640"/>
          </a:xfrm>
          <a:prstGeom prst="ellipse">
            <a:avLst/>
          </a:prstGeom>
          <a:solidFill>
            <a:schemeClr val="accent3"/>
          </a:solid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6" name="Text 13"/>
          <p:cNvSpPr txBox="1"/>
          <p:nvPr/>
        </p:nvSpPr>
        <p:spPr>
          <a:xfrm>
            <a:off x="1508760" y="3611880"/>
            <a:ext cx="3566160" cy="777240"/>
          </a:xfrm>
          <a:prstGeom prst="rect">
            <a:avLst/>
          </a:prstGeom>
          <a:noFill/>
          <a:ln/>
        </p:spPr>
        <p:txBody>
          <a:bodyPr wrap="square" lIns="0" tIns="0" rIns="0" bIns="0" rtlCol="0" anchor="ctr"/>
          <a:lstStyle/>
          <a:p>
            <a:pPr marL="0" indent="0">
              <a:buNone/>
            </a:pPr>
            <a:r>
              <a:rPr lang="en-US" sz="1600" b="1" dirty="0">
                <a:solidFill>
                  <a:schemeClr val="tx1"/>
                </a:solidFill>
              </a:rPr>
              <a:t>Cross-check declarations with measured readings</a:t>
            </a:r>
            <a:endParaRPr lang="en-US" sz="1600" dirty="0"/>
          </a:p>
        </p:txBody>
      </p:sp>
      <p:sp>
        <p:nvSpPr>
          <p:cNvPr id="17" name="Text 14"/>
          <p:cNvSpPr txBox="1"/>
          <p:nvPr/>
        </p:nvSpPr>
        <p:spPr>
          <a:xfrm>
            <a:off x="5212080" y="3611880"/>
            <a:ext cx="6263640" cy="777240"/>
          </a:xfrm>
          <a:prstGeom prst="rect">
            <a:avLst/>
          </a:prstGeom>
          <a:noFill/>
          <a:ln/>
        </p:spPr>
        <p:txBody>
          <a:bodyPr wrap="square" lIns="0" tIns="0" rIns="0" bIns="0" rtlCol="0" anchor="ctr"/>
          <a:lstStyle/>
          <a:p>
            <a:pPr marL="0" indent="0">
              <a:buNone/>
            </a:pPr>
            <a:r>
              <a:rPr lang="en-US" sz="1400" dirty="0">
                <a:solidFill>
                  <a:schemeClr val="tx1"/>
                </a:solidFill>
              </a:rPr>
              <a:t>BP and blood-sugar triggers catch ~20% of liars; a statistical trigger adds +2.7 points of hidden loss.</a:t>
            </a:r>
            <a:endParaRPr lang="en-US" sz="1400" dirty="0"/>
          </a:p>
        </p:txBody>
      </p:sp>
      <p:sp>
        <p:nvSpPr>
          <p:cNvPr id="18" name="Recommendation row"/>
          <p:cNvSpPr/>
          <p:nvPr/>
        </p:nvSpPr>
        <p:spPr>
          <a:xfrm>
            <a:off x="548640" y="4480560"/>
            <a:ext cx="11091672" cy="777240"/>
          </a:xfrm>
          <a:prstGeom prst="roundRect">
            <a:avLst>
              <a:gd name="adj" fmla="val 11765"/>
            </a:avLst>
          </a:prstGeom>
          <a:solidFill>
            <a:schemeClr val="bg2"/>
          </a:solidFill>
          <a:ln/>
        </p:spPr>
      </p:sp>
      <p:sp>
        <p:nvSpPr>
          <p:cNvPr id="19" name="Number 4"/>
          <p:cNvSpPr txBox="1"/>
          <p:nvPr/>
        </p:nvSpPr>
        <p:spPr>
          <a:xfrm>
            <a:off x="731520" y="4590288"/>
            <a:ext cx="548640" cy="548640"/>
          </a:xfrm>
          <a:prstGeom prst="ellipse">
            <a:avLst/>
          </a:prstGeom>
          <a:solidFill>
            <a:schemeClr val="accent6"/>
          </a:solid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0" name="Text 17"/>
          <p:cNvSpPr txBox="1"/>
          <p:nvPr/>
        </p:nvSpPr>
        <p:spPr>
          <a:xfrm>
            <a:off x="1508760" y="4480560"/>
            <a:ext cx="3566160" cy="777240"/>
          </a:xfrm>
          <a:prstGeom prst="rect">
            <a:avLst/>
          </a:prstGeom>
          <a:noFill/>
          <a:ln/>
        </p:spPr>
        <p:txBody>
          <a:bodyPr wrap="square" lIns="0" tIns="0" rIns="0" bIns="0" rtlCol="0" anchor="ctr"/>
          <a:lstStyle/>
          <a:p>
            <a:pPr marL="0" indent="0">
              <a:buNone/>
            </a:pPr>
            <a:r>
              <a:rPr lang="en-US" sz="1600" b="1" dirty="0">
                <a:solidFill>
                  <a:schemeClr val="tx1"/>
                </a:solidFill>
              </a:rPr>
              <a:t>Verify the flagged few, not everyone</a:t>
            </a:r>
            <a:endParaRPr lang="en-US" sz="1600" dirty="0"/>
          </a:p>
        </p:txBody>
      </p:sp>
      <p:sp>
        <p:nvSpPr>
          <p:cNvPr id="21" name="Text 18"/>
          <p:cNvSpPr txBox="1"/>
          <p:nvPr/>
        </p:nvSpPr>
        <p:spPr>
          <a:xfrm>
            <a:off x="5212080" y="4480560"/>
            <a:ext cx="6263640" cy="777240"/>
          </a:xfrm>
          <a:prstGeom prst="rect">
            <a:avLst/>
          </a:prstGeom>
          <a:noFill/>
          <a:ln/>
        </p:spPr>
        <p:txBody>
          <a:bodyPr wrap="square" lIns="0" tIns="0" rIns="0" bIns="0" rtlCol="0" anchor="ctr"/>
          <a:lstStyle/>
          <a:p>
            <a:pPr marL="0" indent="0">
              <a:buNone/>
            </a:pPr>
            <a:r>
              <a:rPr lang="en-US" sz="1400" dirty="0">
                <a:solidFill>
                  <a:schemeClr val="tx1"/>
                </a:solidFill>
              </a:rPr>
              <a:t>Checking everyone pays below ≈ ₹37k per exam; checking the flagged few pays up to ₹1.6–2.2 lakh.</a:t>
            </a:r>
            <a:endParaRPr lang="en-US" sz="1400" dirty="0"/>
          </a:p>
        </p:txBody>
      </p:sp>
      <p:sp>
        <p:nvSpPr>
          <p:cNvPr id="22" name="Recommendation row"/>
          <p:cNvSpPr/>
          <p:nvPr/>
        </p:nvSpPr>
        <p:spPr>
          <a:xfrm>
            <a:off x="548640" y="5349240"/>
            <a:ext cx="11091672" cy="777240"/>
          </a:xfrm>
          <a:prstGeom prst="roundRect">
            <a:avLst>
              <a:gd name="adj" fmla="val 11765"/>
            </a:avLst>
          </a:prstGeom>
          <a:solidFill>
            <a:schemeClr val="bg2"/>
          </a:solidFill>
          <a:ln/>
        </p:spPr>
      </p:sp>
      <p:sp>
        <p:nvSpPr>
          <p:cNvPr id="23" name="Number 5"/>
          <p:cNvSpPr txBox="1"/>
          <p:nvPr/>
        </p:nvSpPr>
        <p:spPr>
          <a:xfrm>
            <a:off x="731520" y="5458968"/>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4" name="Text 21"/>
          <p:cNvSpPr txBox="1"/>
          <p:nvPr/>
        </p:nvSpPr>
        <p:spPr>
          <a:xfrm>
            <a:off x="1508760" y="5349240"/>
            <a:ext cx="3566160" cy="777240"/>
          </a:xfrm>
          <a:prstGeom prst="rect">
            <a:avLst/>
          </a:prstGeom>
          <a:noFill/>
          <a:ln/>
        </p:spPr>
        <p:txBody>
          <a:bodyPr wrap="square" lIns="0" tIns="0" rIns="0" bIns="0" rtlCol="0" anchor="ctr"/>
          <a:lstStyle/>
          <a:p>
            <a:pPr marL="0" indent="0">
              <a:buNone/>
            </a:pPr>
            <a:r>
              <a:rPr lang="en-US" sz="1600" b="1" dirty="0">
                <a:solidFill>
                  <a:schemeClr val="tx1"/>
                </a:solidFill>
              </a:rPr>
              <a:t>Fix the smoking blind spot</a:t>
            </a:r>
            <a:endParaRPr lang="en-US" sz="1600" dirty="0"/>
          </a:p>
        </p:txBody>
      </p:sp>
      <p:sp>
        <p:nvSpPr>
          <p:cNvPr id="25" name="Text 22"/>
          <p:cNvSpPr txBox="1"/>
          <p:nvPr/>
        </p:nvSpPr>
        <p:spPr>
          <a:xfrm>
            <a:off x="5212080" y="5349240"/>
            <a:ext cx="6263640" cy="777240"/>
          </a:xfrm>
          <a:prstGeom prst="rect">
            <a:avLst/>
          </a:prstGeom>
          <a:noFill/>
          <a:ln/>
        </p:spPr>
        <p:txBody>
          <a:bodyPr wrap="square" lIns="0" tIns="0" rIns="0" bIns="0" rtlCol="0" anchor="ctr"/>
          <a:lstStyle/>
          <a:p>
            <a:pPr marL="0" indent="0">
              <a:buNone/>
            </a:pPr>
            <a:r>
              <a:rPr lang="en-US" sz="1400" dirty="0">
                <a:solidFill>
                  <a:schemeClr val="tx1"/>
                </a:solidFill>
              </a:rPr>
              <a:t>Only 2–4% of hidden smokers are found; deterrence needs a penalty of 27–54× the saving. Add a nicotine test.</a:t>
            </a:r>
            <a:endParaRPr lang="en-US" sz="1400" dirty="0"/>
          </a:p>
        </p:txBody>
      </p:sp>
      <p:sp>
        <p:nvSpPr>
          <p:cNvPr id="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Conclusion</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The verdict: do not buy complexity. Buy data, verification and a better smoking test.</a:t>
            </a:r>
            <a:endParaRPr lang="en-US" sz="1500" dirty="0"/>
          </a:p>
        </p:txBody>
      </p:sp>
      <p:sp>
        <p:nvSpPr>
          <p:cNvPr id="6" name="Takeaway card"/>
          <p:cNvSpPr/>
          <p:nvPr/>
        </p:nvSpPr>
        <p:spPr>
          <a:xfrm>
            <a:off x="548640" y="1920240"/>
            <a:ext cx="2651760" cy="3200400"/>
          </a:xfrm>
          <a:prstGeom prst="roundRect">
            <a:avLst>
              <a:gd name="adj" fmla="val 3448"/>
            </a:avLst>
          </a:prstGeom>
          <a:solidFill>
            <a:schemeClr val="tx1"/>
          </a:solidFill>
          <a:ln/>
        </p:spPr>
      </p:sp>
      <p:sp>
        <p:nvSpPr>
          <p:cNvPr id="7" name="Text 4"/>
          <p:cNvSpPr txBox="1"/>
          <p:nvPr/>
        </p:nvSpPr>
        <p:spPr>
          <a:xfrm>
            <a:off x="822960" y="2057400"/>
            <a:ext cx="1371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mj-lt" pitchFamily="34" charset="0"/>
                <a:ea typeface="+mj-lt" pitchFamily="34" charset="-122"/>
                <a:cs typeface="+mj-lt" pitchFamily="34" charset="-120"/>
              </a:rPr>
              <a:t>1</a:t>
            </a:r>
            <a:endParaRPr lang="en-US" sz="5400" dirty="0"/>
          </a:p>
        </p:txBody>
      </p:sp>
      <p:sp>
        <p:nvSpPr>
          <p:cNvPr id="8" name="Text 5"/>
          <p:cNvSpPr txBox="1"/>
          <p:nvPr/>
        </p:nvSpPr>
        <p:spPr>
          <a:xfrm>
            <a:off x="822960" y="3017520"/>
            <a:ext cx="2148840" cy="1920240"/>
          </a:xfrm>
          <a:prstGeom prst="rect">
            <a:avLst/>
          </a:prstGeom>
          <a:noFill/>
          <a:ln/>
        </p:spPr>
        <p:txBody>
          <a:bodyPr wrap="square" lIns="0" tIns="0" rIns="0" bIns="0" rtlCol="0" anchor="t"/>
          <a:lstStyle/>
          <a:p>
            <a:pPr marL="0" indent="0">
              <a:buNone/>
            </a:pPr>
            <a:r>
              <a:rPr lang="en-US" sz="1800" b="1" dirty="0">
                <a:solidFill>
                  <a:schemeClr val="bg1"/>
                </a:solidFill>
              </a:rPr>
              <a:t>Learning from data beats fixed rules once there is enough data</a:t>
            </a:r>
            <a:endParaRPr lang="en-US" sz="1800" dirty="0"/>
          </a:p>
        </p:txBody>
      </p:sp>
      <p:sp>
        <p:nvSpPr>
          <p:cNvPr id="9" name="Takeaway card"/>
          <p:cNvSpPr/>
          <p:nvPr/>
        </p:nvSpPr>
        <p:spPr>
          <a:xfrm>
            <a:off x="3383280" y="1920240"/>
            <a:ext cx="2651760" cy="3200400"/>
          </a:xfrm>
          <a:prstGeom prst="roundRect">
            <a:avLst>
              <a:gd name="adj" fmla="val 3448"/>
            </a:avLst>
          </a:prstGeom>
          <a:solidFill>
            <a:schemeClr val="tx1"/>
          </a:solidFill>
          <a:ln/>
        </p:spPr>
      </p:sp>
      <p:sp>
        <p:nvSpPr>
          <p:cNvPr id="10" name="Text 7"/>
          <p:cNvSpPr txBox="1"/>
          <p:nvPr/>
        </p:nvSpPr>
        <p:spPr>
          <a:xfrm>
            <a:off x="3657600" y="2057400"/>
            <a:ext cx="1371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mj-lt" pitchFamily="34" charset="0"/>
                <a:ea typeface="+mj-lt" pitchFamily="34" charset="-122"/>
                <a:cs typeface="+mj-lt" pitchFamily="34" charset="-120"/>
              </a:rPr>
              <a:t>2</a:t>
            </a:r>
            <a:endParaRPr lang="en-US" sz="5400" dirty="0"/>
          </a:p>
        </p:txBody>
      </p:sp>
      <p:sp>
        <p:nvSpPr>
          <p:cNvPr id="11" name="Text 8"/>
          <p:cNvSpPr txBox="1"/>
          <p:nvPr/>
        </p:nvSpPr>
        <p:spPr>
          <a:xfrm>
            <a:off x="3657600" y="3017520"/>
            <a:ext cx="2148840" cy="1920240"/>
          </a:xfrm>
          <a:prstGeom prst="rect">
            <a:avLst/>
          </a:prstGeom>
          <a:noFill/>
          <a:ln/>
        </p:spPr>
        <p:txBody>
          <a:bodyPr wrap="square" lIns="0" tIns="0" rIns="0" bIns="0" rtlCol="0" anchor="t"/>
          <a:lstStyle/>
          <a:p>
            <a:pPr marL="0" indent="0">
              <a:buNone/>
            </a:pPr>
            <a:r>
              <a:rPr lang="en-US" sz="1800" b="1" dirty="0">
                <a:solidFill>
                  <a:schemeClr val="bg1"/>
                </a:solidFill>
              </a:rPr>
              <a:t>Complex ML added nothing over a plain GLM at our data size</a:t>
            </a:r>
            <a:endParaRPr lang="en-US" sz="1800" dirty="0"/>
          </a:p>
        </p:txBody>
      </p:sp>
      <p:sp>
        <p:nvSpPr>
          <p:cNvPr id="12" name="Takeaway card"/>
          <p:cNvSpPr/>
          <p:nvPr/>
        </p:nvSpPr>
        <p:spPr>
          <a:xfrm>
            <a:off x="6217920" y="1920240"/>
            <a:ext cx="2651760" cy="3200400"/>
          </a:xfrm>
          <a:prstGeom prst="roundRect">
            <a:avLst>
              <a:gd name="adj" fmla="val 3448"/>
            </a:avLst>
          </a:prstGeom>
          <a:solidFill>
            <a:schemeClr val="tx1"/>
          </a:solidFill>
          <a:ln/>
        </p:spPr>
      </p:sp>
      <p:sp>
        <p:nvSpPr>
          <p:cNvPr id="13" name="Text 10"/>
          <p:cNvSpPr txBox="1"/>
          <p:nvPr/>
        </p:nvSpPr>
        <p:spPr>
          <a:xfrm>
            <a:off x="6492240" y="2057400"/>
            <a:ext cx="1371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mj-lt" pitchFamily="34" charset="0"/>
                <a:ea typeface="+mj-lt" pitchFamily="34" charset="-122"/>
                <a:cs typeface="+mj-lt" pitchFamily="34" charset="-120"/>
              </a:rPr>
              <a:t>3</a:t>
            </a:r>
            <a:endParaRPr lang="en-US" sz="5400" dirty="0"/>
          </a:p>
        </p:txBody>
      </p:sp>
      <p:sp>
        <p:nvSpPr>
          <p:cNvPr id="14" name="Text 11"/>
          <p:cNvSpPr txBox="1"/>
          <p:nvPr/>
        </p:nvSpPr>
        <p:spPr>
          <a:xfrm>
            <a:off x="6492240" y="3017520"/>
            <a:ext cx="2148840" cy="1920240"/>
          </a:xfrm>
          <a:prstGeom prst="rect">
            <a:avLst/>
          </a:prstGeom>
          <a:noFill/>
          <a:ln/>
        </p:spPr>
        <p:txBody>
          <a:bodyPr wrap="square" lIns="0" tIns="0" rIns="0" bIns="0" rtlCol="0" anchor="t"/>
          <a:lstStyle/>
          <a:p>
            <a:pPr marL="0" indent="0">
              <a:buNone/>
            </a:pPr>
            <a:r>
              <a:rPr lang="en-US" sz="1800" b="1" dirty="0">
                <a:solidFill>
                  <a:schemeClr val="bg1"/>
                </a:solidFill>
              </a:rPr>
              <a:t>Lies move prices more than the choice of method</a:t>
            </a:r>
            <a:endParaRPr lang="en-US" sz="1800" dirty="0"/>
          </a:p>
        </p:txBody>
      </p:sp>
      <p:sp>
        <p:nvSpPr>
          <p:cNvPr id="15" name="Takeaway card"/>
          <p:cNvSpPr/>
          <p:nvPr/>
        </p:nvSpPr>
        <p:spPr>
          <a:xfrm>
            <a:off x="9052560" y="1920240"/>
            <a:ext cx="2651760" cy="3200400"/>
          </a:xfrm>
          <a:prstGeom prst="roundRect">
            <a:avLst>
              <a:gd name="adj" fmla="val 3448"/>
            </a:avLst>
          </a:prstGeom>
          <a:solidFill>
            <a:schemeClr val="tx1"/>
          </a:solidFill>
          <a:ln/>
        </p:spPr>
      </p:sp>
      <p:sp>
        <p:nvSpPr>
          <p:cNvPr id="16" name="Text 13"/>
          <p:cNvSpPr txBox="1"/>
          <p:nvPr/>
        </p:nvSpPr>
        <p:spPr>
          <a:xfrm>
            <a:off x="9326880" y="2057400"/>
            <a:ext cx="1371600" cy="822960"/>
          </a:xfrm>
          <a:prstGeom prst="rect">
            <a:avLst/>
          </a:prstGeom>
          <a:noFill/>
          <a:ln/>
        </p:spPr>
        <p:txBody>
          <a:bodyPr wrap="square" lIns="0" tIns="0" rIns="0" bIns="0" rtlCol="0" anchor="ctr"/>
          <a:lstStyle/>
          <a:p>
            <a:pPr marL="0" indent="0">
              <a:buNone/>
            </a:pPr>
            <a:r>
              <a:rPr lang="en-US" sz="5400" b="1" dirty="0">
                <a:solidFill>
                  <a:schemeClr val="accent2"/>
                </a:solidFill>
                <a:latin typeface="+mj-lt" pitchFamily="34" charset="0"/>
                <a:ea typeface="+mj-lt" pitchFamily="34" charset="-122"/>
                <a:cs typeface="+mj-lt" pitchFamily="34" charset="-120"/>
              </a:rPr>
              <a:t>4</a:t>
            </a:r>
            <a:endParaRPr lang="en-US" sz="5400" dirty="0"/>
          </a:p>
        </p:txBody>
      </p:sp>
      <p:sp>
        <p:nvSpPr>
          <p:cNvPr id="17" name="Text 14"/>
          <p:cNvSpPr txBox="1"/>
          <p:nvPr/>
        </p:nvSpPr>
        <p:spPr>
          <a:xfrm>
            <a:off x="9326880" y="3017520"/>
            <a:ext cx="2148840" cy="1920240"/>
          </a:xfrm>
          <a:prstGeom prst="rect">
            <a:avLst/>
          </a:prstGeom>
          <a:noFill/>
          <a:ln/>
        </p:spPr>
        <p:txBody>
          <a:bodyPr wrap="square" lIns="0" tIns="0" rIns="0" bIns="0" rtlCol="0" anchor="t"/>
          <a:lstStyle/>
          <a:p>
            <a:pPr marL="0" indent="0">
              <a:buNone/>
            </a:pPr>
            <a:r>
              <a:rPr lang="en-US" sz="1800" b="1" dirty="0">
                <a:solidFill>
                  <a:schemeClr val="bg1"/>
                </a:solidFill>
              </a:rPr>
              <a:t>Checking pays at real exam costs; smarter flagging stretches the range</a:t>
            </a:r>
            <a:endParaRPr lang="en-US" sz="1800" dirty="0"/>
          </a:p>
        </p:txBody>
      </p:sp>
      <p:sp>
        <p:nvSpPr>
          <p:cNvPr id="18" name="Caveat"/>
          <p:cNvSpPr/>
          <p:nvPr/>
        </p:nvSpPr>
        <p:spPr>
          <a:xfrm>
            <a:off x="548640" y="5349240"/>
            <a:ext cx="11091672" cy="868680"/>
          </a:xfrm>
          <a:prstGeom prst="roundRect">
            <a:avLst>
              <a:gd name="adj" fmla="val 10526"/>
            </a:avLst>
          </a:prstGeom>
          <a:solidFill>
            <a:schemeClr val="bg2"/>
          </a:solidFill>
          <a:ln/>
        </p:spPr>
      </p:sp>
      <p:sp>
        <p:nvSpPr>
          <p:cNvPr id="19" name="Icon circle Lightbulb"/>
          <p:cNvSpPr/>
          <p:nvPr/>
        </p:nvSpPr>
        <p:spPr>
          <a:xfrm>
            <a:off x="731520" y="5504688"/>
            <a:ext cx="548640" cy="548640"/>
          </a:xfrm>
          <a:prstGeom prst="ellipse">
            <a:avLst/>
          </a:prstGeom>
          <a:solidFill>
            <a:schemeClr val="accent1"/>
          </a:solidFill>
          <a:ln/>
        </p:spPr>
      </p:sp>
      <p:pic>
        <p:nvPicPr>
          <p:cNvPr id="20" name="Image 0" descr="Lightbulb icon"/>
          <p:cNvPicPr>
            <a:picLocks noChangeAspect="1"/>
          </p:cNvPicPr>
          <p:nvPr/>
        </p:nvPicPr>
        <p:blipFill>
          <a:blip r:embed="rId3"/>
          <a:stretch>
            <a:fillRect/>
          </a:stretch>
        </p:blipFill>
        <p:spPr>
          <a:xfrm>
            <a:off x="868680" y="5641848"/>
            <a:ext cx="274320" cy="274320"/>
          </a:xfrm>
          <a:prstGeom prst="rect">
            <a:avLst/>
          </a:prstGeom>
        </p:spPr>
      </p:pic>
      <p:sp>
        <p:nvSpPr>
          <p:cNvPr id="21" name="Text 17"/>
          <p:cNvSpPr txBox="1"/>
          <p:nvPr/>
        </p:nvSpPr>
        <p:spPr>
          <a:xfrm>
            <a:off x="1463040" y="5349240"/>
            <a:ext cx="9966960" cy="868680"/>
          </a:xfrm>
          <a:prstGeom prst="rect">
            <a:avLst/>
          </a:prstGeom>
          <a:noFill/>
          <a:ln/>
        </p:spPr>
        <p:txBody>
          <a:bodyPr wrap="square" lIns="0" tIns="0" rIns="0" bIns="0" rtlCol="0" anchor="ctr"/>
          <a:lstStyle/>
          <a:p>
            <a:pPr marL="0" indent="0">
              <a:buNone/>
            </a:pPr>
            <a:r>
              <a:rPr lang="en-US" sz="1600" dirty="0">
                <a:solidFill>
                  <a:schemeClr val="tx1"/>
                </a:solidFill>
              </a:rPr>
              <a:t>Machine learning did not clearly win. These conclusions hold for this simulated world only, not for real insurers.</a:t>
            </a:r>
            <a:endParaRPr lang="en-US" sz="16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943600" y="274320"/>
            <a:ext cx="5760720" cy="365760"/>
          </a:xfrm>
          <a:prstGeom prst="rect">
            <a:avLst/>
          </a:prstGeom>
          <a:noFill/>
          <a:ln/>
        </p:spPr>
        <p:txBody>
          <a:bodyPr wrap="square" lIns="0" tIns="0" rIns="0" bIns="0" rtlCol="0"/>
          <a:lstStyle/>
          <a:p>
            <a:pPr marL="0" indent="0" algn="r">
              <a:buNone/>
            </a:pPr>
            <a:r>
              <a:rPr lang="en-US" sz="1200" b="1" kern="0" spc="200" dirty="0">
                <a:solidFill>
                  <a:schemeClr val="tx2"/>
                </a:solidFill>
              </a:rPr>
              <a:t>CHAPTER 5 · THE VERDICT</a:t>
            </a:r>
            <a:endParaRPr lang="en-US" sz="1200" dirty="0"/>
          </a:p>
        </p:txBody>
      </p:sp>
      <p:sp>
        <p:nvSpPr>
          <p:cNvPr id="3" name="Text 0"/>
          <p:cNvSpPr>
            <a:spLocks noGrp="1"/>
          </p:cNvSpPr>
          <p:nvPr>
            <p:ph type="title" idx="102" hasCustomPrompt="1"/>
          </p:nvPr>
        </p:nvSpPr>
        <p:spPr>
          <a:xfrm>
            <a:off x="548640" y="7772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mj-lt" pitchFamily="34" charset="0"/>
                <a:ea typeface="+mj-lt" pitchFamily="34" charset="-122"/>
                <a:cs typeface="+mj-lt" pitchFamily="34" charset="-120"/>
              </a:rPr>
              <a:t>Q&amp;A and References</a:t>
            </a:r>
            <a:endParaRPr lang="en-US" sz="3000" dirty="0"/>
          </a:p>
        </p:txBody>
      </p:sp>
      <p:sp>
        <p:nvSpPr>
          <p:cNvPr id="4" name="Text 0"/>
          <p:cNvSpPr>
            <a:spLocks noGrp="1"/>
          </p:cNvSpPr>
          <p:nvPr>
            <p:ph type="body" idx="103" hasCustomPrompt="1"/>
          </p:nvPr>
        </p:nvSpPr>
        <p:spPr>
          <a:xfrm>
            <a:off x="548640" y="1417320"/>
            <a:ext cx="11064240" cy="365760"/>
          </a:xfrm>
          <a:prstGeom prst="rect">
            <a:avLst/>
          </a:prstGeom>
          <a:noFill/>
          <a:ln/>
        </p:spPr>
        <p:txBody>
          <a:bodyPr wrap="square" lIns="0" tIns="0" rIns="0" bIns="0" rtlCol="0" anchor="ctr"/>
          <a:lstStyle/>
          <a:p>
            <a:pPr marL="0" indent="0">
              <a:buNone/>
            </a:pPr>
            <a:r>
              <a:rPr lang="en-US" sz="1500" i="1" dirty="0">
                <a:solidFill>
                  <a:schemeClr val="accent1"/>
                </a:solidFill>
              </a:rPr>
              <a:t>Meridian’s story ends here. Your questions begin.</a:t>
            </a:r>
            <a:endParaRPr lang="en-US" sz="1500" dirty="0"/>
          </a:p>
        </p:txBody>
      </p:sp>
      <p:sp>
        <p:nvSpPr>
          <p:cNvPr id="6" name="Text 3"/>
          <p:cNvSpPr txBox="1"/>
          <p:nvPr/>
        </p:nvSpPr>
        <p:spPr>
          <a:xfrm>
            <a:off x="548640" y="2103120"/>
            <a:ext cx="4206240" cy="1005840"/>
          </a:xfrm>
          <a:prstGeom prst="rect">
            <a:avLst/>
          </a:prstGeom>
          <a:noFill/>
          <a:ln/>
        </p:spPr>
        <p:txBody>
          <a:bodyPr wrap="square" lIns="0" tIns="0" rIns="0" bIns="0" rtlCol="0" anchor="ctr"/>
          <a:lstStyle/>
          <a:p>
            <a:pPr marL="0" indent="0">
              <a:buNone/>
            </a:pPr>
            <a:r>
              <a:rPr lang="en-US" sz="5400" b="1" dirty="0">
                <a:solidFill>
                  <a:schemeClr val="accent1"/>
                </a:solidFill>
                <a:latin typeface="+mj-lt" pitchFamily="34" charset="0"/>
                <a:ea typeface="+mj-lt" pitchFamily="34" charset="-122"/>
                <a:cs typeface="+mj-lt" pitchFamily="34" charset="-120"/>
              </a:rPr>
              <a:t>Questions?</a:t>
            </a:r>
            <a:endParaRPr lang="en-US" sz="5400" dirty="0"/>
          </a:p>
        </p:txBody>
      </p:sp>
      <p:sp>
        <p:nvSpPr>
          <p:cNvPr id="7" name="Text 4"/>
          <p:cNvSpPr txBox="1"/>
          <p:nvPr/>
        </p:nvSpPr>
        <p:spPr>
          <a:xfrm>
            <a:off x="548640" y="3383280"/>
            <a:ext cx="4206240" cy="320040"/>
          </a:xfrm>
          <a:prstGeom prst="rect">
            <a:avLst/>
          </a:prstGeom>
          <a:noFill/>
          <a:ln/>
        </p:spPr>
        <p:txBody>
          <a:bodyPr wrap="square" lIns="0" tIns="0" rIns="0" bIns="0" rtlCol="0" anchor="t"/>
          <a:lstStyle/>
          <a:p>
            <a:pPr marL="0" indent="0">
              <a:buNone/>
            </a:pPr>
            <a:r>
              <a:rPr lang="en-US" sz="1500" b="1" dirty="0">
                <a:solidFill>
                  <a:schemeClr val="tx1"/>
                </a:solidFill>
              </a:rPr>
              <a:t>Try the calculator:</a:t>
            </a:r>
            <a:endParaRPr lang="en-US" sz="1500" dirty="0"/>
          </a:p>
        </p:txBody>
      </p:sp>
      <p:sp>
        <p:nvSpPr>
          <p:cNvPr id="8" name="Text 5"/>
          <p:cNvSpPr txBox="1"/>
          <p:nvPr/>
        </p:nvSpPr>
        <p:spPr>
          <a:xfrm>
            <a:off x="548640" y="3749040"/>
            <a:ext cx="4206240" cy="365760"/>
          </a:xfrm>
          <a:prstGeom prst="rect">
            <a:avLst/>
          </a:prstGeom>
          <a:noFill/>
          <a:ln/>
        </p:spPr>
        <p:txBody>
          <a:bodyPr wrap="square" lIns="0" tIns="0" rIns="0" bIns="0" rtlCol="0" anchor="t"/>
          <a:lstStyle/>
          <a:p>
            <a:pPr marL="0" indent="0">
              <a:buNone/>
            </a:pPr>
            <a:r>
              <a:rPr lang="en-US" sz="1400" u="sng" dirty="0">
                <a:solidFill>
                  <a:srgbClr val="1F6FB2"/>
                </a:solidFill>
                <a:hlinkClick r:id="rId3">
                  <a:extLst>
                    <a:ext uri="{A12FA001-AC4F-418D-AE19-62706E023703}">
                      <ahyp:hlinkClr xmlns:ahyp="http://schemas.microsoft.com/office/drawing/2018/hyperlinkcolor" val="tx"/>
                    </a:ext>
                  </a:extLst>
                </a:hlinkClick>
              </a:rPr>
              <a:t>rdproject-calculator-rd.streamlit.app</a:t>
            </a:r>
            <a:endParaRPr lang="en-US" sz="1400" dirty="0"/>
          </a:p>
        </p:txBody>
      </p:sp>
      <p:sp>
        <p:nvSpPr>
          <p:cNvPr id="9" name="Text 6"/>
          <p:cNvSpPr txBox="1"/>
          <p:nvPr/>
        </p:nvSpPr>
        <p:spPr>
          <a:xfrm>
            <a:off x="548640" y="4754880"/>
            <a:ext cx="4206240" cy="822960"/>
          </a:xfrm>
          <a:prstGeom prst="rect">
            <a:avLst/>
          </a:prstGeom>
          <a:noFill/>
          <a:ln/>
        </p:spPr>
        <p:txBody>
          <a:bodyPr wrap="square" lIns="0" tIns="0" rIns="0" bIns="0" rtlCol="0" anchor="t"/>
          <a:lstStyle/>
          <a:p>
            <a:pPr marL="0" indent="0">
              <a:buNone/>
            </a:pPr>
            <a:r>
              <a:rPr lang="en-US" sz="1400" dirty="0">
                <a:solidFill>
                  <a:schemeClr val="tx2"/>
                </a:solidFill>
              </a:rPr>
              <a:t>Aaryan Jha · Soham Sinha · Ojas Taneja · Ankit Uniyal</a:t>
            </a:r>
            <a:endParaRPr lang="en-US" sz="1400" dirty="0"/>
          </a:p>
          <a:p>
            <a:pPr marL="0" indent="0">
              <a:buNone/>
            </a:pPr>
            <a:r>
              <a:rPr lang="en-US" sz="1400" dirty="0">
                <a:solidFill>
                  <a:schemeClr val="tx2"/>
                </a:solidFill>
              </a:rPr>
              <a:t>Supervisor: Prof. Shaishavi Sabnis</a:t>
            </a:r>
            <a:endParaRPr lang="en-US" sz="1400" dirty="0"/>
          </a:p>
        </p:txBody>
      </p:sp>
      <p:sp>
        <p:nvSpPr>
          <p:cNvPr id="10" name="References card"/>
          <p:cNvSpPr/>
          <p:nvPr/>
        </p:nvSpPr>
        <p:spPr>
          <a:xfrm>
            <a:off x="5029200" y="1874520"/>
            <a:ext cx="6611112" cy="4297680"/>
          </a:xfrm>
          <a:prstGeom prst="roundRect">
            <a:avLst>
              <a:gd name="adj" fmla="val 2128"/>
            </a:avLst>
          </a:prstGeom>
          <a:solidFill>
            <a:schemeClr val="bg2"/>
          </a:solidFill>
          <a:ln/>
        </p:spPr>
      </p:sp>
      <p:sp>
        <p:nvSpPr>
          <p:cNvPr id="11" name="Text 8"/>
          <p:cNvSpPr txBox="1"/>
          <p:nvPr/>
        </p:nvSpPr>
        <p:spPr>
          <a:xfrm>
            <a:off x="5257800" y="2011680"/>
            <a:ext cx="6126480" cy="320040"/>
          </a:xfrm>
          <a:prstGeom prst="rect">
            <a:avLst/>
          </a:prstGeom>
          <a:noFill/>
          <a:ln/>
        </p:spPr>
        <p:txBody>
          <a:bodyPr wrap="square" lIns="0" tIns="0" rIns="0" bIns="0" rtlCol="0" anchor="t"/>
          <a:lstStyle/>
          <a:p>
            <a:pPr marL="0" indent="0">
              <a:buNone/>
            </a:pPr>
            <a:r>
              <a:rPr lang="en-US" sz="1700" b="1" dirty="0">
                <a:solidFill>
                  <a:schemeClr val="tx1"/>
                </a:solidFill>
                <a:latin typeface="+mj-lt" pitchFamily="34" charset="0"/>
                <a:ea typeface="+mj-lt" pitchFamily="34" charset="-122"/>
                <a:cs typeface="+mj-lt" pitchFamily="34" charset="-120"/>
              </a:rPr>
              <a:t>References</a:t>
            </a:r>
            <a:endParaRPr lang="en-US" sz="1700" dirty="0"/>
          </a:p>
        </p:txBody>
      </p:sp>
      <p:sp>
        <p:nvSpPr>
          <p:cNvPr id="12" name="Text 9"/>
          <p:cNvSpPr txBox="1"/>
          <p:nvPr/>
        </p:nvSpPr>
        <p:spPr>
          <a:xfrm>
            <a:off x="5257800" y="2423160"/>
            <a:ext cx="6217920" cy="3657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Jha et al. (2013). 21st-century hazards of smoking. NEJM 368</a:t>
            </a:r>
            <a:endParaRPr lang="en-US" sz="1300" dirty="0"/>
          </a:p>
          <a:p>
            <a:pPr marL="342900" indent="-342900">
              <a:spcAft>
                <a:spcPts val="500"/>
              </a:spcAft>
              <a:buSzPct val="100000"/>
              <a:buChar char="•"/>
            </a:pPr>
            <a:r>
              <a:rPr lang="en-US" sz="1300" dirty="0">
                <a:solidFill>
                  <a:schemeClr val="tx1"/>
                </a:solidFill>
              </a:rPr>
              <a:t>Emerging Risk Factors Collab. (2011). Diabetes and cause-specific death. NEJM 364</a:t>
            </a:r>
            <a:endParaRPr lang="en-US" sz="1300" dirty="0"/>
          </a:p>
          <a:p>
            <a:pPr marL="342900" indent="-342900">
              <a:spcAft>
                <a:spcPts val="500"/>
              </a:spcAft>
              <a:buSzPct val="100000"/>
              <a:buChar char="•"/>
            </a:pPr>
            <a:r>
              <a:rPr lang="en-US" sz="1300" dirty="0">
                <a:solidFill>
                  <a:schemeClr val="tx1"/>
                </a:solidFill>
              </a:rPr>
              <a:t>NCHS. United States Life Tables, 2023. NVSR</a:t>
            </a:r>
            <a:endParaRPr lang="en-US" sz="1300" dirty="0"/>
          </a:p>
          <a:p>
            <a:pPr marL="342900" indent="-342900">
              <a:spcAft>
                <a:spcPts val="500"/>
              </a:spcAft>
              <a:buSzPct val="100000"/>
              <a:buChar char="•"/>
            </a:pPr>
            <a:r>
              <a:rPr lang="en-US" sz="1300" dirty="0">
                <a:solidFill>
                  <a:schemeClr val="tx1"/>
                </a:solidFill>
              </a:rPr>
              <a:t>Cox (1972). Regression models and life-tables. JRSS B 34</a:t>
            </a:r>
            <a:endParaRPr lang="en-US" sz="1300" dirty="0"/>
          </a:p>
          <a:p>
            <a:pPr marL="342900" indent="-342900">
              <a:spcAft>
                <a:spcPts val="500"/>
              </a:spcAft>
              <a:buSzPct val="100000"/>
              <a:buChar char="•"/>
            </a:pPr>
            <a:r>
              <a:rPr lang="en-US" sz="1300" dirty="0">
                <a:solidFill>
                  <a:schemeClr val="tx1"/>
                </a:solidFill>
              </a:rPr>
              <a:t>Chen &amp; Guestrin (2016). XGBoost. KDD 2016</a:t>
            </a:r>
            <a:endParaRPr lang="en-US" sz="1300" dirty="0"/>
          </a:p>
          <a:p>
            <a:pPr marL="342900" indent="-342900">
              <a:spcAft>
                <a:spcPts val="500"/>
              </a:spcAft>
              <a:buSzPct val="100000"/>
              <a:buChar char="•"/>
            </a:pPr>
            <a:r>
              <a:rPr lang="en-US" sz="1300" dirty="0">
                <a:solidFill>
                  <a:schemeClr val="tx1"/>
                </a:solidFill>
              </a:rPr>
              <a:t>Lundberg &amp; Lee (2017). A unified approach to model predictions. NeurIPS</a:t>
            </a:r>
            <a:endParaRPr lang="en-US" sz="1300" dirty="0"/>
          </a:p>
          <a:p>
            <a:pPr marL="342900" indent="-342900">
              <a:spcAft>
                <a:spcPts val="500"/>
              </a:spcAft>
              <a:buSzPct val="100000"/>
              <a:buChar char="•"/>
            </a:pPr>
            <a:r>
              <a:rPr lang="en-US" sz="1300" dirty="0">
                <a:solidFill>
                  <a:schemeClr val="tx1"/>
                </a:solidFill>
              </a:rPr>
              <a:t>Efron (1979). Bootstrap methods. Annals of Statistics 7</a:t>
            </a:r>
            <a:endParaRPr lang="en-US" sz="1300" dirty="0"/>
          </a:p>
          <a:p>
            <a:pPr marL="342900" indent="-342900">
              <a:spcAft>
                <a:spcPts val="500"/>
              </a:spcAft>
              <a:buSzPct val="100000"/>
              <a:buChar char="•"/>
            </a:pPr>
            <a:r>
              <a:rPr lang="en-US" sz="1300" dirty="0">
                <a:solidFill>
                  <a:schemeClr val="tx1"/>
                </a:solidFill>
              </a:rPr>
              <a:t>Holm (1979). Sequentially rejective test procedure. Scand. J. Stat. 6</a:t>
            </a:r>
            <a:endParaRPr lang="en-US" sz="1300" dirty="0"/>
          </a:p>
          <a:p>
            <a:pPr marL="342900" indent="-342900">
              <a:spcAft>
                <a:spcPts val="500"/>
              </a:spcAft>
              <a:buSzPct val="100000"/>
              <a:buChar char="•"/>
            </a:pPr>
            <a:r>
              <a:rPr lang="en-US" sz="1300" dirty="0">
                <a:solidFill>
                  <a:schemeClr val="tx1"/>
                </a:solidFill>
              </a:rPr>
              <a:t>DeLong et al. (1988). Comparing correlated ROC areas. Biometrics 44</a:t>
            </a:r>
            <a:endParaRPr lang="en-US" sz="1300" dirty="0"/>
          </a:p>
          <a:p>
            <a:pPr marL="342900" indent="-342900">
              <a:spcAft>
                <a:spcPts val="500"/>
              </a:spcAft>
              <a:buSzPct val="100000"/>
              <a:buChar char="•"/>
            </a:pPr>
            <a:r>
              <a:rPr lang="en-US" sz="1300" dirty="0">
                <a:solidFill>
                  <a:schemeClr val="tx1"/>
                </a:solidFill>
              </a:rPr>
              <a:t>Sun &amp; Xu (2014). Fast DeLong algorithm. IEEE SPL 21</a:t>
            </a:r>
            <a:endParaRPr lang="en-US" sz="1300" dirty="0"/>
          </a:p>
          <a:p>
            <a:pPr marL="342900" indent="-342900">
              <a:spcAft>
                <a:spcPts val="500"/>
              </a:spcAft>
              <a:buSzPct val="100000"/>
              <a:buChar char="•"/>
            </a:pPr>
            <a:r>
              <a:rPr lang="en-US" sz="1300" dirty="0">
                <a:solidFill>
                  <a:schemeClr val="tx1"/>
                </a:solidFill>
              </a:rPr>
              <a:t>Vaupel et al. (1979). Individual frailty and mortality. Demography 16</a:t>
            </a:r>
            <a:endParaRPr lang="en-US" sz="1300" dirty="0"/>
          </a:p>
          <a:p>
            <a:pPr marL="342900" indent="-342900">
              <a:spcAft>
                <a:spcPts val="500"/>
              </a:spcAft>
              <a:buSzPct val="100000"/>
              <a:buChar char="•"/>
            </a:pPr>
            <a:r>
              <a:rPr lang="en-US" sz="1300" dirty="0">
                <a:solidFill>
                  <a:schemeClr val="tx1"/>
                </a:solidFill>
              </a:rPr>
              <a:t>Townsend (1979). Costly state verification. J. Econ. Theory 21</a:t>
            </a:r>
            <a:endParaRPr lang="en-US" sz="1300" dirty="0"/>
          </a:p>
          <a:p>
            <a:pPr marL="342900" indent="-342900">
              <a:spcAft>
                <a:spcPts val="500"/>
              </a:spcAft>
              <a:buSzPct val="100000"/>
              <a:buChar char="•"/>
            </a:pPr>
            <a:r>
              <a:rPr lang="en-US" sz="1300" dirty="0">
                <a:solidFill>
                  <a:schemeClr val="tx1"/>
                </a:solidFill>
              </a:rPr>
              <a:t>Becker (1968). Crime and punishment. JPE 76</a:t>
            </a:r>
            <a:endParaRPr lang="en-US" sz="1300" dirty="0"/>
          </a:p>
        </p:txBody>
      </p:sp>
      <p:sp>
        <p:nvSpPr>
          <p:cNvPr id="25" name="Slide Number Placeholder 0"/>
          <p:cNvSpPr>
            <a:spLocks noGrp="1"/>
          </p:cNvSpPr>
          <p:nvPr>
            <p:ph type="sldNum" sz="quarter" idx="4294967295"/>
          </p:nvPr>
        </p:nvSpPr>
        <p:spPr>
          <a:xfrm>
            <a:off x="11064240" y="644652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Meridian">
  <a:themeElements>
    <a:clrScheme name="Meridian">
      <a:dk1>
        <a:srgbClr val="1B2A41"/>
      </a:dk1>
      <a:lt1>
        <a:srgbClr val="FFFFFF"/>
      </a:lt1>
      <a:dk2>
        <a:srgbClr val="4B5870"/>
      </a:dk2>
      <a:lt2>
        <a:srgbClr val="EEF1F6"/>
      </a:lt2>
      <a:accent1>
        <a:srgbClr val="C8553D"/>
      </a:accent1>
      <a:accent2>
        <a:srgbClr val="F0A23B"/>
      </a:accent2>
      <a:accent3>
        <a:srgbClr val="1F8A7D"/>
      </a:accent3>
      <a:accent4>
        <a:srgbClr val="4A6FA5"/>
      </a:accent4>
      <a:accent5>
        <a:srgbClr val="8A94A6"/>
      </a:accent5>
      <a:accent6>
        <a:srgbClr val="7B5EA7"/>
      </a:accent6>
      <a:hlink>
        <a:srgbClr val="1F6FB2"/>
      </a:hlink>
      <a:folHlink>
        <a:srgbClr val="7B5EA7"/>
      </a:folHlink>
    </a:clrScheme>
    <a:fontScheme name="Meridi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5768</Words>
  <Application>Microsoft Office PowerPoint</Application>
  <PresentationFormat>Widescreen</PresentationFormat>
  <Paragraphs>593</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Meridian</vt:lpstr>
      <vt:lpstr>Machine Learning vs Traditional Actuarial Underwriting: When Applicants Hide Information</vt:lpstr>
      <vt:lpstr>Contents</vt:lpstr>
      <vt:lpstr>Problem Statement: Same Person, Two Records</vt:lpstr>
      <vt:lpstr>Introduction to Underwriting</vt:lpstr>
      <vt:lpstr>Why Build a Simulated World?</vt:lpstr>
      <vt:lpstr>Core Research Objectives</vt:lpstr>
      <vt:lpstr>The Simulation Environment &amp; 15 Datasets</vt:lpstr>
      <vt:lpstr>Traditional Rule-Based System (Arm A)</vt:lpstr>
      <vt:lpstr>Machine Learning Model Framework</vt:lpstr>
      <vt:lpstr>Underwriting Mathematical Formulations</vt:lpstr>
      <vt:lpstr>The Adversarial Element: The Lying Applicant</vt:lpstr>
      <vt:lpstr>Honest Applicants: Rule-Based Outcomes</vt:lpstr>
      <vt:lpstr>Honest Applicants: ML Model Outcomes</vt:lpstr>
      <vt:lpstr>Comparative Accuracy (Objective 1)</vt:lpstr>
      <vt:lpstr>Premium Solvency &amp; Claims Coverage (Objective 2)</vt:lpstr>
      <vt:lpstr>System Vulnerabilities: What Breaks When Applicants Lie?</vt:lpstr>
      <vt:lpstr>Fraud Detection: Who Catches the Liars Better?</vt:lpstr>
      <vt:lpstr>The Economics of Auditing: Cost-Benefit Analysis (Objective 4)</vt:lpstr>
      <vt:lpstr>Strategic Deterrence: Penalty Impact Analysis</vt:lpstr>
      <vt:lpstr>Trade-off Matrix: Rules vs Machine Learning</vt:lpstr>
      <vt:lpstr>Interactive Tool Overview: The Streamlit Calculator</vt:lpstr>
      <vt:lpstr>Comprehensive Evaluation Metrics</vt:lpstr>
      <vt:lpstr>Deep Dive into Metric Discrepancies</vt:lpstr>
      <vt:lpstr>Research Limitations</vt:lpstr>
      <vt:lpstr>Future Scope &amp; Roadmap</vt:lpstr>
      <vt:lpstr>Strategic Recommendations for the Insurance Industry</vt:lpstr>
      <vt:lpstr>Conclusion</vt:lpstr>
      <vt:lpstr>Q&amp;A and 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vs Traditional Actuarial Underwriting</dc:title>
  <dc:subject>PptxGenJS Presentation</dc:subject>
  <dc:creator>Statistics Group for Research Development</dc:creator>
  <cp:lastModifiedBy>Ankit Uniyal</cp:lastModifiedBy>
  <cp:revision>12</cp:revision>
  <dcterms:created xsi:type="dcterms:W3CDTF">2026-10-25T11:00:36Z</dcterms:created>
  <dcterms:modified xsi:type="dcterms:W3CDTF">2026-10-25T15:14:26Z</dcterms:modified>
</cp:coreProperties>
</file>